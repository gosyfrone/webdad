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4"/>
  </p:notesMasterIdLst>
  <p:sldIdLst>
    <p:sldId id="314" r:id="rId5"/>
    <p:sldId id="315" r:id="rId6"/>
    <p:sldId id="316" r:id="rId7"/>
    <p:sldId id="317" r:id="rId8"/>
    <p:sldId id="319" r:id="rId9"/>
    <p:sldId id="320" r:id="rId10"/>
    <p:sldId id="321" r:id="rId11"/>
    <p:sldId id="343" r:id="rId12"/>
    <p:sldId id="322" r:id="rId13"/>
    <p:sldId id="323" r:id="rId14"/>
    <p:sldId id="324" r:id="rId15"/>
    <p:sldId id="325" r:id="rId16"/>
    <p:sldId id="326" r:id="rId17"/>
    <p:sldId id="327" r:id="rId18"/>
    <p:sldId id="328" r:id="rId19"/>
    <p:sldId id="329" r:id="rId20"/>
    <p:sldId id="330" r:id="rId21"/>
    <p:sldId id="331" r:id="rId22"/>
    <p:sldId id="332" r:id="rId23"/>
    <p:sldId id="333" r:id="rId24"/>
    <p:sldId id="334" r:id="rId25"/>
    <p:sldId id="335" r:id="rId26"/>
    <p:sldId id="336" r:id="rId27"/>
    <p:sldId id="337" r:id="rId28"/>
    <p:sldId id="338" r:id="rId29"/>
    <p:sldId id="339" r:id="rId30"/>
    <p:sldId id="340" r:id="rId31"/>
    <p:sldId id="341" r:id="rId32"/>
    <p:sldId id="342"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F57FE9-75C1-E5EF-91E7-BE87E8B07634}" v="18" dt="2026-06-25T10:17:57.095"/>
    <p1510:client id="{638AC7A3-3B6B-4600-A240-E60ADD286A8F}" v="485" dt="2026-06-25T21:37:40.275"/>
    <p1510:client id="{6CED67F5-50B9-255D-7F88-020F14F3CAC5}" v="32" dt="2026-06-25T19:00:18.494"/>
    <p1510:client id="{DBE26102-24DE-473D-3729-CF21244951E0}" v="1462" dt="2026-06-25T10:27:16.205"/>
    <p1510:client id="{EF662D04-495B-A179-86F0-B8E473739AE6}" v="1" dt="2026-06-25T10:47:50.4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3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pPr>
              <a:defRPr sz="1600" b="1">
                <a:solidFill>
                  <a:srgbClr val="0B2A4A"/>
                </a:solidFill>
              </a:defRPr>
            </a:pPr>
            <a:r>
              <a:rPr lang="fr-FR" sz="1600" b="1">
                <a:solidFill>
                  <a:srgbClr val="0B2A4A"/>
                </a:solidFill>
              </a:rPr>
              <a:t>Revenus vs Coûts (k€)</a:t>
            </a:r>
          </a:p>
        </c:rich>
      </c:tx>
      <c:overlay val="0"/>
    </c:title>
    <c:autoTitleDeleted val="0"/>
    <c:plotArea>
      <c:layout/>
      <c:barChart>
        <c:barDir val="col"/>
        <c:grouping val="clustered"/>
        <c:varyColors val="0"/>
        <c:ser>
          <c:idx val="0"/>
          <c:order val="0"/>
          <c:tx>
            <c:strRef>
              <c:f>S0</c:f>
              <c:strCache>
                <c:ptCount val="1"/>
                <c:pt idx="0">
                  <c:v>Revenus</c:v>
                </c:pt>
              </c:strCache>
            </c:strRef>
          </c:tx>
          <c:spPr>
            <a:solidFill>
              <a:srgbClr val="2D7FF9"/>
            </a:solidFill>
            <a:ln>
              <a:noFill/>
            </a:ln>
          </c:spPr>
          <c:invertIfNegative val="1"/>
          <c:dLbls>
            <c:numFmt formatCode="#,##0" sourceLinked="0"/>
            <c:spPr>
              <a:noFill/>
              <a:ln>
                <a:noFill/>
              </a:ln>
            </c:spPr>
            <c:txPr>
              <a:bodyPr/>
              <a:lstStyle/>
              <a:p>
                <a:pPr>
                  <a:defRPr sz="1300" b="1">
                    <a:solidFill>
                      <a:srgbClr val="0B2A4A"/>
                    </a:solidFil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An 1</c:v>
              </c:pt>
              <c:pt idx="1">
                <c:v>An 2</c:v>
              </c:pt>
              <c:pt idx="2">
                <c:v>An 3</c:v>
              </c:pt>
            </c:strLit>
          </c:cat>
          <c:val>
            <c:numLit>
              <c:formatCode>General</c:formatCode>
              <c:ptCount val="3"/>
              <c:pt idx="0">
                <c:v>185</c:v>
              </c:pt>
              <c:pt idx="1">
                <c:v>1100</c:v>
              </c:pt>
              <c:pt idx="2">
                <c:v>4378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808-4C29-A445-552EFC0736CC}"/>
            </c:ext>
          </c:extLst>
        </c:ser>
        <c:ser>
          <c:idx val="1"/>
          <c:order val="1"/>
          <c:tx>
            <c:strRef>
              <c:f>S1</c:f>
              <c:strCache>
                <c:ptCount val="1"/>
                <c:pt idx="0">
                  <c:v>Coûts</c:v>
                </c:pt>
              </c:strCache>
            </c:strRef>
          </c:tx>
          <c:spPr>
            <a:solidFill>
              <a:srgbClr val="B9C9DE"/>
            </a:solidFill>
            <a:ln>
              <a:noFill/>
            </a:ln>
          </c:spPr>
          <c:invertIfNegative val="1"/>
          <c:dLbls>
            <c:numFmt formatCode="#,##0" sourceLinked="0"/>
            <c:spPr>
              <a:noFill/>
              <a:ln>
                <a:noFill/>
              </a:ln>
            </c:spPr>
            <c:txPr>
              <a:bodyPr/>
              <a:lstStyle/>
              <a:p>
                <a:pPr>
                  <a:defRPr sz="1300" b="1">
                    <a:solidFill>
                      <a:srgbClr val="0B2A4A"/>
                    </a:solidFil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An 1</c:v>
              </c:pt>
              <c:pt idx="1">
                <c:v>An 2</c:v>
              </c:pt>
              <c:pt idx="2">
                <c:v>An 3</c:v>
              </c:pt>
            </c:strLit>
          </c:cat>
          <c:val>
            <c:numLit>
              <c:formatCode>General</c:formatCode>
              <c:ptCount val="3"/>
              <c:pt idx="0">
                <c:v>168</c:v>
              </c:pt>
              <c:pt idx="1">
                <c:v>520</c:v>
              </c:pt>
              <c:pt idx="2">
                <c:v>1850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6808-4C29-A445-552EFC0736CC}"/>
            </c:ext>
          </c:extLst>
        </c:ser>
        <c:dLbls>
          <c:showLegendKey val="0"/>
          <c:showVal val="0"/>
          <c:showCatName val="0"/>
          <c:showSerName val="0"/>
          <c:showPercent val="0"/>
          <c:showBubbleSize val="0"/>
        </c:dLbls>
        <c:gapWidth val="90"/>
        <c:axId val="1"/>
        <c:axId val="2"/>
      </c:barChart>
      <c:catAx>
        <c:axId val="1"/>
        <c:scaling>
          <c:orientation val="minMax"/>
        </c:scaling>
        <c:delete val="0"/>
        <c:axPos val="b"/>
        <c:numFmt formatCode="General" sourceLinked="0"/>
        <c:majorTickMark val="none"/>
        <c:minorTickMark val="none"/>
        <c:tickLblPos val="nextTo"/>
        <c:txPr>
          <a:bodyPr/>
          <a:lstStyle/>
          <a:p>
            <a:pPr>
              <a:defRPr sz="1400" b="1">
                <a:solidFill>
                  <a:srgbClr val="0B2A4A"/>
                </a:solidFill>
              </a:defRPr>
            </a:pPr>
            <a:endParaRPr lang="fr-FR"/>
          </a:p>
        </c:txPr>
        <c:crossAx val="2"/>
        <c:crosses val="autoZero"/>
        <c:auto val="1"/>
        <c:lblAlgn val="ctr"/>
        <c:lblOffset val="100"/>
        <c:noMultiLvlLbl val="1"/>
      </c:catAx>
      <c:valAx>
        <c:axId val="2"/>
        <c:scaling>
          <c:orientation val="minMax"/>
        </c:scaling>
        <c:delete val="1"/>
        <c:axPos val="l"/>
        <c:numFmt formatCode="General" sourceLinked="1"/>
        <c:majorTickMark val="none"/>
        <c:minorTickMark val="none"/>
        <c:tickLblPos val="none"/>
        <c:crossAx val="1"/>
        <c:crosses val="autoZero"/>
        <c:crossBetween val="between"/>
      </c:valAx>
    </c:plotArea>
    <c:legend>
      <c:legendPos val="t"/>
      <c:overlay val="0"/>
      <c:txPr>
        <a:bodyPr/>
        <a:lstStyle/>
        <a:p>
          <a:pPr>
            <a:defRPr sz="1400">
              <a:solidFill>
                <a:srgbClr val="26374A"/>
              </a:solidFill>
            </a:defRPr>
          </a:pPr>
          <a:endParaRPr lang="fr-FR"/>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C59137-EE9C-4FB8-A2EA-7A97DE5F9E37}" type="datetimeFigureOut">
              <a:t>25/06/2026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77C183-CFB7-4CAD-85C9-AE50BD38DEE8}" type="slidenum">
              <a:t>‹N°›</a:t>
            </a:fld>
            <a:endParaRPr lang="en-US"/>
          </a:p>
        </p:txBody>
      </p:sp>
    </p:spTree>
    <p:extLst>
      <p:ext uri="{BB962C8B-B14F-4D97-AF65-F5344CB8AC3E}">
        <p14:creationId xmlns:p14="http://schemas.microsoft.com/office/powerpoint/2010/main" val="544203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Accueillez le jury et annoncez le sujet : Breezy, un réseau social distribué réalisé en FISA INFO A3. Présentez rapidement l'équipe et le plan de la soutenance : contexte, produit, modèle économique, positionnement, puis questions. Durée visée : 5 minutes maximum.</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Présentez l'équipe et la répartition des rôles : chef de projet / Scrum Master, architecte / lead développeur, et deux ingénieurs d'études et développement. Reliez chaque rôle à une contribution concrète au projet.</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Breezy en chiffres</a:t>
            </a:r>
          </a:p>
          <a:p>
            <a:r>
              <a:rPr lang="fr-FR"/>
              <a:t>5. Le produit en images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Questions du jury · Gestion de projet</a:t>
            </a:r>
          </a:p>
          <a:p>
            <a:r>
              <a:rPr lang="fr-FR"/>
              <a:t>11. Annexe  Gestion de projet (roadmap)</a:t>
            </a:r>
          </a:p>
          <a:p>
            <a:r>
              <a:rPr lang="fr-FR"/>
              <a:t>12. Annexe  Questions du jury · Choix techniques</a:t>
            </a:r>
          </a:p>
          <a:p>
            <a:r>
              <a:rPr lang="fr-FR"/>
              <a:t>13. Annexe  Questions du jury · Architecture</a:t>
            </a:r>
          </a:p>
          <a:p>
            <a:r>
              <a:rPr lang="fr-FR"/>
              <a:t>14. Annexe  Questions du jury · Sécurité</a:t>
            </a:r>
          </a:p>
          <a:p>
            <a:r>
              <a:rPr lang="fr-FR"/>
              <a:t>15. Questions techniques  Performances Next.js 14</a:t>
            </a:r>
          </a:p>
          <a:p>
            <a:r>
              <a:rPr lang="fr-FR"/>
              <a:t>16. Questions techniques  Microservices Go (Gin)</a:t>
            </a:r>
          </a:p>
          <a:p>
            <a:r>
              <a:rPr lang="fr-FR"/>
              <a:t>17. Questions techniques  Cookies et BFF</a:t>
            </a:r>
          </a:p>
          <a:p>
            <a:r>
              <a:rPr lang="fr-FR"/>
              <a:t>18. Questions techniques  Sectorisation des données</a:t>
            </a:r>
          </a:p>
          <a:p>
            <a:r>
              <a:rPr lang="fr-FR"/>
              <a:t>19. Questions techniques  Messagerie chiffrée</a:t>
            </a:r>
          </a:p>
          <a:p>
            <a:r>
              <a:rPr lang="fr-FR"/>
              <a:t>20. Questions techniques  WebSockets ou polling</a:t>
            </a:r>
          </a:p>
          <a:p>
            <a:r>
              <a:rPr lang="fr-FR"/>
              <a:t>21. Questions techniques  Flux d'authentification</a:t>
            </a:r>
          </a:p>
          <a:p>
            <a:r>
              <a:rPr lang="fr-FR"/>
              <a:t>22. Questions techniques  Revenus publicitaires</a:t>
            </a:r>
          </a:p>
          <a:p>
            <a:r>
              <a:rPr lang="fr-FR"/>
              <a:t>23. Questions techniques  Microservice de signalement</a:t>
            </a:r>
          </a:p>
          <a:p>
            <a:r>
              <a:rPr lang="fr-FR"/>
              <a:t>24. Questions techniques  API Gateway et fichiers</a:t>
            </a:r>
          </a:p>
          <a:p>
            <a:r>
              <a:rPr lang="fr-FR"/>
              <a:t>25. Questions techniques  Double authentification (2FA)</a:t>
            </a:r>
          </a:p>
          <a:p>
            <a:r>
              <a:rPr lang="fr-FR"/>
              <a:t>26. Questions techniques  Confidentialité côté serveur</a:t>
            </a:r>
          </a:p>
          <a:p>
            <a:r>
              <a:rPr lang="fr-FR"/>
              <a:t>27. Questions techniques  Déduction de l'âge</a:t>
            </a:r>
          </a:p>
          <a:p>
            <a:r>
              <a:rPr lang="fr-FR"/>
              <a:t>28. Questions techniques  Internationalisation (12 langues)</a:t>
            </a:r>
          </a:p>
          <a:p>
            <a:r>
              <a:rPr lang="fr-FR"/>
              <a:t>29. Questions techniques  Couverture des tests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Le projet devait couvrir un cahier des charges assez large : au total, on a livré </a:t>
            </a:r>
            <a:r>
              <a:rPr lang="fr-FR" b="1"/>
              <a:t>23 fonctionnalités</a:t>
            </a:r>
            <a:r>
              <a:rPr lang="fr-FR"/>
              <a:t>, dont </a:t>
            </a:r>
            <a:r>
              <a:rPr lang="fr-FR" b="1"/>
              <a:t>11 obligatoires</a:t>
            </a:r>
            <a:r>
              <a:rPr lang="fr-FR"/>
              <a:t> et </a:t>
            </a:r>
            <a:r>
              <a:rPr lang="fr-FR" b="1"/>
              <a:t>12 optionnelles</a:t>
            </a:r>
            <a:r>
              <a:rPr lang="fr-FR"/>
              <a:t>. </a:t>
            </a:r>
            <a:endParaRPr lang="fr-FR">
              <a:ea typeface="Calibri"/>
              <a:cs typeface="Calibri"/>
            </a:endParaRPr>
          </a:p>
          <a:p>
            <a:r>
              <a:rPr lang="fr-FR"/>
              <a:t>On a couvert </a:t>
            </a:r>
            <a:r>
              <a:rPr lang="fr-FR" b="1"/>
              <a:t>100 % du cahier des charges</a:t>
            </a:r>
            <a:r>
              <a:rPr lang="fr-FR"/>
              <a:t>, avec une contrainte produit importante : rester sur une expérience simple, fluide, proche d’un réseau social moderne. Les messages sont limités à environ </a:t>
            </a:r>
            <a:r>
              <a:rPr lang="fr-FR" b="1"/>
              <a:t>280 caractères</a:t>
            </a:r>
            <a:r>
              <a:rPr lang="fr-FR"/>
              <a:t>, comme sur X, et le travail a été découpé en environ </a:t>
            </a:r>
            <a:r>
              <a:rPr lang="fr-FR" b="1"/>
              <a:t>200 tâches réparties sur 6 phases (</a:t>
            </a:r>
            <a:r>
              <a:rPr lang="fr-FR"/>
              <a:t>conception et mise en place, fonctionnalités obligatoires, fonctionnalités optionnelles, fonctionnalités additionnelles, corrections et stabilisation, puis tests et qualité )</a:t>
            </a:r>
            <a:endParaRPr lang="en-US">
              <a:ea typeface="Calibri" panose="020F0502020204030204"/>
              <a:cs typeface="Calibri" panose="020F0502020204030204"/>
            </a:endParaRP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Breezy en chiffres</a:t>
            </a:r>
          </a:p>
          <a:p>
            <a:r>
              <a:rPr lang="fr-FR"/>
              <a:t>5. Le produit en images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Questions du jury · Gestion de projet</a:t>
            </a:r>
          </a:p>
          <a:p>
            <a:r>
              <a:rPr lang="fr-FR"/>
              <a:t>11. Annexe  Gestion de projet (roadmap)</a:t>
            </a:r>
          </a:p>
          <a:p>
            <a:r>
              <a:rPr lang="fr-FR"/>
              <a:t>12. Annexe  Questions du jury · Choix techniques</a:t>
            </a:r>
          </a:p>
          <a:p>
            <a:r>
              <a:rPr lang="fr-FR"/>
              <a:t>13. Annexe  Questions du jury · Architecture</a:t>
            </a:r>
          </a:p>
          <a:p>
            <a:r>
              <a:rPr lang="fr-FR"/>
              <a:t>14. Annexe  Questions du jury · Sécurité</a:t>
            </a:r>
          </a:p>
          <a:p>
            <a:r>
              <a:rPr lang="fr-FR"/>
              <a:t>15. Questions techniques  Performances Next.js 14</a:t>
            </a:r>
          </a:p>
          <a:p>
            <a:r>
              <a:rPr lang="fr-FR"/>
              <a:t>16. Questions techniques  </a:t>
            </a:r>
            <a:r>
              <a:rPr lang="fr-FR" err="1"/>
              <a:t>Microservices</a:t>
            </a:r>
            <a:r>
              <a:rPr lang="fr-FR"/>
              <a:t> Go (Gin)</a:t>
            </a:r>
            <a:endParaRPr lang="fr-FR">
              <a:ea typeface="Calibri"/>
              <a:cs typeface="Calibri"/>
            </a:endParaRPr>
          </a:p>
          <a:p>
            <a:r>
              <a:rPr lang="fr-FR"/>
              <a:t>17. Questions techniques  Cookies et BFF</a:t>
            </a:r>
          </a:p>
          <a:p>
            <a:r>
              <a:rPr lang="fr-FR"/>
              <a:t>18. Questions techniques  Sectorisation des données</a:t>
            </a:r>
          </a:p>
          <a:p>
            <a:r>
              <a:rPr lang="fr-FR"/>
              <a:t>19. Questions techniques  Messagerie chiffrée</a:t>
            </a:r>
          </a:p>
          <a:p>
            <a:r>
              <a:rPr lang="fr-FR"/>
              <a:t>20. Questions techniques  </a:t>
            </a:r>
            <a:r>
              <a:rPr lang="fr-FR" err="1"/>
              <a:t>WebSockets</a:t>
            </a:r>
            <a:r>
              <a:rPr lang="fr-FR"/>
              <a:t> ou polling</a:t>
            </a:r>
            <a:endParaRPr lang="fr-FR">
              <a:ea typeface="Calibri"/>
              <a:cs typeface="Calibri"/>
            </a:endParaRPr>
          </a:p>
          <a:p>
            <a:r>
              <a:rPr lang="fr-FR"/>
              <a:t>21. Questions techniques  Flux d'authentification</a:t>
            </a:r>
          </a:p>
          <a:p>
            <a:r>
              <a:rPr lang="fr-FR"/>
              <a:t>22. Questions techniques  Revenus publicitaires</a:t>
            </a:r>
          </a:p>
          <a:p>
            <a:r>
              <a:rPr lang="fr-FR"/>
              <a:t>23. Questions techniques  </a:t>
            </a:r>
            <a:r>
              <a:rPr lang="fr-FR" err="1"/>
              <a:t>Microservice</a:t>
            </a:r>
            <a:r>
              <a:rPr lang="fr-FR"/>
              <a:t> de signalement</a:t>
            </a:r>
            <a:endParaRPr lang="fr-FR">
              <a:ea typeface="Calibri"/>
              <a:cs typeface="Calibri"/>
            </a:endParaRPr>
          </a:p>
          <a:p>
            <a:r>
              <a:rPr lang="fr-FR"/>
              <a:t>24. Questions techniques  API Gateway et fichiers</a:t>
            </a:r>
          </a:p>
          <a:p>
            <a:r>
              <a:rPr lang="fr-FR"/>
              <a:t>25. Questions techniques  Double authentification (2FA)</a:t>
            </a:r>
          </a:p>
          <a:p>
            <a:r>
              <a:rPr lang="fr-FR"/>
              <a:t>26. Questions techniques  Confidentialité côté serveur</a:t>
            </a:r>
          </a:p>
          <a:p>
            <a:r>
              <a:rPr lang="fr-FR"/>
              <a:t>27. Questions techniques  Déduction de l'âge</a:t>
            </a:r>
          </a:p>
          <a:p>
            <a:r>
              <a:rPr lang="fr-FR"/>
              <a:t>28. Questions techniques  Internationalisation (12 langues)</a:t>
            </a:r>
          </a:p>
          <a:p>
            <a:r>
              <a:rPr lang="fr-FR"/>
              <a:t>29. Questions techniques  Couverture des tests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Résumons Breezy en quelques chiffres. Techniquement, le projet repose sur </a:t>
            </a:r>
            <a:r>
              <a:rPr lang="fr-FR" b="1"/>
              <a:t>11 </a:t>
            </a:r>
            <a:r>
              <a:rPr lang="fr-FR" b="1" err="1"/>
              <a:t>microservices</a:t>
            </a:r>
            <a:r>
              <a:rPr lang="fr-FR" b="1"/>
              <a:t> indépendants</a:t>
            </a:r>
            <a:r>
              <a:rPr lang="fr-FR"/>
              <a:t>, chacun responsable d’un domaine précis : l’authentification, les utilisateurs, les profils, les </a:t>
            </a:r>
            <a:r>
              <a:rPr lang="fr-FR" err="1"/>
              <a:t>posts</a:t>
            </a:r>
            <a:r>
              <a:rPr lang="fr-FR"/>
              <a:t>, les médias, la messagerie, les notifications, la modération, etc.</a:t>
            </a:r>
            <a:endParaRPr lang="en-US"/>
          </a:p>
          <a:p>
            <a:r>
              <a:rPr lang="fr-FR"/>
              <a:t>On utilise aussi </a:t>
            </a:r>
            <a:r>
              <a:rPr lang="fr-FR" b="1"/>
              <a:t>3 types de stockage spécialisés</a:t>
            </a:r>
            <a:r>
              <a:rPr lang="fr-FR"/>
              <a:t> : PostgreSQL pour les données relationnelles comme l’</a:t>
            </a:r>
            <a:r>
              <a:rPr lang="fr-FR" err="1"/>
              <a:t>auth</a:t>
            </a:r>
            <a:r>
              <a:rPr lang="fr-FR"/>
              <a:t> et le graphe social, MongoDB pour les données plus documentaires comme les </a:t>
            </a:r>
            <a:r>
              <a:rPr lang="fr-FR" err="1"/>
              <a:t>posts</a:t>
            </a:r>
            <a:r>
              <a:rPr lang="fr-FR"/>
              <a:t> ou les messages, et MinIO pour les médias.</a:t>
            </a:r>
            <a:endParaRPr lang="fr-FR">
              <a:ea typeface="Calibri"/>
              <a:cs typeface="Calibri"/>
            </a:endParaRPr>
          </a:p>
          <a:p>
            <a:r>
              <a:rPr lang="fr-FR"/>
              <a:t>Côté produit, l’interface est disponible en </a:t>
            </a:r>
            <a:r>
              <a:rPr lang="fr-FR" b="1"/>
              <a:t>12 langues</a:t>
            </a:r>
            <a:r>
              <a:rPr lang="fr-FR"/>
              <a:t>, ce qui montre qu’on a aussi travaillé l’expérience utilisateur. On a une couverture de tests supérieure à </a:t>
            </a:r>
            <a:r>
              <a:rPr lang="fr-FR" b="1"/>
              <a:t>95 %</a:t>
            </a:r>
            <a:r>
              <a:rPr lang="fr-FR"/>
              <a:t>, avec une CI qui vérifie les </a:t>
            </a:r>
            <a:r>
              <a:rPr lang="fr-FR" err="1"/>
              <a:t>builds</a:t>
            </a:r>
            <a:r>
              <a:rPr lang="fr-FR"/>
              <a:t>, les tests, le </a:t>
            </a:r>
            <a:r>
              <a:rPr lang="fr-FR" err="1"/>
              <a:t>lint</a:t>
            </a:r>
            <a:r>
              <a:rPr lang="fr-FR"/>
              <a:t>, l’intégration et la documentation API.</a:t>
            </a:r>
            <a:endParaRPr lang="fr-FR">
              <a:ea typeface="Calibri"/>
              <a:cs typeface="Calibri"/>
            </a:endParaRPr>
          </a:p>
          <a:p>
            <a:r>
              <a:rPr lang="fr-FR"/>
              <a:t>Enfin, on gère </a:t>
            </a:r>
            <a:r>
              <a:rPr lang="fr-FR" b="1"/>
              <a:t>4 rôles utilisateurs</a:t>
            </a:r>
            <a:r>
              <a:rPr lang="fr-FR"/>
              <a:t> et, après le </a:t>
            </a:r>
            <a:r>
              <a:rPr lang="fr-FR" err="1"/>
              <a:t>pentest</a:t>
            </a:r>
            <a:r>
              <a:rPr lang="fr-FR"/>
              <a:t>, il ne restait </a:t>
            </a:r>
            <a:r>
              <a:rPr lang="fr-FR" b="1"/>
              <a:t>aucune faille critique</a:t>
            </a:r>
            <a:r>
              <a:rPr lang="fr-FR"/>
              <a:t>, ce qui montre qu’on a aussi pris en compte les aspects sécurité et qualité.</a:t>
            </a:r>
            <a:endParaRPr lang="fr-FR">
              <a:ea typeface="Calibri"/>
              <a:cs typeface="Calibri"/>
            </a:endParaRPr>
          </a:p>
          <a:p>
            <a:endParaRPr lang="fr-FR">
              <a:ea typeface="Calibri"/>
              <a:cs typeface="Calibri"/>
            </a:endParaRPr>
          </a:p>
          <a:p>
            <a:r>
              <a:rPr lang="fr-FR"/>
              <a:t> Index de la présentation </a:t>
            </a:r>
          </a:p>
          <a:p>
            <a:r>
              <a:rPr lang="fr-FR"/>
              <a:t>1. Page de couverture</a:t>
            </a:r>
          </a:p>
          <a:p>
            <a:r>
              <a:rPr lang="fr-FR"/>
              <a:t>2. Présentation de l'équipe</a:t>
            </a:r>
          </a:p>
          <a:p>
            <a:r>
              <a:rPr lang="fr-FR"/>
              <a:t>3. Rappel du contexte</a:t>
            </a:r>
          </a:p>
          <a:p>
            <a:r>
              <a:rPr lang="fr-FR"/>
              <a:t>4. Le produit  Breezy en chiffres</a:t>
            </a:r>
          </a:p>
          <a:p>
            <a:r>
              <a:rPr lang="fr-FR"/>
              <a:t>5. Le produit en images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Questions du jury · Gestion de projet</a:t>
            </a:r>
          </a:p>
          <a:p>
            <a:r>
              <a:rPr lang="fr-FR"/>
              <a:t>11. Annexe  Gestion de projet (roadmap)</a:t>
            </a:r>
          </a:p>
          <a:p>
            <a:r>
              <a:rPr lang="fr-FR"/>
              <a:t>12. Annexe  Questions du jury · Choix techniques</a:t>
            </a:r>
          </a:p>
          <a:p>
            <a:r>
              <a:rPr lang="fr-FR"/>
              <a:t>13. Annexe  Questions du jury · Architecture</a:t>
            </a:r>
          </a:p>
          <a:p>
            <a:r>
              <a:rPr lang="fr-FR"/>
              <a:t>14. Annexe  Questions du jury · Sécurité</a:t>
            </a:r>
          </a:p>
          <a:p>
            <a:r>
              <a:rPr lang="fr-FR"/>
              <a:t>15. Questions techniques  Performances Next.js 14</a:t>
            </a:r>
          </a:p>
          <a:p>
            <a:r>
              <a:rPr lang="fr-FR"/>
              <a:t>16. Questions techniques  </a:t>
            </a:r>
            <a:r>
              <a:rPr lang="fr-FR" err="1"/>
              <a:t>Microservices</a:t>
            </a:r>
            <a:r>
              <a:rPr lang="fr-FR"/>
              <a:t> Go (Gin)</a:t>
            </a:r>
            <a:endParaRPr lang="fr-FR">
              <a:ea typeface="Calibri"/>
              <a:cs typeface="Calibri"/>
            </a:endParaRPr>
          </a:p>
          <a:p>
            <a:r>
              <a:rPr lang="fr-FR"/>
              <a:t>17. Questions techniques  Cookies et BFF</a:t>
            </a:r>
          </a:p>
          <a:p>
            <a:r>
              <a:rPr lang="fr-FR"/>
              <a:t>18. Questions techniques  Sectorisation des données</a:t>
            </a:r>
          </a:p>
          <a:p>
            <a:r>
              <a:rPr lang="fr-FR"/>
              <a:t>19. Questions techniques  Messagerie chiffrée</a:t>
            </a:r>
          </a:p>
          <a:p>
            <a:r>
              <a:rPr lang="fr-FR"/>
              <a:t>20. Questions techniques  </a:t>
            </a:r>
            <a:r>
              <a:rPr lang="fr-FR" err="1"/>
              <a:t>WebSockets</a:t>
            </a:r>
            <a:r>
              <a:rPr lang="fr-FR"/>
              <a:t> ou polling</a:t>
            </a:r>
            <a:endParaRPr lang="fr-FR">
              <a:ea typeface="Calibri"/>
              <a:cs typeface="Calibri"/>
            </a:endParaRPr>
          </a:p>
          <a:p>
            <a:r>
              <a:rPr lang="fr-FR"/>
              <a:t>21. Questions techniques  Flux d'authentification</a:t>
            </a:r>
          </a:p>
          <a:p>
            <a:r>
              <a:rPr lang="fr-FR"/>
              <a:t>22. Questions techniques  Revenus publicitaires</a:t>
            </a:r>
          </a:p>
          <a:p>
            <a:r>
              <a:rPr lang="fr-FR"/>
              <a:t>23. Questions techniques  </a:t>
            </a:r>
            <a:r>
              <a:rPr lang="fr-FR" err="1"/>
              <a:t>Microservice</a:t>
            </a:r>
            <a:r>
              <a:rPr lang="fr-FR"/>
              <a:t> de signalement</a:t>
            </a:r>
            <a:endParaRPr lang="fr-FR">
              <a:ea typeface="Calibri"/>
              <a:cs typeface="Calibri"/>
            </a:endParaRPr>
          </a:p>
          <a:p>
            <a:r>
              <a:rPr lang="fr-FR"/>
              <a:t>24. Questions techniques  API Gateway et fichiers</a:t>
            </a:r>
          </a:p>
          <a:p>
            <a:r>
              <a:rPr lang="fr-FR"/>
              <a:t>25. Questions techniques  Double authentification (2FA)</a:t>
            </a:r>
          </a:p>
          <a:p>
            <a:r>
              <a:rPr lang="fr-FR"/>
              <a:t>26. Questions techniques  Confidentialité côté serveur</a:t>
            </a:r>
          </a:p>
          <a:p>
            <a:r>
              <a:rPr lang="fr-FR"/>
              <a:t>27. Questions techniques  Déduction de l'âge</a:t>
            </a:r>
          </a:p>
          <a:p>
            <a:r>
              <a:rPr lang="fr-FR"/>
              <a:t>28. Questions techniques  Internationalisation (12 langues)</a:t>
            </a:r>
          </a:p>
          <a:p>
            <a:r>
              <a:rPr lang="fr-FR"/>
              <a:t>29. Questions techniques  Couverture des tests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Présentez le modèle économique en plusieurs temps : acquisition des utilisateurs, monétisation publicitaire puis abonnement. Restez synthétique ; le détail chiffré arrive à la diapositive suivante.</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Breezy en chiffres</a:t>
            </a:r>
          </a:p>
          <a:p>
            <a:r>
              <a:rPr lang="fr-FR"/>
              <a:t>5. Le produit en images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Questions du jury · Gestion de projet</a:t>
            </a:r>
          </a:p>
          <a:p>
            <a:r>
              <a:rPr lang="fr-FR"/>
              <a:t>11. Annexe  Gestion de projet (roadmap)</a:t>
            </a:r>
          </a:p>
          <a:p>
            <a:r>
              <a:rPr lang="fr-FR"/>
              <a:t>12. Annexe  Questions du jury · Choix techniques</a:t>
            </a:r>
          </a:p>
          <a:p>
            <a:r>
              <a:rPr lang="fr-FR"/>
              <a:t>13. Annexe  Questions du jury · Architecture</a:t>
            </a:r>
          </a:p>
          <a:p>
            <a:r>
              <a:rPr lang="fr-FR"/>
              <a:t>14. Annexe  Questions du jury · Sécurité</a:t>
            </a:r>
          </a:p>
          <a:p>
            <a:r>
              <a:rPr lang="fr-FR"/>
              <a:t>15. Questions techniques  Performances Next.js 14</a:t>
            </a:r>
          </a:p>
          <a:p>
            <a:r>
              <a:rPr lang="fr-FR"/>
              <a:t>16. Questions techniques  Microservices Go (Gin)</a:t>
            </a:r>
          </a:p>
          <a:p>
            <a:r>
              <a:rPr lang="fr-FR"/>
              <a:t>17. Questions techniques  Cookies et BFF</a:t>
            </a:r>
          </a:p>
          <a:p>
            <a:r>
              <a:rPr lang="fr-FR"/>
              <a:t>18. Questions techniques  Sectorisation des données</a:t>
            </a:r>
          </a:p>
          <a:p>
            <a:r>
              <a:rPr lang="fr-FR"/>
              <a:t>19. Questions techniques  Messagerie chiffrée</a:t>
            </a:r>
          </a:p>
          <a:p>
            <a:r>
              <a:rPr lang="fr-FR"/>
              <a:t>20. Questions techniques  WebSockets ou polling</a:t>
            </a:r>
          </a:p>
          <a:p>
            <a:r>
              <a:rPr lang="fr-FR"/>
              <a:t>21. Questions techniques  Flux d'authentification</a:t>
            </a:r>
          </a:p>
          <a:p>
            <a:r>
              <a:rPr lang="fr-FR"/>
              <a:t>22. Questions techniques  Revenus publicitaires</a:t>
            </a:r>
          </a:p>
          <a:p>
            <a:r>
              <a:rPr lang="fr-FR"/>
              <a:t>23. Questions techniques  Microservice de signalement</a:t>
            </a:r>
          </a:p>
          <a:p>
            <a:r>
              <a:rPr lang="fr-FR"/>
              <a:t>24. Questions techniques  API Gateway et fichiers</a:t>
            </a:r>
          </a:p>
          <a:p>
            <a:r>
              <a:rPr lang="fr-FR"/>
              <a:t>25. Questions techniques  Double authentification (2FA)</a:t>
            </a:r>
          </a:p>
          <a:p>
            <a:r>
              <a:rPr lang="fr-FR"/>
              <a:t>26. Questions techniques  Confidentialité côté serveur</a:t>
            </a:r>
          </a:p>
          <a:p>
            <a:r>
              <a:rPr lang="fr-FR"/>
              <a:t>27. Questions techniques  Déduction de l'âge</a:t>
            </a:r>
          </a:p>
          <a:p>
            <a:r>
              <a:rPr lang="fr-FR"/>
              <a:t>28. Questions techniques  Internationalisation (12 langues)</a:t>
            </a:r>
          </a:p>
          <a:p>
            <a:r>
              <a:rPr lang="fr-FR"/>
              <a:t>29. Questions techniques  Couverture des tests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Commentez la projection sur 3 ans : hypothèses de croissance (50 000 utilisateurs actifs mensuels — MAU : utilisateurs actifs mensuels — la première année, 600 000 la troisième), coût de R&amp;D d'environ 28 000 € et seuil de rentabilité atteint vers le 14e mois.</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Positionnez Breezy face au marché autour de trois piliers : la confidentialité (messagerie chiffrée de bout en bout — E2EE : chiffrement de bout en bout </a:t>
            </a:r>
          </a:p>
          <a:p>
            <a:r>
              <a:rPr lang="fr-FR"/>
              <a:t>E2EE, ça veut dire que le serveur sert juste de transport et de stockage, mais il ne voit jamais le message en clair. Seuls les utilisateurs qui ont la bonne clé peuvent le lire.</a:t>
            </a:r>
            <a:br>
              <a:rPr lang="fr-FR">
                <a:cs typeface="+mn-lt"/>
              </a:rPr>
            </a:br>
            <a:r>
              <a:rPr lang="fr-FR"/>
              <a:t>le serveur reçoit le message ;</a:t>
            </a:r>
            <a:endParaRPr lang="en-US">
              <a:ea typeface="Calibri"/>
              <a:cs typeface="+mn-lt"/>
            </a:endParaRPr>
          </a:p>
          <a:p>
            <a:r>
              <a:rPr lang="fr-FR"/>
              <a:t>le serveur le stocke ;</a:t>
            </a:r>
            <a:endParaRPr lang="en-US"/>
          </a:p>
          <a:p>
            <a:r>
              <a:rPr lang="fr-FR"/>
              <a:t>le serveur le transmet ;</a:t>
            </a:r>
            <a:endParaRPr lang="en-US"/>
          </a:p>
          <a:p>
            <a:r>
              <a:rPr lang="fr-FR"/>
              <a:t>mais le serveur ne peut pas lire le contenu.</a:t>
            </a:r>
            <a:endParaRPr lang="en-US"/>
          </a:p>
          <a:p>
            <a:endParaRPr lang="fr-FR"/>
          </a:p>
          <a:p>
            <a:r>
              <a:rPr lang="fr-FR"/>
              <a:t>— et confidentialité par conception), le design moderne (responsive, thème clair/sombre) et l'architecture modulaire (microservices). Montrez en quoi ces choix sont différenciants.</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381D2-FA8D-7E0A-85DF-F8FBC217F266}"/>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2AB6EC91-92F9-444C-9072-9E9A1BE0A766}"/>
              </a:ext>
            </a:extLst>
          </p:cNvPr>
          <p:cNvSpPr>
            <a:spLocks noGrp="1"/>
          </p:cNvSpPr>
          <p:nvPr>
            <p:ph type="body" idx="1"/>
          </p:nvPr>
        </p:nvSpPr>
        <p:spPr/>
        <p:txBody>
          <a:bodyPr/>
          <a:lstStyle/>
          <a:p>
            <a:r>
              <a:rPr lang="fr-FR"/>
              <a:t>Remerciez le jury et invitez aux questions. Précisez que des diapositives annexes détaillent la gestion de projet et les réponses aux questions techniques.</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extLst>
      <p:ext uri="{BB962C8B-B14F-4D97-AF65-F5344CB8AC3E}">
        <p14:creationId xmlns:p14="http://schemas.microsoft.com/office/powerpoint/2010/main" val="2113828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Remerciez le jury et invitez aux questions. Précisez que des diapositives annexes détaillent la gestion de projet et les réponses aux questions techniques.</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Diapositive annexe : à utiliser si le jury interroge la gestion de projet (organisation, méthode agile, planning, suivi des tâches).</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Diapositive annexe : présentez la roadmap en 6 phases et la répartition des quelque 200 tâches si le jury le demande.</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Diapositive annexe : support pour les questions sur les choix techniques (stack, langages, outils, justification des décisions).</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Diapositive annexe : support pour les questions sur l'architecture (microservices, API Gateway — API : interface de programmation —, flux de données).</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Diapositive annexe : support pour les questions de sécurité (authentification, chiffrement, confidentialité, gestion des accès).</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Expliquez pourquoi Next.js 14 sert la performance : rendu côté serveur (SSR : rendu côté serveur), génération statique (SSG : génération statique) et régénération incrémentale (ISR : régénération statique incrémentale), découpage automatique du code et optimisation des images. Résultat : navigation rapide et peu de JavaScript envoyé au client.</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Justifiez Go et Gin : compilation native, faible empreinte mémoire, forte concurrence via les goroutines, framework HTTP léger (Gin), et binaire unique par service facilitant la conteneurisation et le déploiement.</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Expliquez la sécurité des cookies via le BFF (BFF : Backend For Frontend, couche serveur dédiée au frontend) : le cookie de rafraîchissement est posé en httpOnly, avec les attributs Secure et SameSite contre le vol de session et le CSRF (CSRF : falsification de requête inter-site). Les secrets restent côté serveur, jamais exposés au navigateur.</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Expliquez le découpage des données : PostgreSQL pour le relationnel critique (comptes, authentification, relations), MongoDB pour le contenu volumineux et souple (posts, commentaires, notifications), et MinIO pour les médias (stockage objet compatible S3). Principe « une donnée = un service » : chaque base appartient à un service et n'est jamais exposée au client.</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Décrivez la messagerie chiffrée de bout en bout (E2EE : chiffrement de bout en bout) : chiffrement réalisé côté client, clés gérées par les utilisateurs, livraison en temps réel par WebSocket et pièces jointes elles aussi chiffrées avant envoi.</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Expliquez l'arbitrage : WebSocket pour le temps réel (messagerie, notifications, présence et indicateur de saisie) ; requêtes HTTP régulières (polling : interrogation périodique du serveur) pour le contenu non temps réel, plus simple à mettre en cache. On évite une connexion permanente là où elle n'apporte rien.</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Décrivez le flux d'authentification : inscription validée par e-mail, jeton d'accès court et jeton de rafraîchissement en cookie httpOnly via le BFF (BFF : Backend For Frontend), et connexion OAuth (OAuth : protocole de délégation d'authentification) avec Google.</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Présentez les revenus publicitaires : publicité native dans le fil, facturée au CPM (CPM : coût pour mille impressions) et au CPC (CPC : coût par clic), avec un ciblage contextuel respectueux de la vie privée. L'abonnement Breezy+ sans publicité constitue un revenu complémentaire.</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Expliquez le microservice autonome de signalement : agrégation des signalements, auto-masquage d'un contenu au-delà d'un seuil configurable, avertissements à accuser réception par l'utilisateur, et compatibilité avec le chiffrement de bout en bout (E2EE : chiffrement de bout en bout) puisque l'utilisateur divulgue volontairement le message ciblé.</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Expliquez le rôle de l'API Gateway (API : interface de programmation) pour les fichiers : point d'entrée unique qui relaie HTTP, WebSocket et médias, diffusion des fichiers avec prise en charge des requêtes Range pour le streaming vidéo, et MinIO maintenu caché derrière media-service. La gateway centralise aussi l'authentification, la journalisation et la limitation de débit.</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Décrivez la double authentification (2FA : authentification à deux facteurs) : un second facteur par code à usage unique (TOTP : code à usage unique basé sur le temps) en complément du mot de passe, des codes de secours en cas de perte du dispositif, et une vérification côté serveur avec une fenêtre de temps limitée contre le rejeu.</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Expliquez que la confidentialité est appliquée côté serveur : les règles de visibilité (compte privé, abonnés) sont imposées par les services et non par le client, grâce à des filtres au niveau des requêtes. Un contenu non autorisé n'est jamais renvoyé, et la cohérence est garantie quel que soit le point d'accès (web, mobile, API).</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Expliquez la déduction de l'âge à partir de la date de naissance fournie à l'inscription : le contenu sensible est filtré ou masqué pour les comptes mineurs, avec un contrôle appliqué côté serveur, indépendamment du client. Les paramètres de sensibilité restent ajustables par l'utilisateur adulte.</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On a géré les 12 langues côté front avec une i18n maison : dictionnaires statiques, LanguageProvider, et un hook useT() utilisé par les composants. Les textes passent par des clés du type namespace.key, et le français sert de référence et de fallback. La langue préférée est stockée côté compte dans users.preferred_locale, donc elle suit l’utilisateur entre appareils. Si elle n’est pas définie, on prend la langue du navigateur, et pour un visiteur on utilise le localStorage. Les posts, eux, sont traduits à part via une route BFF /api/translate, pour ne jamais exposer les clés API côté front.</a:t>
            </a:r>
            <a:endParaRPr lang="en-US"/>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a:t>
            </a:r>
            <a:r>
              <a:rPr lang="fr-FR" err="1"/>
              <a:t>Microservices</a:t>
            </a:r>
            <a:r>
              <a:rPr lang="fr-FR"/>
              <a:t> Go (Gin)</a:t>
            </a:r>
            <a:endParaRPr lang="fr-FR">
              <a:ea typeface="Calibri"/>
              <a:cs typeface="Calibri"/>
            </a:endParaRP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a:t>
            </a:r>
            <a:r>
              <a:rPr lang="fr-FR" err="1"/>
              <a:t>WebSockets</a:t>
            </a:r>
            <a:r>
              <a:rPr lang="fr-FR"/>
              <a:t> ou polling</a:t>
            </a:r>
            <a:endParaRPr lang="fr-FR">
              <a:ea typeface="Calibri"/>
              <a:cs typeface="Calibri"/>
            </a:endParaRPr>
          </a:p>
          <a:p>
            <a:r>
              <a:rPr lang="fr-FR"/>
              <a:t>21. Questions techniques — Flux d'authentification</a:t>
            </a:r>
          </a:p>
          <a:p>
            <a:r>
              <a:rPr lang="fr-FR"/>
              <a:t>22. Questions techniques — Revenus publicitaires</a:t>
            </a:r>
          </a:p>
          <a:p>
            <a:r>
              <a:rPr lang="fr-FR"/>
              <a:t>23. Questions techniques — </a:t>
            </a:r>
            <a:r>
              <a:rPr lang="fr-FR" err="1"/>
              <a:t>Microservice</a:t>
            </a:r>
            <a:r>
              <a:rPr lang="fr-FR"/>
              <a:t> de signalement</a:t>
            </a:r>
            <a:endParaRPr lang="fr-FR">
              <a:ea typeface="Calibri"/>
              <a:cs typeface="Calibri"/>
            </a:endParaRP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a:t>Concluez sur la qualité : plus de 95 % de couverture de tests sur l'interface (Vitest), des tests Go côté services (unitaires et intégration, avec détecteur de concurrence), une intégration continue (CI : intégration continue) qui exécute les tests à chaque modification, ainsi que des logs structurés et une documentation OpenAPI/Swagger.</a:t>
            </a:r>
          </a:p>
          <a:p>
            <a:endParaRPr lang="fr-FR"/>
          </a:p>
          <a:p>
            <a:r>
              <a:rPr lang="fr-FR"/>
              <a:t>— Index de la présentation —</a:t>
            </a:r>
          </a:p>
          <a:p>
            <a:r>
              <a:rPr lang="fr-FR"/>
              <a:t>1. Page de couverture</a:t>
            </a:r>
          </a:p>
          <a:p>
            <a:r>
              <a:rPr lang="fr-FR"/>
              <a:t>2. Présentation de l'équipe</a:t>
            </a:r>
          </a:p>
          <a:p>
            <a:r>
              <a:rPr lang="fr-FR"/>
              <a:t>3. Rappel du contexte</a:t>
            </a:r>
          </a:p>
          <a:p>
            <a:r>
              <a:rPr lang="fr-FR"/>
              <a:t>4. Le produit — Breezy en chiffres</a:t>
            </a:r>
          </a:p>
          <a:p>
            <a:r>
              <a:rPr lang="fr-FR"/>
              <a:t>5. Le produit en images — web &amp; mobile</a:t>
            </a:r>
          </a:p>
          <a:p>
            <a:r>
              <a:rPr lang="fr-FR"/>
              <a:t>6. Stratégie économique</a:t>
            </a:r>
          </a:p>
          <a:p>
            <a:r>
              <a:rPr lang="fr-FR"/>
              <a:t>7. Projection financière · 3 ans</a:t>
            </a:r>
          </a:p>
          <a:p>
            <a:r>
              <a:rPr lang="fr-FR"/>
              <a:t>8. Positionnement sur le marché</a:t>
            </a:r>
          </a:p>
          <a:p>
            <a:r>
              <a:rPr lang="fr-FR"/>
              <a:t>9. Remerciements</a:t>
            </a:r>
          </a:p>
          <a:p>
            <a:r>
              <a:rPr lang="fr-FR"/>
              <a:t>10. Annexe — Questions du jury · Gestion de projet</a:t>
            </a:r>
          </a:p>
          <a:p>
            <a:r>
              <a:rPr lang="fr-FR"/>
              <a:t>11. Annexe — Gestion de projet (roadmap)</a:t>
            </a:r>
          </a:p>
          <a:p>
            <a:r>
              <a:rPr lang="fr-FR"/>
              <a:t>12. Annexe — Questions du jury · Choix techniques</a:t>
            </a:r>
          </a:p>
          <a:p>
            <a:r>
              <a:rPr lang="fr-FR"/>
              <a:t>13. Annexe — Questions du jury · Architecture</a:t>
            </a:r>
          </a:p>
          <a:p>
            <a:r>
              <a:rPr lang="fr-FR"/>
              <a:t>14. Annexe — Questions du jury · Sécurité</a:t>
            </a:r>
          </a:p>
          <a:p>
            <a:r>
              <a:rPr lang="fr-FR"/>
              <a:t>15. Questions techniques — Performances Next.js 14</a:t>
            </a:r>
          </a:p>
          <a:p>
            <a:r>
              <a:rPr lang="fr-FR"/>
              <a:t>16. Questions techniques — Microservices Go (Gin)</a:t>
            </a:r>
          </a:p>
          <a:p>
            <a:r>
              <a:rPr lang="fr-FR"/>
              <a:t>17. Questions techniques — Cookies et BFF</a:t>
            </a:r>
          </a:p>
          <a:p>
            <a:r>
              <a:rPr lang="fr-FR"/>
              <a:t>18. Questions techniques — Sectorisation des données</a:t>
            </a:r>
          </a:p>
          <a:p>
            <a:r>
              <a:rPr lang="fr-FR"/>
              <a:t>19. Questions techniques — Messagerie chiffrée</a:t>
            </a:r>
          </a:p>
          <a:p>
            <a:r>
              <a:rPr lang="fr-FR"/>
              <a:t>20. Questions techniques — WebSockets ou polling</a:t>
            </a:r>
          </a:p>
          <a:p>
            <a:r>
              <a:rPr lang="fr-FR"/>
              <a:t>21. Questions techniques — Flux d'authentification</a:t>
            </a:r>
          </a:p>
          <a:p>
            <a:r>
              <a:rPr lang="fr-FR"/>
              <a:t>22. Questions techniques — Revenus publicitaires</a:t>
            </a:r>
          </a:p>
          <a:p>
            <a:r>
              <a:rPr lang="fr-FR"/>
              <a:t>23. Questions techniques — Microservice de signalement</a:t>
            </a:r>
          </a:p>
          <a:p>
            <a:r>
              <a:rPr lang="fr-FR"/>
              <a:t>24. Questions techniques — API Gateway et fichiers</a:t>
            </a:r>
          </a:p>
          <a:p>
            <a:r>
              <a:rPr lang="fr-FR"/>
              <a:t>25. Questions techniques — Double authentification (2FA)</a:t>
            </a:r>
          </a:p>
          <a:p>
            <a:r>
              <a:rPr lang="fr-FR"/>
              <a:t>26. Questions techniques — Confidentialité côté serveur</a:t>
            </a:r>
          </a:p>
          <a:p>
            <a:r>
              <a:rPr lang="fr-FR"/>
              <a:t>27. Questions techniques — Déduction de l'âge</a:t>
            </a:r>
          </a:p>
          <a:p>
            <a:r>
              <a:rPr lang="fr-FR"/>
              <a:t>28. Questions techniques — Internationalisation (12 langues)</a:t>
            </a:r>
          </a:p>
          <a:p>
            <a:r>
              <a:rPr lang="fr-FR"/>
              <a:t>29. Questions techniques — Couverture des tests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0DEAEFBB-2982-41AD-A152-7290EFFBAE63}" type="datetime1">
              <a:rPr lang="fr-FR" smtClean="0"/>
              <a:t>25/06/2026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86B7504-0969-47C3-A130-C9BDCCC2892F}" type="datetime1">
              <a:rPr lang="fr-FR" smtClean="0"/>
              <a:t>25/06/2026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988AA1CD-48BA-41A4-A309-5ED32DE93190}" type="datetime1">
              <a:rPr lang="fr-FR" smtClean="0"/>
              <a:t>25/06/2026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133DBE97-F7EE-4330-9C98-4FAE707D4475}" type="datetime1">
              <a:rPr lang="fr-FR" smtClean="0"/>
              <a:t>25/06/2026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BE769679-56C1-4A98-8728-99931CEED25D}" type="datetime1">
              <a:rPr lang="fr-FR" smtClean="0"/>
              <a:t>25/06/2026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5EF1A0E4-9EE7-4D96-9743-461E3B64185E}" type="datetime1">
              <a:rPr lang="fr-FR" smtClean="0"/>
              <a:t>25/06/2026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DFF1351-EEDB-4476-BBC7-92E67B49F9F7}" type="datetime1">
              <a:rPr lang="fr-FR" smtClean="0"/>
              <a:t>25/06/2026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C676EBE-1FCB-4F6B-BC3A-976949EC2BE9}" type="datetime1">
              <a:rPr lang="fr-FR" smtClean="0"/>
              <a:t>25/06/2026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52AC6CF-D44E-4BC2-B99E-AD0626FE4F16}" type="datetime1">
              <a:rPr lang="fr-FR" smtClean="0"/>
              <a:t>25/06/2026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B4E54D1B-2786-494C-8FC7-2595DF7FE25F}" type="datetime1">
              <a:rPr lang="fr-FR" smtClean="0"/>
              <a:t>25/06/2026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CAD98AB-320B-42BC-94ED-A59D55103311}" type="datetime1">
              <a:rPr lang="fr-FR" smtClean="0"/>
              <a:t>25/06/2026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90217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73AE61-FF1F-4EA9-A66F-151B6659DB0D}" type="datetime1">
              <a:rPr lang="fr-FR" smtClean="0"/>
              <a:t>25/06/2026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‹N°›</a:t>
            </a:fld>
            <a:endParaRPr lang="fr-FR"/>
          </a:p>
        </p:txBody>
      </p:sp>
      <p:sp>
        <p:nvSpPr>
          <p:cNvPr id="901" name="DecoCircle1"/>
          <p:cNvSpPr/>
          <p:nvPr/>
        </p:nvSpPr>
        <p:spPr>
          <a:xfrm>
            <a:off x="10350000" y="-1250000"/>
            <a:ext cx="3600000" cy="3600000"/>
          </a:xfrm>
          <a:prstGeom prst="ellipse">
            <a:avLst/>
          </a:prstGeom>
          <a:solidFill>
            <a:srgbClr val="2D7FF9">
              <a:alpha val="9000"/>
            </a:srgbClr>
          </a:solidFill>
          <a:ln>
            <a:noFill/>
          </a:ln>
        </p:spPr>
        <p:txBody>
          <a:bodyPr/>
          <a:lstStyle/>
          <a:p>
            <a:endParaRPr/>
          </a:p>
        </p:txBody>
      </p:sp>
      <p:sp>
        <p:nvSpPr>
          <p:cNvPr id="902" name="DecoCircle2"/>
          <p:cNvSpPr/>
          <p:nvPr/>
        </p:nvSpPr>
        <p:spPr>
          <a:xfrm>
            <a:off x="11050000" y="600000"/>
            <a:ext cx="2100000" cy="2100000"/>
          </a:xfrm>
          <a:prstGeom prst="ellipse">
            <a:avLst/>
          </a:prstGeom>
          <a:solidFill>
            <a:srgbClr val="00C2CB">
              <a:alpha val="10000"/>
            </a:srgbClr>
          </a:solidFill>
          <a:ln>
            <a:noFill/>
          </a:ln>
        </p:spPr>
        <p:txBody>
          <a:bodyPr/>
          <a:lstStyle/>
          <a:p>
            <a:endParaRP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rgbClr val="0B2A4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6374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8.sv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C3D1496-13B9-CBC0-B72E-BB1AB7D19A5E}"/>
              </a:ext>
            </a:extLst>
          </p:cNvPr>
          <p:cNvPicPr>
            <a:picLocks noChangeAspect="1"/>
          </p:cNvPicPr>
          <p:nvPr/>
        </p:nvPicPr>
        <p:blipFill>
          <a:blip r:embed="rId3"/>
          <a:stretch>
            <a:fillRect/>
          </a:stretch>
        </p:blipFill>
        <p:spPr>
          <a:xfrm>
            <a:off x="990600" y="1524000"/>
            <a:ext cx="3392635" cy="3810000"/>
          </a:xfrm>
          <a:prstGeom prst="rect">
            <a:avLst/>
          </a:prstGeom>
        </p:spPr>
      </p:pic>
      <p:sp>
        <p:nvSpPr>
          <p:cNvPr id="4" name="ZoneTexte 3">
            <a:extLst>
              <a:ext uri="{FF2B5EF4-FFF2-40B4-BE49-F238E27FC236}">
                <a16:creationId xmlns:a16="http://schemas.microsoft.com/office/drawing/2014/main" id="{0F18C937-FF24-4295-B3D3-A06FBC4C5F21}"/>
              </a:ext>
            </a:extLst>
          </p:cNvPr>
          <p:cNvSpPr txBox="1"/>
          <p:nvPr/>
        </p:nvSpPr>
        <p:spPr>
          <a:xfrm>
            <a:off x="5143500" y="1905000"/>
            <a:ext cx="6477000" cy="279400"/>
          </a:xfrm>
          <a:prstGeom prst="rect">
            <a:avLst/>
          </a:prstGeom>
          <a:noFill/>
        </p:spPr>
        <p:txBody>
          <a:bodyPr vertOverflow="overflow" vert="horz" wrap="square" rtlCol="0" anchor="t" anchorCtr="0">
            <a:spAutoFit/>
          </a:bodyPr>
          <a:lstStyle/>
          <a:p>
            <a:pPr algn="l"/>
            <a:r>
              <a:rPr lang="fr-FR" sz="1300" b="1">
                <a:solidFill>
                  <a:srgbClr val="2D7FF9"/>
                </a:solidFill>
                <a:latin typeface="Calibri"/>
                <a:ea typeface="Calibri"/>
                <a:cs typeface="Calibri"/>
              </a:rPr>
              <a:t>SOUTENANCE · DÉVELOPPEMENT D'APPLICATIONS DISTRIBUÉES</a:t>
            </a:r>
          </a:p>
        </p:txBody>
      </p:sp>
      <p:sp>
        <p:nvSpPr>
          <p:cNvPr id="5" name="ZoneTexte 4">
            <a:extLst>
              <a:ext uri="{FF2B5EF4-FFF2-40B4-BE49-F238E27FC236}">
                <a16:creationId xmlns:a16="http://schemas.microsoft.com/office/drawing/2014/main" id="{06A58AFC-EDB9-4CD2-A1F8-067E01269C05}"/>
              </a:ext>
            </a:extLst>
          </p:cNvPr>
          <p:cNvSpPr txBox="1"/>
          <p:nvPr/>
        </p:nvSpPr>
        <p:spPr>
          <a:xfrm>
            <a:off x="5143500" y="2235200"/>
            <a:ext cx="6477000" cy="685800"/>
          </a:xfrm>
          <a:prstGeom prst="rect">
            <a:avLst/>
          </a:prstGeom>
          <a:noFill/>
        </p:spPr>
        <p:txBody>
          <a:bodyPr vertOverflow="overflow" vert="horz" wrap="square" rtlCol="0" anchor="t" anchorCtr="0">
            <a:spAutoFit/>
          </a:bodyPr>
          <a:lstStyle/>
          <a:p>
            <a:pPr algn="l"/>
            <a:r>
              <a:rPr lang="fr-FR" sz="4000" b="1">
                <a:solidFill>
                  <a:srgbClr val="0B2A4A"/>
                </a:solidFill>
                <a:latin typeface="Calibri"/>
                <a:ea typeface="Calibri"/>
                <a:cs typeface="Calibri"/>
              </a:rPr>
              <a:t>Réseau social distribué</a:t>
            </a:r>
          </a:p>
        </p:txBody>
      </p:sp>
      <p:sp>
        <p:nvSpPr>
          <p:cNvPr id="6" name="ZoneTexte 5">
            <a:extLst>
              <a:ext uri="{FF2B5EF4-FFF2-40B4-BE49-F238E27FC236}">
                <a16:creationId xmlns:a16="http://schemas.microsoft.com/office/drawing/2014/main" id="{0F699DE0-D420-4407-AEFF-6EDF65D4325B}"/>
              </a:ext>
            </a:extLst>
          </p:cNvPr>
          <p:cNvSpPr txBox="1"/>
          <p:nvPr/>
        </p:nvSpPr>
        <p:spPr>
          <a:xfrm>
            <a:off x="5143500" y="2997200"/>
            <a:ext cx="6477000" cy="609600"/>
          </a:xfrm>
          <a:prstGeom prst="rect">
            <a:avLst/>
          </a:prstGeom>
          <a:noFill/>
        </p:spPr>
        <p:txBody>
          <a:bodyPr vertOverflow="overflow" vert="horz" wrap="square" rtlCol="0" anchor="t" anchorCtr="0">
            <a:spAutoFit/>
          </a:bodyPr>
          <a:lstStyle/>
          <a:p>
            <a:pPr algn="l"/>
            <a:r>
              <a:rPr lang="fr-FR" sz="1600">
                <a:solidFill>
                  <a:srgbClr val="6C8CB5"/>
                </a:solidFill>
                <a:latin typeface="Calibri"/>
                <a:ea typeface="Calibri"/>
                <a:cs typeface="Calibri"/>
              </a:rPr>
              <a:t>Application web &amp; mobile inspirée de Twitter/X — messages courts, temps réel et architecture microservices.</a:t>
            </a:r>
          </a:p>
        </p:txBody>
      </p:sp>
      <p:sp>
        <p:nvSpPr>
          <p:cNvPr id="7" name="Rectangle 6">
            <a:extLst>
              <a:ext uri="{FF2B5EF4-FFF2-40B4-BE49-F238E27FC236}">
                <a16:creationId xmlns:a16="http://schemas.microsoft.com/office/drawing/2014/main" id="{E7EB37A3-8383-4171-8128-EDA805B9A691}"/>
              </a:ext>
            </a:extLst>
          </p:cNvPr>
          <p:cNvSpPr/>
          <p:nvPr/>
        </p:nvSpPr>
        <p:spPr>
          <a:xfrm>
            <a:off x="5143500" y="3810000"/>
            <a:ext cx="812800" cy="50800"/>
          </a:xfrm>
          <a:prstGeom prst="rect">
            <a:avLst/>
          </a:prstGeom>
          <a:solidFill>
            <a:srgbClr val="00C2C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8" name="ZoneTexte 7">
            <a:extLst>
              <a:ext uri="{FF2B5EF4-FFF2-40B4-BE49-F238E27FC236}">
                <a16:creationId xmlns:a16="http://schemas.microsoft.com/office/drawing/2014/main" id="{DEFEEB03-78DB-4DBC-8594-6B826E21685C}"/>
              </a:ext>
            </a:extLst>
          </p:cNvPr>
          <p:cNvSpPr txBox="1"/>
          <p:nvPr/>
        </p:nvSpPr>
        <p:spPr>
          <a:xfrm>
            <a:off x="5143500" y="4089400"/>
            <a:ext cx="6477000" cy="228600"/>
          </a:xfrm>
          <a:prstGeom prst="rect">
            <a:avLst/>
          </a:prstGeom>
          <a:noFill/>
        </p:spPr>
        <p:txBody>
          <a:bodyPr vertOverflow="overflow" vert="horz" wrap="square" rtlCol="0" anchor="t" anchorCtr="0">
            <a:spAutoFit/>
          </a:bodyPr>
          <a:lstStyle/>
          <a:p>
            <a:pPr algn="l"/>
            <a:r>
              <a:rPr lang="fr-FR" sz="1200" b="1">
                <a:solidFill>
                  <a:srgbClr val="6C8CB5"/>
                </a:solidFill>
                <a:latin typeface="Calibri"/>
                <a:ea typeface="Calibri"/>
                <a:cs typeface="Calibri"/>
              </a:rPr>
              <a:t>PRÉSENTÉ PAR</a:t>
            </a:r>
          </a:p>
        </p:txBody>
      </p:sp>
      <p:sp>
        <p:nvSpPr>
          <p:cNvPr id="9" name="ZoneTexte 8">
            <a:extLst>
              <a:ext uri="{FF2B5EF4-FFF2-40B4-BE49-F238E27FC236}">
                <a16:creationId xmlns:a16="http://schemas.microsoft.com/office/drawing/2014/main" id="{946E0306-9A7D-4F7F-ADA3-DF6A733E07C1}"/>
              </a:ext>
            </a:extLst>
          </p:cNvPr>
          <p:cNvSpPr txBox="1"/>
          <p:nvPr/>
        </p:nvSpPr>
        <p:spPr>
          <a:xfrm>
            <a:off x="5143500" y="4368800"/>
            <a:ext cx="6477000" cy="304800"/>
          </a:xfrm>
          <a:prstGeom prst="rect">
            <a:avLst/>
          </a:prstGeom>
          <a:noFill/>
        </p:spPr>
        <p:txBody>
          <a:bodyPr vertOverflow="overflow" vert="horz" wrap="square" rtlCol="0" anchor="t" anchorCtr="0">
            <a:spAutoFit/>
          </a:bodyPr>
          <a:lstStyle/>
          <a:p>
            <a:pPr algn="l"/>
            <a:r>
              <a:rPr lang="fr-FR" sz="1500" b="1">
                <a:solidFill>
                  <a:srgbClr val="0B2A4A"/>
                </a:solidFill>
                <a:latin typeface="Calibri"/>
                <a:ea typeface="Calibri"/>
                <a:cs typeface="Calibri"/>
              </a:rPr>
              <a:t>Philippe LUU   ·   Alexandre RIVET   ·   Romain TOUZE   ·   Maxime STOFFEL</a:t>
            </a:r>
          </a:p>
        </p:txBody>
      </p:sp>
      <p:sp>
        <p:nvSpPr>
          <p:cNvPr id="10" name="ZoneTexte 9">
            <a:extLst>
              <a:ext uri="{FF2B5EF4-FFF2-40B4-BE49-F238E27FC236}">
                <a16:creationId xmlns:a16="http://schemas.microsoft.com/office/drawing/2014/main" id="{0551F081-8D94-4229-9489-5778C7AB8093}"/>
              </a:ext>
            </a:extLst>
          </p:cNvPr>
          <p:cNvSpPr txBox="1"/>
          <p:nvPr/>
        </p:nvSpPr>
        <p:spPr>
          <a:xfrm>
            <a:off x="5143500" y="4724400"/>
            <a:ext cx="6477000" cy="307777"/>
          </a:xfrm>
          <a:prstGeom prst="rect">
            <a:avLst/>
          </a:prstGeom>
          <a:noFill/>
        </p:spPr>
        <p:txBody>
          <a:bodyPr vertOverflow="overflow" vert="horz" wrap="square" rtlCol="0" anchor="t" anchorCtr="0">
            <a:spAutoFit/>
          </a:bodyPr>
          <a:lstStyle/>
          <a:p>
            <a:pPr algn="l"/>
            <a:r>
              <a:rPr lang="fr-FR" sz="1400">
                <a:solidFill>
                  <a:srgbClr val="6C8CB5"/>
                </a:solidFill>
                <a:latin typeface="Calibri"/>
                <a:ea typeface="Calibri"/>
                <a:cs typeface="Calibri"/>
              </a:rPr>
              <a:t>FISA INFO A3   ·   Soutenance — 26 juin 2026</a:t>
            </a:r>
          </a:p>
        </p:txBody>
      </p:sp>
      <p:sp>
        <p:nvSpPr>
          <p:cNvPr id="2" name="Espace réservé du numéro de diapositive 1">
            <a:extLst>
              <a:ext uri="{FF2B5EF4-FFF2-40B4-BE49-F238E27FC236}">
                <a16:creationId xmlns:a16="http://schemas.microsoft.com/office/drawing/2014/main" id="{1E4F93F8-0311-EBE3-7E9F-BD1B2D287E9F}"/>
              </a:ext>
            </a:extLst>
          </p:cNvPr>
          <p:cNvSpPr>
            <a:spLocks noGrp="1"/>
          </p:cNvSpPr>
          <p:nvPr>
            <p:ph type="sldNum" sz="quarter" idx="12"/>
          </p:nvPr>
        </p:nvSpPr>
        <p:spPr/>
        <p:txBody>
          <a:bodyPr/>
          <a:lstStyle/>
          <a:p>
            <a:fld id="{27C6CCC6-2BE5-4E42-96A4-D1E8E81A3D8E}" type="slidenum">
              <a:rPr lang="fr-FR" smtClean="0"/>
              <a:t>1</a:t>
            </a:fld>
            <a:endParaRPr lang="fr-FR"/>
          </a:p>
        </p:txBody>
      </p:sp>
    </p:spTree>
    <p:extLst>
      <p:ext uri="{BB962C8B-B14F-4D97-AF65-F5344CB8AC3E}">
        <p14:creationId xmlns:p14="http://schemas.microsoft.com/office/powerpoint/2010/main" val="256918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rgbClr val="F6F9FC"/>
          </a:fgClr>
          <a:bgClr>
            <a:schemeClr val="bg1"/>
          </a:bgClr>
        </a:patt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73E57A-D7C9-4C92-83A6-0BE2B5C98B57}"/>
              </a:ext>
            </a:extLst>
          </p:cNvPr>
          <p:cNvSpPr txBox="1"/>
          <p:nvPr/>
        </p:nvSpPr>
        <p:spPr>
          <a:xfrm>
            <a:off x="1016000" y="381000"/>
            <a:ext cx="10160000" cy="304800"/>
          </a:xfrm>
          <a:prstGeom prst="rect">
            <a:avLst/>
          </a:prstGeom>
          <a:noFill/>
        </p:spPr>
        <p:txBody>
          <a:bodyPr vertOverflow="overflow" vert="horz" wrap="square" rtlCol="0" anchor="t" anchorCtr="0">
            <a:spAutoFit/>
          </a:bodyPr>
          <a:lstStyle/>
          <a:p>
            <a:pPr algn="l"/>
            <a:r>
              <a:rPr lang="en-US" sz="1300" b="1">
                <a:solidFill>
                  <a:srgbClr val="2D7FF9"/>
                </a:solidFill>
                <a:latin typeface="Montserrat"/>
              </a:rPr>
              <a:t>SOUTENANCE · PROJET FISA INFO A3</a:t>
            </a:r>
          </a:p>
        </p:txBody>
      </p:sp>
      <p:sp>
        <p:nvSpPr>
          <p:cNvPr id="5" name="TextBox 4">
            <a:extLst>
              <a:ext uri="{FF2B5EF4-FFF2-40B4-BE49-F238E27FC236}">
                <a16:creationId xmlns:a16="http://schemas.microsoft.com/office/drawing/2014/main" id="{EE6252BD-914E-4DDD-A1EF-5E6D1EC19CBD}"/>
              </a:ext>
            </a:extLst>
          </p:cNvPr>
          <p:cNvSpPr txBox="1"/>
          <p:nvPr/>
        </p:nvSpPr>
        <p:spPr>
          <a:xfrm>
            <a:off x="1016000" y="660400"/>
            <a:ext cx="10160000" cy="889000"/>
          </a:xfrm>
          <a:prstGeom prst="rect">
            <a:avLst/>
          </a:prstGeom>
          <a:noFill/>
        </p:spPr>
        <p:txBody>
          <a:bodyPr vertOverflow="overflow" vert="horz" wrap="square" rtlCol="0" anchor="t" anchorCtr="0">
            <a:spAutoFit/>
          </a:bodyPr>
          <a:lstStyle/>
          <a:p>
            <a:pPr algn="l"/>
            <a:r>
              <a:rPr lang="en-US" sz="5200" b="1">
                <a:solidFill>
                  <a:srgbClr val="0B2A4A"/>
                </a:solidFill>
                <a:latin typeface="Montserrat"/>
              </a:rPr>
              <a:t>Breezy</a:t>
            </a:r>
          </a:p>
        </p:txBody>
      </p:sp>
      <p:sp>
        <p:nvSpPr>
          <p:cNvPr id="6" name="TextBox 5">
            <a:extLst>
              <a:ext uri="{FF2B5EF4-FFF2-40B4-BE49-F238E27FC236}">
                <a16:creationId xmlns:a16="http://schemas.microsoft.com/office/drawing/2014/main" id="{7347BA7C-4008-43DE-8E47-FAE341ED6319}"/>
              </a:ext>
            </a:extLst>
          </p:cNvPr>
          <p:cNvSpPr txBox="1"/>
          <p:nvPr/>
        </p:nvSpPr>
        <p:spPr>
          <a:xfrm>
            <a:off x="717616" y="1611868"/>
            <a:ext cx="10160000" cy="369332"/>
          </a:xfrm>
          <a:prstGeom prst="rect">
            <a:avLst/>
          </a:prstGeom>
          <a:noFill/>
        </p:spPr>
        <p:txBody>
          <a:bodyPr vertOverflow="overflow" vert="horz" wrap="square" rtlCol="0" anchor="t" anchorCtr="0">
            <a:spAutoFit/>
          </a:bodyPr>
          <a:lstStyle/>
          <a:p>
            <a:pPr algn="l"/>
            <a:r>
              <a:rPr lang="en-US">
                <a:solidFill>
                  <a:srgbClr val="6C8CB5"/>
                </a:solidFill>
                <a:latin typeface="Open Sans"/>
                <a:ea typeface="Open Sans"/>
                <a:cs typeface="Open Sans"/>
              </a:rPr>
              <a:t>Réseau social</a:t>
            </a:r>
          </a:p>
        </p:txBody>
      </p:sp>
      <p:sp>
        <p:nvSpPr>
          <p:cNvPr id="7" name="TextBox 6">
            <a:extLst>
              <a:ext uri="{FF2B5EF4-FFF2-40B4-BE49-F238E27FC236}">
                <a16:creationId xmlns:a16="http://schemas.microsoft.com/office/drawing/2014/main" id="{EC08FEA3-E572-4DC7-A048-D7B12DE1D0C7}"/>
              </a:ext>
            </a:extLst>
          </p:cNvPr>
          <p:cNvSpPr txBox="1"/>
          <p:nvPr/>
        </p:nvSpPr>
        <p:spPr>
          <a:xfrm>
            <a:off x="1016000" y="2108200"/>
            <a:ext cx="10160000" cy="279400"/>
          </a:xfrm>
          <a:prstGeom prst="rect">
            <a:avLst/>
          </a:prstGeom>
          <a:noFill/>
        </p:spPr>
        <p:txBody>
          <a:bodyPr vertOverflow="overflow" vert="horz" wrap="square" rtlCol="0" anchor="t" anchorCtr="0">
            <a:spAutoFit/>
          </a:bodyPr>
          <a:lstStyle/>
          <a:p>
            <a:pPr algn="l"/>
            <a:r>
              <a:rPr lang="en-US" sz="1500" b="1">
                <a:solidFill>
                  <a:srgbClr val="00C2CB"/>
                </a:solidFill>
                <a:latin typeface="Montserrat"/>
              </a:rPr>
              <a:t>L'ÉQUIPE</a:t>
            </a:r>
          </a:p>
        </p:txBody>
      </p:sp>
      <p:sp>
        <p:nvSpPr>
          <p:cNvPr id="9" name="TextBox 8">
            <a:extLst>
              <a:ext uri="{FF2B5EF4-FFF2-40B4-BE49-F238E27FC236}">
                <a16:creationId xmlns:a16="http://schemas.microsoft.com/office/drawing/2014/main" id="{CFF2DE4A-9CB5-4502-8FF8-418E7E5E8AA3}"/>
              </a:ext>
            </a:extLst>
          </p:cNvPr>
          <p:cNvSpPr txBox="1"/>
          <p:nvPr/>
        </p:nvSpPr>
        <p:spPr>
          <a:xfrm>
            <a:off x="1008050" y="4495800"/>
            <a:ext cx="1684688" cy="353943"/>
          </a:xfrm>
          <a:prstGeom prst="rect">
            <a:avLst/>
          </a:prstGeom>
          <a:noFill/>
        </p:spPr>
        <p:txBody>
          <a:bodyPr vertOverflow="overflow" vert="horz" wrap="square" rtlCol="0" anchor="t" anchorCtr="0">
            <a:spAutoFit/>
          </a:bodyPr>
          <a:lstStyle/>
          <a:p>
            <a:pPr algn="l"/>
            <a:r>
              <a:rPr lang="en-US" sz="1700" b="1">
                <a:solidFill>
                  <a:srgbClr val="0B2A4A"/>
                </a:solidFill>
                <a:latin typeface="Montserrat"/>
              </a:rPr>
              <a:t>Philippe LUU</a:t>
            </a:r>
          </a:p>
        </p:txBody>
      </p:sp>
      <p:sp>
        <p:nvSpPr>
          <p:cNvPr id="10" name="TextBox 9">
            <a:extLst>
              <a:ext uri="{FF2B5EF4-FFF2-40B4-BE49-F238E27FC236}">
                <a16:creationId xmlns:a16="http://schemas.microsoft.com/office/drawing/2014/main" id="{D4E0634D-957E-40A2-B84E-EADA74640DCD}"/>
              </a:ext>
            </a:extLst>
          </p:cNvPr>
          <p:cNvSpPr txBox="1"/>
          <p:nvPr/>
        </p:nvSpPr>
        <p:spPr>
          <a:xfrm>
            <a:off x="516894" y="4817444"/>
            <a:ext cx="2667000" cy="508000"/>
          </a:xfrm>
          <a:prstGeom prst="rect">
            <a:avLst/>
          </a:prstGeom>
          <a:noFill/>
        </p:spPr>
        <p:txBody>
          <a:bodyPr vertOverflow="overflow" vert="horz" wrap="square" rtlCol="0" anchor="t" anchorCtr="0">
            <a:spAutoFit/>
          </a:bodyPr>
          <a:lstStyle/>
          <a:p>
            <a:pPr algn="l"/>
            <a:r>
              <a:rPr lang="en-US" sz="1350">
                <a:solidFill>
                  <a:srgbClr val="2D7FF9"/>
                </a:solidFill>
                <a:latin typeface="Open Sans"/>
                <a:ea typeface="Open Sans"/>
                <a:cs typeface="Open Sans"/>
              </a:rPr>
              <a:t>Chef de </a:t>
            </a:r>
            <a:r>
              <a:rPr lang="en-US" sz="1350" err="1">
                <a:solidFill>
                  <a:srgbClr val="2D7FF9"/>
                </a:solidFill>
                <a:latin typeface="Open Sans"/>
                <a:ea typeface="Open Sans"/>
                <a:cs typeface="Open Sans"/>
              </a:rPr>
              <a:t>projet</a:t>
            </a:r>
            <a:r>
              <a:rPr lang="en-US" sz="1350">
                <a:solidFill>
                  <a:srgbClr val="2D7FF9"/>
                </a:solidFill>
                <a:latin typeface="Open Sans"/>
                <a:ea typeface="Open Sans"/>
                <a:cs typeface="Open Sans"/>
              </a:rPr>
              <a:t> &amp; Scrum Master</a:t>
            </a:r>
          </a:p>
        </p:txBody>
      </p:sp>
      <p:sp>
        <p:nvSpPr>
          <p:cNvPr id="12" name="TextBox 11">
            <a:extLst>
              <a:ext uri="{FF2B5EF4-FFF2-40B4-BE49-F238E27FC236}">
                <a16:creationId xmlns:a16="http://schemas.microsoft.com/office/drawing/2014/main" id="{9ED8E3A6-9E12-48A3-8938-925321BD640E}"/>
              </a:ext>
            </a:extLst>
          </p:cNvPr>
          <p:cNvSpPr txBox="1"/>
          <p:nvPr/>
        </p:nvSpPr>
        <p:spPr>
          <a:xfrm>
            <a:off x="3691894" y="4495800"/>
            <a:ext cx="2540000" cy="304800"/>
          </a:xfrm>
          <a:prstGeom prst="rect">
            <a:avLst/>
          </a:prstGeom>
          <a:noFill/>
        </p:spPr>
        <p:txBody>
          <a:bodyPr vertOverflow="overflow" vert="horz" wrap="square" rtlCol="0" anchor="t" anchorCtr="0">
            <a:spAutoFit/>
          </a:bodyPr>
          <a:lstStyle/>
          <a:p>
            <a:pPr algn="l"/>
            <a:r>
              <a:rPr lang="en-US" sz="1700" b="1">
                <a:solidFill>
                  <a:srgbClr val="0B2A4A"/>
                </a:solidFill>
                <a:latin typeface="Montserrat"/>
              </a:rPr>
              <a:t>Alexandre RIVET</a:t>
            </a:r>
          </a:p>
        </p:txBody>
      </p:sp>
      <p:sp>
        <p:nvSpPr>
          <p:cNvPr id="13" name="TextBox 12">
            <a:extLst>
              <a:ext uri="{FF2B5EF4-FFF2-40B4-BE49-F238E27FC236}">
                <a16:creationId xmlns:a16="http://schemas.microsoft.com/office/drawing/2014/main" id="{8BC04EB0-9893-41F2-B198-76F043E48AC1}"/>
              </a:ext>
            </a:extLst>
          </p:cNvPr>
          <p:cNvSpPr txBox="1"/>
          <p:nvPr/>
        </p:nvSpPr>
        <p:spPr>
          <a:xfrm>
            <a:off x="3804255" y="4817444"/>
            <a:ext cx="1997777" cy="300082"/>
          </a:xfrm>
          <a:prstGeom prst="rect">
            <a:avLst/>
          </a:prstGeom>
          <a:noFill/>
        </p:spPr>
        <p:txBody>
          <a:bodyPr vertOverflow="overflow" vert="horz" wrap="square" rtlCol="0" anchor="t" anchorCtr="0">
            <a:spAutoFit/>
          </a:bodyPr>
          <a:lstStyle/>
          <a:p>
            <a:pPr algn="l"/>
            <a:r>
              <a:rPr lang="en-US" sz="1350" err="1">
                <a:solidFill>
                  <a:srgbClr val="2D7FF9"/>
                </a:solidFill>
                <a:latin typeface="Open Sans"/>
                <a:ea typeface="Open Sans"/>
                <a:cs typeface="Open Sans"/>
              </a:rPr>
              <a:t>Architecte</a:t>
            </a:r>
            <a:r>
              <a:rPr lang="en-US" sz="1350">
                <a:solidFill>
                  <a:srgbClr val="2D7FF9"/>
                </a:solidFill>
                <a:latin typeface="Open Sans"/>
                <a:ea typeface="Open Sans"/>
                <a:cs typeface="Open Sans"/>
              </a:rPr>
              <a:t> / Lead Dev</a:t>
            </a:r>
          </a:p>
        </p:txBody>
      </p:sp>
      <p:sp>
        <p:nvSpPr>
          <p:cNvPr id="15" name="TextBox 14">
            <a:extLst>
              <a:ext uri="{FF2B5EF4-FFF2-40B4-BE49-F238E27FC236}">
                <a16:creationId xmlns:a16="http://schemas.microsoft.com/office/drawing/2014/main" id="{8816BA60-10CA-4954-8835-63999E0A7B00}"/>
              </a:ext>
            </a:extLst>
          </p:cNvPr>
          <p:cNvSpPr txBox="1"/>
          <p:nvPr/>
        </p:nvSpPr>
        <p:spPr>
          <a:xfrm>
            <a:off x="6485894" y="4495800"/>
            <a:ext cx="2540000" cy="304800"/>
          </a:xfrm>
          <a:prstGeom prst="rect">
            <a:avLst/>
          </a:prstGeom>
          <a:noFill/>
        </p:spPr>
        <p:txBody>
          <a:bodyPr vertOverflow="overflow" vert="horz" wrap="square" rtlCol="0" anchor="t" anchorCtr="0">
            <a:spAutoFit/>
          </a:bodyPr>
          <a:lstStyle/>
          <a:p>
            <a:pPr algn="l"/>
            <a:r>
              <a:rPr lang="en-US" sz="1700" b="1">
                <a:solidFill>
                  <a:srgbClr val="0B2A4A"/>
                </a:solidFill>
                <a:latin typeface="Montserrat"/>
              </a:rPr>
              <a:t>Romain TOUZE</a:t>
            </a:r>
          </a:p>
        </p:txBody>
      </p:sp>
      <p:sp>
        <p:nvSpPr>
          <p:cNvPr id="16" name="TextBox 15">
            <a:extLst>
              <a:ext uri="{FF2B5EF4-FFF2-40B4-BE49-F238E27FC236}">
                <a16:creationId xmlns:a16="http://schemas.microsoft.com/office/drawing/2014/main" id="{E7A1752A-65F6-46D6-B13B-700F44E3D190}"/>
              </a:ext>
            </a:extLst>
          </p:cNvPr>
          <p:cNvSpPr txBox="1"/>
          <p:nvPr/>
        </p:nvSpPr>
        <p:spPr>
          <a:xfrm>
            <a:off x="6422394" y="4826000"/>
            <a:ext cx="2667000" cy="508000"/>
          </a:xfrm>
          <a:prstGeom prst="rect">
            <a:avLst/>
          </a:prstGeom>
          <a:noFill/>
        </p:spPr>
        <p:txBody>
          <a:bodyPr vertOverflow="overflow" vert="horz" wrap="square" rtlCol="0" anchor="t" anchorCtr="0">
            <a:spAutoFit/>
          </a:bodyPr>
          <a:lstStyle/>
          <a:p>
            <a:pPr algn="l"/>
            <a:r>
              <a:rPr lang="en-US" sz="1350">
                <a:solidFill>
                  <a:srgbClr val="2D7FF9"/>
                </a:solidFill>
                <a:latin typeface="Open Sans"/>
                <a:ea typeface="Open Sans"/>
                <a:cs typeface="Open Sans"/>
              </a:rPr>
              <a:t>Ingénieur d'études &amp; dév</a:t>
            </a:r>
          </a:p>
        </p:txBody>
      </p:sp>
      <p:sp>
        <p:nvSpPr>
          <p:cNvPr id="18" name="TextBox 17">
            <a:extLst>
              <a:ext uri="{FF2B5EF4-FFF2-40B4-BE49-F238E27FC236}">
                <a16:creationId xmlns:a16="http://schemas.microsoft.com/office/drawing/2014/main" id="{6E6C4628-6AD4-4CCE-8ECE-31D5629A231D}"/>
              </a:ext>
            </a:extLst>
          </p:cNvPr>
          <p:cNvSpPr txBox="1"/>
          <p:nvPr/>
        </p:nvSpPr>
        <p:spPr>
          <a:xfrm>
            <a:off x="9279894" y="4495800"/>
            <a:ext cx="2540000" cy="304800"/>
          </a:xfrm>
          <a:prstGeom prst="rect">
            <a:avLst/>
          </a:prstGeom>
          <a:noFill/>
        </p:spPr>
        <p:txBody>
          <a:bodyPr vertOverflow="overflow" vert="horz" wrap="square" rtlCol="0" anchor="t" anchorCtr="0">
            <a:spAutoFit/>
          </a:bodyPr>
          <a:lstStyle/>
          <a:p>
            <a:pPr algn="l"/>
            <a:r>
              <a:rPr lang="en-US" sz="1700" b="1">
                <a:solidFill>
                  <a:srgbClr val="0B2A4A"/>
                </a:solidFill>
                <a:latin typeface="Montserrat"/>
              </a:rPr>
              <a:t>Maxime STOFFEL</a:t>
            </a:r>
          </a:p>
        </p:txBody>
      </p:sp>
      <p:sp>
        <p:nvSpPr>
          <p:cNvPr id="19" name="TextBox 18">
            <a:extLst>
              <a:ext uri="{FF2B5EF4-FFF2-40B4-BE49-F238E27FC236}">
                <a16:creationId xmlns:a16="http://schemas.microsoft.com/office/drawing/2014/main" id="{9E91876E-6653-4982-972D-7CC38997293E}"/>
              </a:ext>
            </a:extLst>
          </p:cNvPr>
          <p:cNvSpPr txBox="1"/>
          <p:nvPr/>
        </p:nvSpPr>
        <p:spPr>
          <a:xfrm>
            <a:off x="9216394" y="4826000"/>
            <a:ext cx="2667000" cy="508000"/>
          </a:xfrm>
          <a:prstGeom prst="rect">
            <a:avLst/>
          </a:prstGeom>
          <a:noFill/>
        </p:spPr>
        <p:txBody>
          <a:bodyPr vertOverflow="overflow" vert="horz" wrap="square" rtlCol="0" anchor="t" anchorCtr="0">
            <a:spAutoFit/>
          </a:bodyPr>
          <a:lstStyle/>
          <a:p>
            <a:pPr algn="l"/>
            <a:r>
              <a:rPr lang="en-US" sz="1350">
                <a:solidFill>
                  <a:srgbClr val="2D7FF9"/>
                </a:solidFill>
                <a:latin typeface="Open Sans"/>
                <a:ea typeface="Open Sans"/>
                <a:cs typeface="Open Sans"/>
              </a:rPr>
              <a:t>Ingénieur d'études &amp; dév</a:t>
            </a:r>
          </a:p>
        </p:txBody>
      </p:sp>
      <p:pic>
        <p:nvPicPr>
          <p:cNvPr id="20" name="Graphic 20" descr="Photo placeholder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0394" y="3162300"/>
            <a:ext cx="635000" cy="635000"/>
          </a:xfrm>
          <a:prstGeom prst="rect">
            <a:avLst/>
          </a:prstGeom>
        </p:spPr>
      </p:pic>
      <p:sp>
        <p:nvSpPr>
          <p:cNvPr id="27" name="Espace réservé du numéro de diapositive 26">
            <a:extLst>
              <a:ext uri="{FF2B5EF4-FFF2-40B4-BE49-F238E27FC236}">
                <a16:creationId xmlns:a16="http://schemas.microsoft.com/office/drawing/2014/main" id="{4C780CBC-6882-CDAA-F0BB-ECAA813092AB}"/>
              </a:ext>
            </a:extLst>
          </p:cNvPr>
          <p:cNvSpPr>
            <a:spLocks noGrp="1"/>
          </p:cNvSpPr>
          <p:nvPr>
            <p:ph type="sldNum" sz="quarter" idx="12"/>
          </p:nvPr>
        </p:nvSpPr>
        <p:spPr/>
        <p:txBody>
          <a:bodyPr/>
          <a:lstStyle/>
          <a:p>
            <a:fld id="{27C6CCC6-2BE5-4E42-96A4-D1E8E81A3D8E}" type="slidenum">
              <a:rPr lang="fr-FR" smtClean="0"/>
              <a:t>2</a:t>
            </a:fld>
            <a:endParaRPr lang="fr-FR"/>
          </a:p>
        </p:txBody>
      </p:sp>
      <p:pic>
        <p:nvPicPr>
          <p:cNvPr id="30" name="Image 29">
            <a:extLst>
              <a:ext uri="{FF2B5EF4-FFF2-40B4-BE49-F238E27FC236}">
                <a16:creationId xmlns:a16="http://schemas.microsoft.com/office/drawing/2014/main" id="{A6B7D159-CEA3-79E2-3723-BC9630B81122}"/>
              </a:ext>
            </a:extLst>
          </p:cNvPr>
          <p:cNvPicPr>
            <a:picLocks noChangeAspect="1"/>
          </p:cNvPicPr>
          <p:nvPr/>
        </p:nvPicPr>
        <p:blipFill>
          <a:blip r:embed="rId4">
            <a:extLst>
              <a:ext uri="{28A0092B-C50C-407E-A947-70E740481C1C}">
                <a14:useLocalDpi xmlns:a14="http://schemas.microsoft.com/office/drawing/2010/main" val="0"/>
              </a:ext>
            </a:extLst>
          </a:blip>
          <a:srcRect l="9315" t="8092" r="1647" b="50858"/>
          <a:stretch>
            <a:fillRect/>
          </a:stretch>
        </p:blipFill>
        <p:spPr>
          <a:xfrm>
            <a:off x="3691894" y="2565400"/>
            <a:ext cx="1992687" cy="1882393"/>
          </a:xfrm>
          <a:prstGeom prst="flowChartConnector">
            <a:avLst/>
          </a:prstGeom>
        </p:spPr>
      </p:pic>
      <p:pic>
        <p:nvPicPr>
          <p:cNvPr id="32" name="Image 31">
            <a:extLst>
              <a:ext uri="{FF2B5EF4-FFF2-40B4-BE49-F238E27FC236}">
                <a16:creationId xmlns:a16="http://schemas.microsoft.com/office/drawing/2014/main" id="{3A716D15-71FE-4D84-77A8-009299A06B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4206" y="2615417"/>
            <a:ext cx="1832376" cy="1832376"/>
          </a:xfrm>
          <a:prstGeom prst="flowChartConnector">
            <a:avLst/>
          </a:prstGeom>
        </p:spPr>
      </p:pic>
      <p:pic>
        <p:nvPicPr>
          <p:cNvPr id="36" name="Image 35">
            <a:extLst>
              <a:ext uri="{FF2B5EF4-FFF2-40B4-BE49-F238E27FC236}">
                <a16:creationId xmlns:a16="http://schemas.microsoft.com/office/drawing/2014/main" id="{2964C2EB-60F7-2950-7B4A-4BA0C01228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09893" y="2463800"/>
            <a:ext cx="1614439" cy="1930400"/>
          </a:xfrm>
          <a:prstGeom prst="flowChartConnector">
            <a:avLst/>
          </a:prstGeom>
        </p:spPr>
      </p:pic>
      <p:pic>
        <p:nvPicPr>
          <p:cNvPr id="38" name="Image 37">
            <a:extLst>
              <a:ext uri="{FF2B5EF4-FFF2-40B4-BE49-F238E27FC236}">
                <a16:creationId xmlns:a16="http://schemas.microsoft.com/office/drawing/2014/main" id="{24CF4D1E-A1E7-47CA-DE46-1FC44C6A3CB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40494" y="2438400"/>
            <a:ext cx="1954211" cy="1932004"/>
          </a:xfrm>
          <a:prstGeom prst="flowChartConnector">
            <a:avLst/>
          </a:prstGeom>
        </p:spPr>
      </p:pic>
    </p:spTree>
    <p:extLst>
      <p:ext uri="{BB962C8B-B14F-4D97-AF65-F5344CB8AC3E}">
        <p14:creationId xmlns:p14="http://schemas.microsoft.com/office/powerpoint/2010/main" val="262985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5F4F41-B7F9-0A29-8752-A2CE0F4677EB}"/>
              </a:ext>
            </a:extLst>
          </p:cNvPr>
          <p:cNvSpPr>
            <a:spLocks noGrp="1"/>
          </p:cNvSpPr>
          <p:nvPr>
            <p:ph type="title"/>
          </p:nvPr>
        </p:nvSpPr>
        <p:spPr/>
        <p:txBody>
          <a:bodyPr/>
          <a:lstStyle/>
          <a:p>
            <a:r>
              <a:rPr lang="fr-FR" b="1"/>
              <a:t>Rappel du contexte</a:t>
            </a:r>
          </a:p>
        </p:txBody>
      </p:sp>
      <p:sp>
        <p:nvSpPr>
          <p:cNvPr id="3" name="Espace réservé du numéro de diapositive 2">
            <a:extLst>
              <a:ext uri="{FF2B5EF4-FFF2-40B4-BE49-F238E27FC236}">
                <a16:creationId xmlns:a16="http://schemas.microsoft.com/office/drawing/2014/main" id="{B43F995C-0D4F-2771-B7B8-9EB5C50D2444}"/>
              </a:ext>
            </a:extLst>
          </p:cNvPr>
          <p:cNvSpPr>
            <a:spLocks noGrp="1"/>
          </p:cNvSpPr>
          <p:nvPr>
            <p:ph type="sldNum" sz="quarter" idx="12"/>
          </p:nvPr>
        </p:nvSpPr>
        <p:spPr/>
        <p:txBody>
          <a:bodyPr/>
          <a:lstStyle/>
          <a:p>
            <a:fld id="{27C6CCC6-2BE5-4E42-96A4-D1E8E81A3D8E}" type="slidenum">
              <a:rPr lang="fr-FR" smtClean="0"/>
              <a:t>3</a:t>
            </a:fld>
            <a:endParaRPr lang="fr-FR"/>
          </a:p>
        </p:txBody>
      </p:sp>
      <p:sp>
        <p:nvSpPr>
          <p:cNvPr id="4" name="ZoneTexte 3">
            <a:extLst>
              <a:ext uri="{FF2B5EF4-FFF2-40B4-BE49-F238E27FC236}">
                <a16:creationId xmlns:a16="http://schemas.microsoft.com/office/drawing/2014/main" id="{3DFB14E0-4FD8-40A3-AE3E-CDF4007D803C}"/>
              </a:ext>
            </a:extLst>
          </p:cNvPr>
          <p:cNvSpPr txBox="1"/>
          <p:nvPr/>
        </p:nvSpPr>
        <p:spPr>
          <a:xfrm>
            <a:off x="838200" y="1752600"/>
            <a:ext cx="10515600" cy="646331"/>
          </a:xfrm>
          <a:prstGeom prst="rect">
            <a:avLst/>
          </a:prstGeom>
          <a:noFill/>
        </p:spPr>
        <p:txBody>
          <a:bodyPr vertOverflow="overflow" vert="horz" wrap="square" lIns="91440" tIns="45720" rIns="91440" bIns="45720" rtlCol="0" anchor="t">
            <a:spAutoFit/>
          </a:bodyPr>
          <a:lstStyle/>
          <a:p>
            <a:pPr algn="l"/>
            <a:r>
              <a:rPr lang="fr-FR">
                <a:solidFill>
                  <a:srgbClr val="0B2A4A"/>
                </a:solidFill>
                <a:latin typeface="Calibri"/>
                <a:ea typeface="Calibri"/>
                <a:cs typeface="Calibri"/>
              </a:rPr>
              <a:t>Breezy est un réseau social léger inspiré de X/Twitter : publier des messages courts, suivre des profils, réagir et échanger. Une expérience simple et fluide, sur le web comme sur mobile.</a:t>
            </a:r>
          </a:p>
        </p:txBody>
      </p:sp>
      <p:sp>
        <p:nvSpPr>
          <p:cNvPr id="5" name="Rectangle : coins arrondis 4">
            <a:extLst>
              <a:ext uri="{FF2B5EF4-FFF2-40B4-BE49-F238E27FC236}">
                <a16:creationId xmlns:a16="http://schemas.microsoft.com/office/drawing/2014/main" id="{5FB65F9E-343F-4DA1-A6FB-D8E0857FFA1B}"/>
              </a:ext>
            </a:extLst>
          </p:cNvPr>
          <p:cNvSpPr/>
          <p:nvPr/>
        </p:nvSpPr>
        <p:spPr>
          <a:xfrm>
            <a:off x="838200" y="3175000"/>
            <a:ext cx="2476500" cy="2730500"/>
          </a:xfrm>
          <a:prstGeom prst="round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6" name="Rectangle 5">
            <a:extLst>
              <a:ext uri="{FF2B5EF4-FFF2-40B4-BE49-F238E27FC236}">
                <a16:creationId xmlns:a16="http://schemas.microsoft.com/office/drawing/2014/main" id="{2C6F2EA9-E6C4-41B2-A649-8665FCFF7BC2}"/>
              </a:ext>
            </a:extLst>
          </p:cNvPr>
          <p:cNvSpPr/>
          <p:nvPr/>
        </p:nvSpPr>
        <p:spPr>
          <a:xfrm>
            <a:off x="838200" y="3175000"/>
            <a:ext cx="2476500" cy="88900"/>
          </a:xfrm>
          <a:prstGeom prst="rect">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7" name="ZoneTexte 6">
            <a:extLst>
              <a:ext uri="{FF2B5EF4-FFF2-40B4-BE49-F238E27FC236}">
                <a16:creationId xmlns:a16="http://schemas.microsoft.com/office/drawing/2014/main" id="{D228FCF5-4D25-46A9-B0EC-18D49873E74B}"/>
              </a:ext>
            </a:extLst>
          </p:cNvPr>
          <p:cNvSpPr txBox="1"/>
          <p:nvPr/>
        </p:nvSpPr>
        <p:spPr>
          <a:xfrm>
            <a:off x="1681511" y="3565912"/>
            <a:ext cx="789878" cy="889000"/>
          </a:xfrm>
          <a:prstGeom prst="rect">
            <a:avLst/>
          </a:prstGeom>
          <a:noFill/>
        </p:spPr>
        <p:txBody>
          <a:bodyPr vertOverflow="overflow" vert="horz" wrap="none" rtlCol="0" anchor="ctr" anchorCtr="0">
            <a:noAutofit/>
          </a:bodyPr>
          <a:lstStyle/>
          <a:p>
            <a:pPr algn="l"/>
            <a:r>
              <a:rPr lang="fr-FR" sz="4600" b="1">
                <a:solidFill>
                  <a:srgbClr val="2D7FF9"/>
                </a:solidFill>
                <a:latin typeface="Calibri"/>
                <a:ea typeface="Calibri"/>
                <a:cs typeface="Calibri"/>
              </a:rPr>
              <a:t>23</a:t>
            </a:r>
          </a:p>
        </p:txBody>
      </p:sp>
      <p:sp>
        <p:nvSpPr>
          <p:cNvPr id="8" name="ZoneTexte 7">
            <a:extLst>
              <a:ext uri="{FF2B5EF4-FFF2-40B4-BE49-F238E27FC236}">
                <a16:creationId xmlns:a16="http://schemas.microsoft.com/office/drawing/2014/main" id="{045E2A0E-CFB1-43A5-ACE6-24E8F8ECEE6E}"/>
              </a:ext>
            </a:extLst>
          </p:cNvPr>
          <p:cNvSpPr txBox="1"/>
          <p:nvPr/>
        </p:nvSpPr>
        <p:spPr>
          <a:xfrm>
            <a:off x="990600" y="4546600"/>
            <a:ext cx="2171700" cy="784830"/>
          </a:xfrm>
          <a:prstGeom prst="rect">
            <a:avLst/>
          </a:prstGeom>
          <a:noFill/>
        </p:spPr>
        <p:txBody>
          <a:bodyPr vertOverflow="overflow" vert="horz" wrap="square" rtlCol="0" anchor="t" anchorCtr="0">
            <a:spAutoFit/>
          </a:bodyPr>
          <a:lstStyle/>
          <a:p>
            <a:pPr algn="ctr"/>
            <a:r>
              <a:rPr lang="fr-FR" sz="1500">
                <a:solidFill>
                  <a:srgbClr val="0B2A4A"/>
                </a:solidFill>
                <a:latin typeface="Calibri"/>
                <a:ea typeface="Calibri"/>
                <a:cs typeface="Calibri"/>
              </a:rPr>
              <a:t>fonctionnalités livrées (11 obligatoires + 12 optionnelles)</a:t>
            </a:r>
          </a:p>
        </p:txBody>
      </p:sp>
      <p:sp>
        <p:nvSpPr>
          <p:cNvPr id="9" name="Rectangle : coins arrondis 8">
            <a:extLst>
              <a:ext uri="{FF2B5EF4-FFF2-40B4-BE49-F238E27FC236}">
                <a16:creationId xmlns:a16="http://schemas.microsoft.com/office/drawing/2014/main" id="{2B0F9207-F955-4FF5-B7D0-7BB77CE926EE}"/>
              </a:ext>
            </a:extLst>
          </p:cNvPr>
          <p:cNvSpPr/>
          <p:nvPr/>
        </p:nvSpPr>
        <p:spPr>
          <a:xfrm>
            <a:off x="3517900" y="3175000"/>
            <a:ext cx="2476500" cy="2730500"/>
          </a:xfrm>
          <a:prstGeom prst="round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0" name="Rectangle 9">
            <a:extLst>
              <a:ext uri="{FF2B5EF4-FFF2-40B4-BE49-F238E27FC236}">
                <a16:creationId xmlns:a16="http://schemas.microsoft.com/office/drawing/2014/main" id="{4B6F2789-6434-4611-B985-F638E927E317}"/>
              </a:ext>
            </a:extLst>
          </p:cNvPr>
          <p:cNvSpPr/>
          <p:nvPr/>
        </p:nvSpPr>
        <p:spPr>
          <a:xfrm>
            <a:off x="3517900" y="3175000"/>
            <a:ext cx="2476500" cy="88900"/>
          </a:xfrm>
          <a:prstGeom prst="rect">
            <a:avLst/>
          </a:prstGeom>
          <a:solidFill>
            <a:srgbClr val="16C78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1" name="ZoneTexte 10">
            <a:extLst>
              <a:ext uri="{FF2B5EF4-FFF2-40B4-BE49-F238E27FC236}">
                <a16:creationId xmlns:a16="http://schemas.microsoft.com/office/drawing/2014/main" id="{74EA5136-8440-4B66-A5C9-C29642D8AAE4}"/>
              </a:ext>
            </a:extLst>
          </p:cNvPr>
          <p:cNvSpPr txBox="1"/>
          <p:nvPr/>
        </p:nvSpPr>
        <p:spPr>
          <a:xfrm>
            <a:off x="4011651" y="3615164"/>
            <a:ext cx="1488998" cy="889000"/>
          </a:xfrm>
          <a:prstGeom prst="rect">
            <a:avLst/>
          </a:prstGeom>
          <a:noFill/>
        </p:spPr>
        <p:txBody>
          <a:bodyPr vertOverflow="overflow" vert="horz" wrap="none" rtlCol="0" anchor="ctr" anchorCtr="0">
            <a:noAutofit/>
          </a:bodyPr>
          <a:lstStyle/>
          <a:p>
            <a:pPr algn="l"/>
            <a:r>
              <a:rPr lang="fr-FR" sz="4600" b="1">
                <a:solidFill>
                  <a:srgbClr val="16C784"/>
                </a:solidFill>
                <a:latin typeface="Calibri"/>
                <a:ea typeface="Calibri"/>
                <a:cs typeface="Calibri"/>
              </a:rPr>
              <a:t>100%</a:t>
            </a:r>
          </a:p>
        </p:txBody>
      </p:sp>
      <p:sp>
        <p:nvSpPr>
          <p:cNvPr id="12" name="ZoneTexte 11">
            <a:extLst>
              <a:ext uri="{FF2B5EF4-FFF2-40B4-BE49-F238E27FC236}">
                <a16:creationId xmlns:a16="http://schemas.microsoft.com/office/drawing/2014/main" id="{C930109B-247B-46E3-AF27-04180499E395}"/>
              </a:ext>
            </a:extLst>
          </p:cNvPr>
          <p:cNvSpPr txBox="1"/>
          <p:nvPr/>
        </p:nvSpPr>
        <p:spPr>
          <a:xfrm>
            <a:off x="3670300" y="4546600"/>
            <a:ext cx="2171700" cy="553998"/>
          </a:xfrm>
          <a:prstGeom prst="rect">
            <a:avLst/>
          </a:prstGeom>
          <a:noFill/>
        </p:spPr>
        <p:txBody>
          <a:bodyPr vertOverflow="overflow" vert="horz" wrap="square" rtlCol="0" anchor="t" anchorCtr="0">
            <a:spAutoFit/>
          </a:bodyPr>
          <a:lstStyle/>
          <a:p>
            <a:pPr algn="ctr"/>
            <a:r>
              <a:rPr lang="fr-FR" sz="1500">
                <a:solidFill>
                  <a:srgbClr val="0B2A4A"/>
                </a:solidFill>
                <a:latin typeface="Calibri"/>
                <a:ea typeface="Calibri"/>
                <a:cs typeface="Calibri"/>
              </a:rPr>
              <a:t>du cahier des charges couvert</a:t>
            </a:r>
          </a:p>
        </p:txBody>
      </p:sp>
      <p:sp>
        <p:nvSpPr>
          <p:cNvPr id="13" name="Rectangle : coins arrondis 12">
            <a:extLst>
              <a:ext uri="{FF2B5EF4-FFF2-40B4-BE49-F238E27FC236}">
                <a16:creationId xmlns:a16="http://schemas.microsoft.com/office/drawing/2014/main" id="{2C0524D0-BB3E-41E8-A25F-560A128A0310}"/>
              </a:ext>
            </a:extLst>
          </p:cNvPr>
          <p:cNvSpPr/>
          <p:nvPr/>
        </p:nvSpPr>
        <p:spPr>
          <a:xfrm>
            <a:off x="6197600" y="3175000"/>
            <a:ext cx="2476500" cy="2730500"/>
          </a:xfrm>
          <a:prstGeom prst="round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4" name="Rectangle 13">
            <a:extLst>
              <a:ext uri="{FF2B5EF4-FFF2-40B4-BE49-F238E27FC236}">
                <a16:creationId xmlns:a16="http://schemas.microsoft.com/office/drawing/2014/main" id="{38298645-8604-4CF8-A387-B440B6A14EDE}"/>
              </a:ext>
            </a:extLst>
          </p:cNvPr>
          <p:cNvSpPr/>
          <p:nvPr/>
        </p:nvSpPr>
        <p:spPr>
          <a:xfrm>
            <a:off x="6197600" y="3175000"/>
            <a:ext cx="2476500" cy="88900"/>
          </a:xfrm>
          <a:prstGeom prst="rect">
            <a:avLst/>
          </a:prstGeom>
          <a:solidFill>
            <a:srgbClr val="00C2C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5" name="ZoneTexte 14">
            <a:extLst>
              <a:ext uri="{FF2B5EF4-FFF2-40B4-BE49-F238E27FC236}">
                <a16:creationId xmlns:a16="http://schemas.microsoft.com/office/drawing/2014/main" id="{A2ACEA72-5E8D-48D4-8075-8D28702C571C}"/>
              </a:ext>
            </a:extLst>
          </p:cNvPr>
          <p:cNvSpPr txBox="1"/>
          <p:nvPr/>
        </p:nvSpPr>
        <p:spPr>
          <a:xfrm>
            <a:off x="6899352" y="3556000"/>
            <a:ext cx="1072995" cy="889000"/>
          </a:xfrm>
          <a:prstGeom prst="rect">
            <a:avLst/>
          </a:prstGeom>
          <a:noFill/>
        </p:spPr>
        <p:txBody>
          <a:bodyPr vertOverflow="overflow" vert="horz" wrap="none" rtlCol="0" anchor="ctr" anchorCtr="0">
            <a:noAutofit/>
          </a:bodyPr>
          <a:lstStyle/>
          <a:p>
            <a:pPr algn="l"/>
            <a:r>
              <a:rPr lang="fr-FR" sz="4600" b="1">
                <a:solidFill>
                  <a:srgbClr val="00C2CB"/>
                </a:solidFill>
                <a:latin typeface="Calibri"/>
                <a:ea typeface="Calibri"/>
                <a:cs typeface="Calibri"/>
              </a:rPr>
              <a:t>280</a:t>
            </a:r>
          </a:p>
        </p:txBody>
      </p:sp>
      <p:sp>
        <p:nvSpPr>
          <p:cNvPr id="16" name="ZoneTexte 15">
            <a:extLst>
              <a:ext uri="{FF2B5EF4-FFF2-40B4-BE49-F238E27FC236}">
                <a16:creationId xmlns:a16="http://schemas.microsoft.com/office/drawing/2014/main" id="{DA5482BD-002D-453D-AC41-87B20EE8D57B}"/>
              </a:ext>
            </a:extLst>
          </p:cNvPr>
          <p:cNvSpPr txBox="1"/>
          <p:nvPr/>
        </p:nvSpPr>
        <p:spPr>
          <a:xfrm>
            <a:off x="6350000" y="4546600"/>
            <a:ext cx="2171700" cy="323165"/>
          </a:xfrm>
          <a:prstGeom prst="rect">
            <a:avLst/>
          </a:prstGeom>
          <a:noFill/>
        </p:spPr>
        <p:txBody>
          <a:bodyPr vertOverflow="overflow" vert="horz" wrap="square" rtlCol="0" anchor="t" anchorCtr="0">
            <a:spAutoFit/>
          </a:bodyPr>
          <a:lstStyle/>
          <a:p>
            <a:pPr algn="ctr"/>
            <a:r>
              <a:rPr lang="fr-FR" sz="1500">
                <a:solidFill>
                  <a:srgbClr val="0B2A4A"/>
                </a:solidFill>
                <a:latin typeface="Calibri"/>
                <a:ea typeface="Calibri"/>
                <a:cs typeface="Calibri"/>
              </a:rPr>
              <a:t>caractères par message</a:t>
            </a:r>
          </a:p>
        </p:txBody>
      </p:sp>
      <p:sp>
        <p:nvSpPr>
          <p:cNvPr id="17" name="Rectangle : coins arrondis 16">
            <a:extLst>
              <a:ext uri="{FF2B5EF4-FFF2-40B4-BE49-F238E27FC236}">
                <a16:creationId xmlns:a16="http://schemas.microsoft.com/office/drawing/2014/main" id="{E827E8E5-6C73-495D-9787-74A3E5FC4156}"/>
              </a:ext>
            </a:extLst>
          </p:cNvPr>
          <p:cNvSpPr/>
          <p:nvPr/>
        </p:nvSpPr>
        <p:spPr>
          <a:xfrm>
            <a:off x="8877300" y="3175000"/>
            <a:ext cx="2476500" cy="2730500"/>
          </a:xfrm>
          <a:prstGeom prst="round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8" name="Rectangle 17">
            <a:extLst>
              <a:ext uri="{FF2B5EF4-FFF2-40B4-BE49-F238E27FC236}">
                <a16:creationId xmlns:a16="http://schemas.microsoft.com/office/drawing/2014/main" id="{DEF3256A-0AB0-4CCB-905A-883FDADB4B08}"/>
              </a:ext>
            </a:extLst>
          </p:cNvPr>
          <p:cNvSpPr/>
          <p:nvPr/>
        </p:nvSpPr>
        <p:spPr>
          <a:xfrm>
            <a:off x="8877300" y="3175000"/>
            <a:ext cx="2476500" cy="88900"/>
          </a:xfrm>
          <a:prstGeom prst="rect">
            <a:avLst/>
          </a:prstGeom>
          <a:solidFill>
            <a:srgbClr val="9B6C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9" name="ZoneTexte 18">
            <a:extLst>
              <a:ext uri="{FF2B5EF4-FFF2-40B4-BE49-F238E27FC236}">
                <a16:creationId xmlns:a16="http://schemas.microsoft.com/office/drawing/2014/main" id="{0A3C11D8-F39E-46CF-BAB7-42C3F9E3BFC9}"/>
              </a:ext>
            </a:extLst>
          </p:cNvPr>
          <p:cNvSpPr txBox="1"/>
          <p:nvPr/>
        </p:nvSpPr>
        <p:spPr>
          <a:xfrm>
            <a:off x="9441366" y="3556000"/>
            <a:ext cx="1348368" cy="889000"/>
          </a:xfrm>
          <a:prstGeom prst="rect">
            <a:avLst/>
          </a:prstGeom>
          <a:noFill/>
        </p:spPr>
        <p:txBody>
          <a:bodyPr vertOverflow="overflow" vert="horz" wrap="none" rtlCol="0" anchor="ctr" anchorCtr="0">
            <a:noAutofit/>
          </a:bodyPr>
          <a:lstStyle/>
          <a:p>
            <a:pPr algn="l"/>
            <a:r>
              <a:rPr lang="fr-FR" sz="4600" b="1">
                <a:solidFill>
                  <a:srgbClr val="9B6CF9"/>
                </a:solidFill>
                <a:latin typeface="Calibri"/>
                <a:ea typeface="Calibri"/>
                <a:cs typeface="Calibri"/>
              </a:rPr>
              <a:t>~200</a:t>
            </a:r>
          </a:p>
        </p:txBody>
      </p:sp>
      <p:sp>
        <p:nvSpPr>
          <p:cNvPr id="20" name="ZoneTexte 19">
            <a:extLst>
              <a:ext uri="{FF2B5EF4-FFF2-40B4-BE49-F238E27FC236}">
                <a16:creationId xmlns:a16="http://schemas.microsoft.com/office/drawing/2014/main" id="{82E69A95-859F-474B-82D2-5700AD510F65}"/>
              </a:ext>
            </a:extLst>
          </p:cNvPr>
          <p:cNvSpPr txBox="1"/>
          <p:nvPr/>
        </p:nvSpPr>
        <p:spPr>
          <a:xfrm>
            <a:off x="9029700" y="4546600"/>
            <a:ext cx="2171700" cy="553998"/>
          </a:xfrm>
          <a:prstGeom prst="rect">
            <a:avLst/>
          </a:prstGeom>
          <a:noFill/>
        </p:spPr>
        <p:txBody>
          <a:bodyPr vertOverflow="overflow" vert="horz" wrap="square" rtlCol="0" anchor="t" anchorCtr="0">
            <a:spAutoFit/>
          </a:bodyPr>
          <a:lstStyle/>
          <a:p>
            <a:pPr algn="ctr"/>
            <a:r>
              <a:rPr lang="fr-FR" sz="1500">
                <a:solidFill>
                  <a:srgbClr val="0B2A4A"/>
                </a:solidFill>
                <a:latin typeface="Calibri"/>
                <a:ea typeface="Calibri"/>
                <a:cs typeface="Calibri"/>
              </a:rPr>
              <a:t>tâches réparties en 6 phases</a:t>
            </a:r>
          </a:p>
        </p:txBody>
      </p:sp>
    </p:spTree>
    <p:extLst>
      <p:ext uri="{BB962C8B-B14F-4D97-AF65-F5344CB8AC3E}">
        <p14:creationId xmlns:p14="http://schemas.microsoft.com/office/powerpoint/2010/main" val="1675990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AF90CD-C9F9-4238-97D8-94EAD69F1C6E}"/>
              </a:ext>
            </a:extLst>
          </p:cNvPr>
          <p:cNvSpPr txBox="1"/>
          <p:nvPr/>
        </p:nvSpPr>
        <p:spPr>
          <a:xfrm>
            <a:off x="762000" y="508000"/>
            <a:ext cx="7620000" cy="279400"/>
          </a:xfrm>
          <a:prstGeom prst="rect">
            <a:avLst/>
          </a:prstGeom>
          <a:noFill/>
        </p:spPr>
        <p:txBody>
          <a:bodyPr vertOverflow="overflow" vert="horz" wrap="square" rtlCol="0" anchor="t" anchorCtr="0">
            <a:spAutoFit/>
          </a:bodyPr>
          <a:lstStyle/>
          <a:p>
            <a:pPr algn="l"/>
            <a:r>
              <a:rPr lang="en-US" sz="1400" b="1">
                <a:solidFill>
                  <a:srgbClr val="00C2CB"/>
                </a:solidFill>
                <a:latin typeface="Montserrat"/>
              </a:rPr>
              <a:t>LE PRODUIT</a:t>
            </a:r>
          </a:p>
        </p:txBody>
      </p:sp>
      <p:sp>
        <p:nvSpPr>
          <p:cNvPr id="3" name="TextBox 2">
            <a:extLst>
              <a:ext uri="{FF2B5EF4-FFF2-40B4-BE49-F238E27FC236}">
                <a16:creationId xmlns:a16="http://schemas.microsoft.com/office/drawing/2014/main" id="{3D0F36C9-DD15-43D7-813A-1653B197FEA8}"/>
              </a:ext>
            </a:extLst>
          </p:cNvPr>
          <p:cNvSpPr txBox="1"/>
          <p:nvPr/>
        </p:nvSpPr>
        <p:spPr>
          <a:xfrm>
            <a:off x="762000" y="787400"/>
            <a:ext cx="10668000" cy="635000"/>
          </a:xfrm>
          <a:prstGeom prst="rect">
            <a:avLst/>
          </a:prstGeom>
          <a:noFill/>
        </p:spPr>
        <p:txBody>
          <a:bodyPr vertOverflow="overflow" vert="horz" wrap="square" rtlCol="0" anchor="t" anchorCtr="0">
            <a:spAutoFit/>
          </a:bodyPr>
          <a:lstStyle/>
          <a:p>
            <a:pPr algn="l"/>
            <a:r>
              <a:rPr lang="en-US" sz="3400" b="1">
                <a:solidFill>
                  <a:srgbClr val="0B2A4A"/>
                </a:solidFill>
                <a:latin typeface="Montserrat"/>
              </a:rPr>
              <a:t>Breezy en chiffres</a:t>
            </a:r>
          </a:p>
        </p:txBody>
      </p:sp>
      <p:sp>
        <p:nvSpPr>
          <p:cNvPr id="4" name="StatCard0">
            <a:extLst>
              <a:ext uri="{FF2B5EF4-FFF2-40B4-BE49-F238E27FC236}">
                <a16:creationId xmlns:a16="http://schemas.microsoft.com/office/drawing/2014/main" id="{D91D77CA-343D-4CCF-90B6-B6BCA1E04AD6}"/>
              </a:ext>
            </a:extLst>
          </p:cNvPr>
          <p:cNvSpPr/>
          <p:nvPr/>
        </p:nvSpPr>
        <p:spPr>
          <a:xfrm>
            <a:off x="762000" y="1905000"/>
            <a:ext cx="3302000" cy="21336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E6893CF4-9B05-4807-9AEB-26248299DDF6}"/>
              </a:ext>
            </a:extLst>
          </p:cNvPr>
          <p:cNvSpPr txBox="1"/>
          <p:nvPr/>
        </p:nvSpPr>
        <p:spPr>
          <a:xfrm>
            <a:off x="762000" y="2616200"/>
            <a:ext cx="3302000" cy="800219"/>
          </a:xfrm>
          <a:prstGeom prst="rect">
            <a:avLst/>
          </a:prstGeom>
          <a:noFill/>
        </p:spPr>
        <p:txBody>
          <a:bodyPr vertOverflow="overflow" vert="horz" wrap="square" lIns="91440" tIns="45720" rIns="91440" bIns="45720" rtlCol="0" anchor="t" anchorCtr="0">
            <a:spAutoFit/>
          </a:bodyPr>
          <a:lstStyle/>
          <a:p>
            <a:pPr algn="ctr"/>
            <a:r>
              <a:rPr lang="en-US" sz="4600" b="1">
                <a:solidFill>
                  <a:srgbClr val="2D7FF9"/>
                </a:solidFill>
                <a:latin typeface="Montserrat"/>
              </a:rPr>
              <a:t>11</a:t>
            </a:r>
            <a:endParaRPr lang="en-US"/>
          </a:p>
        </p:txBody>
      </p:sp>
      <p:sp>
        <p:nvSpPr>
          <p:cNvPr id="6" name="TextBox 5">
            <a:extLst>
              <a:ext uri="{FF2B5EF4-FFF2-40B4-BE49-F238E27FC236}">
                <a16:creationId xmlns:a16="http://schemas.microsoft.com/office/drawing/2014/main" id="{473F78F1-6ECD-4833-8E5F-41D862C07B47}"/>
              </a:ext>
            </a:extLst>
          </p:cNvPr>
          <p:cNvSpPr txBox="1"/>
          <p:nvPr/>
        </p:nvSpPr>
        <p:spPr>
          <a:xfrm>
            <a:off x="914400" y="3302000"/>
            <a:ext cx="2997200" cy="323165"/>
          </a:xfrm>
          <a:prstGeom prst="rect">
            <a:avLst/>
          </a:prstGeom>
          <a:noFill/>
        </p:spPr>
        <p:txBody>
          <a:bodyPr vertOverflow="overflow" vert="horz" wrap="square" rtlCol="0" anchor="t" anchorCtr="0">
            <a:spAutoFit/>
          </a:bodyPr>
          <a:lstStyle/>
          <a:p>
            <a:pPr algn="ctr"/>
            <a:r>
              <a:rPr lang="en-US" sz="1500">
                <a:solidFill>
                  <a:srgbClr val="26374A"/>
                </a:solidFill>
                <a:latin typeface="Open Sans"/>
                <a:ea typeface="Open Sans"/>
                <a:cs typeface="Open Sans"/>
              </a:rPr>
              <a:t>microservices </a:t>
            </a:r>
            <a:r>
              <a:rPr lang="en-US" sz="1500" err="1">
                <a:solidFill>
                  <a:srgbClr val="26374A"/>
                </a:solidFill>
                <a:latin typeface="Open Sans"/>
                <a:ea typeface="Open Sans"/>
                <a:cs typeface="Open Sans"/>
              </a:rPr>
              <a:t>indépendants</a:t>
            </a:r>
            <a:endParaRPr lang="en-US" sz="1500">
              <a:solidFill>
                <a:srgbClr val="26374A"/>
              </a:solidFill>
              <a:latin typeface="Open Sans"/>
              <a:ea typeface="Open Sans"/>
              <a:cs typeface="Open Sans"/>
            </a:endParaRPr>
          </a:p>
        </p:txBody>
      </p:sp>
      <p:sp>
        <p:nvSpPr>
          <p:cNvPr id="7" name="StatCard1">
            <a:extLst>
              <a:ext uri="{FF2B5EF4-FFF2-40B4-BE49-F238E27FC236}">
                <a16:creationId xmlns:a16="http://schemas.microsoft.com/office/drawing/2014/main" id="{B562E691-655B-49FE-A5FE-7B0618499EA5}"/>
              </a:ext>
            </a:extLst>
          </p:cNvPr>
          <p:cNvSpPr/>
          <p:nvPr/>
        </p:nvSpPr>
        <p:spPr>
          <a:xfrm>
            <a:off x="4445000" y="1905000"/>
            <a:ext cx="3302000" cy="21336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DF9AFD1D-1AC4-4236-9807-8D76C496C2D7}"/>
              </a:ext>
            </a:extLst>
          </p:cNvPr>
          <p:cNvSpPr txBox="1"/>
          <p:nvPr/>
        </p:nvSpPr>
        <p:spPr>
          <a:xfrm>
            <a:off x="4445000" y="2616200"/>
            <a:ext cx="3302000" cy="800219"/>
          </a:xfrm>
          <a:prstGeom prst="rect">
            <a:avLst/>
          </a:prstGeom>
          <a:noFill/>
        </p:spPr>
        <p:txBody>
          <a:bodyPr vertOverflow="overflow" vert="horz" wrap="square" lIns="91440" tIns="45720" rIns="91440" bIns="45720" rtlCol="0" anchor="t" anchorCtr="0">
            <a:spAutoFit/>
          </a:bodyPr>
          <a:lstStyle/>
          <a:p>
            <a:pPr algn="ctr"/>
            <a:r>
              <a:rPr lang="en-US" sz="4600" b="1">
                <a:solidFill>
                  <a:srgbClr val="2D7FF9"/>
                </a:solidFill>
                <a:latin typeface="Montserrat"/>
              </a:rPr>
              <a:t>3</a:t>
            </a:r>
            <a:endParaRPr lang="en-US"/>
          </a:p>
        </p:txBody>
      </p:sp>
      <p:sp>
        <p:nvSpPr>
          <p:cNvPr id="9" name="TextBox 8">
            <a:extLst>
              <a:ext uri="{FF2B5EF4-FFF2-40B4-BE49-F238E27FC236}">
                <a16:creationId xmlns:a16="http://schemas.microsoft.com/office/drawing/2014/main" id="{1D630CC7-9D16-4A96-99CE-4004436A1A29}"/>
              </a:ext>
            </a:extLst>
          </p:cNvPr>
          <p:cNvSpPr txBox="1"/>
          <p:nvPr/>
        </p:nvSpPr>
        <p:spPr>
          <a:xfrm>
            <a:off x="4597400" y="3302000"/>
            <a:ext cx="2997200" cy="553998"/>
          </a:xfrm>
          <a:prstGeom prst="rect">
            <a:avLst/>
          </a:prstGeom>
          <a:noFill/>
        </p:spPr>
        <p:txBody>
          <a:bodyPr vertOverflow="overflow" vert="horz" wrap="square" rtlCol="0" anchor="t" anchorCtr="0">
            <a:spAutoFit/>
          </a:bodyPr>
          <a:lstStyle/>
          <a:p>
            <a:pPr algn="ctr"/>
            <a:r>
              <a:rPr lang="en-US" sz="1500">
                <a:solidFill>
                  <a:srgbClr val="26374A"/>
                </a:solidFill>
                <a:latin typeface="Open Sans"/>
                <a:ea typeface="Open Sans"/>
                <a:cs typeface="Open Sans"/>
              </a:rPr>
              <a:t>Stockage des données </a:t>
            </a:r>
            <a:r>
              <a:rPr lang="en-US" sz="1500" err="1">
                <a:solidFill>
                  <a:srgbClr val="26374A"/>
                </a:solidFill>
                <a:latin typeface="Open Sans"/>
                <a:ea typeface="Open Sans"/>
                <a:cs typeface="Open Sans"/>
              </a:rPr>
              <a:t>spécialisées</a:t>
            </a:r>
            <a:endParaRPr lang="en-US" sz="1500">
              <a:solidFill>
                <a:srgbClr val="26374A"/>
              </a:solidFill>
              <a:latin typeface="Open Sans"/>
              <a:ea typeface="Open Sans"/>
              <a:cs typeface="Open Sans"/>
            </a:endParaRPr>
          </a:p>
        </p:txBody>
      </p:sp>
      <p:sp>
        <p:nvSpPr>
          <p:cNvPr id="10" name="StatCard2">
            <a:extLst>
              <a:ext uri="{FF2B5EF4-FFF2-40B4-BE49-F238E27FC236}">
                <a16:creationId xmlns:a16="http://schemas.microsoft.com/office/drawing/2014/main" id="{56104CE6-F5D9-4BC2-A3FE-381FA44A3DC3}"/>
              </a:ext>
            </a:extLst>
          </p:cNvPr>
          <p:cNvSpPr/>
          <p:nvPr/>
        </p:nvSpPr>
        <p:spPr>
          <a:xfrm>
            <a:off x="8128000" y="1905000"/>
            <a:ext cx="3302000" cy="21336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4992FF4F-4A6B-4637-980B-2725EFF795A0}"/>
              </a:ext>
            </a:extLst>
          </p:cNvPr>
          <p:cNvSpPr txBox="1"/>
          <p:nvPr/>
        </p:nvSpPr>
        <p:spPr>
          <a:xfrm>
            <a:off x="8128000" y="2616200"/>
            <a:ext cx="3302000" cy="800219"/>
          </a:xfrm>
          <a:prstGeom prst="rect">
            <a:avLst/>
          </a:prstGeom>
          <a:noFill/>
        </p:spPr>
        <p:txBody>
          <a:bodyPr vertOverflow="overflow" vert="horz" wrap="square" lIns="91440" tIns="45720" rIns="91440" bIns="45720" rtlCol="0" anchor="t" anchorCtr="0">
            <a:spAutoFit/>
          </a:bodyPr>
          <a:lstStyle/>
          <a:p>
            <a:pPr algn="ctr"/>
            <a:r>
              <a:rPr lang="en-US" sz="4600" b="1">
                <a:solidFill>
                  <a:srgbClr val="2D7FF9"/>
                </a:solidFill>
                <a:latin typeface="Montserrat"/>
              </a:rPr>
              <a:t>12</a:t>
            </a:r>
            <a:endParaRPr lang="en-US"/>
          </a:p>
        </p:txBody>
      </p:sp>
      <p:sp>
        <p:nvSpPr>
          <p:cNvPr id="12" name="TextBox 11">
            <a:extLst>
              <a:ext uri="{FF2B5EF4-FFF2-40B4-BE49-F238E27FC236}">
                <a16:creationId xmlns:a16="http://schemas.microsoft.com/office/drawing/2014/main" id="{C4B71EEF-7BA9-477E-9582-CBA5F1F8CB67}"/>
              </a:ext>
            </a:extLst>
          </p:cNvPr>
          <p:cNvSpPr txBox="1"/>
          <p:nvPr/>
        </p:nvSpPr>
        <p:spPr>
          <a:xfrm>
            <a:off x="8280400" y="3302000"/>
            <a:ext cx="2997200" cy="323165"/>
          </a:xfrm>
          <a:prstGeom prst="rect">
            <a:avLst/>
          </a:prstGeom>
          <a:noFill/>
        </p:spPr>
        <p:txBody>
          <a:bodyPr vertOverflow="overflow" vert="horz" wrap="square" rtlCol="0" anchor="t" anchorCtr="0">
            <a:spAutoFit/>
          </a:bodyPr>
          <a:lstStyle/>
          <a:p>
            <a:pPr algn="ctr"/>
            <a:r>
              <a:rPr lang="en-US" sz="1500" err="1">
                <a:solidFill>
                  <a:srgbClr val="26374A"/>
                </a:solidFill>
                <a:latin typeface="Open Sans"/>
                <a:ea typeface="Open Sans"/>
                <a:cs typeface="Open Sans"/>
              </a:rPr>
              <a:t>langues</a:t>
            </a:r>
            <a:r>
              <a:rPr lang="en-US" sz="1500">
                <a:solidFill>
                  <a:srgbClr val="26374A"/>
                </a:solidFill>
                <a:latin typeface="Open Sans"/>
                <a:ea typeface="Open Sans"/>
                <a:cs typeface="Open Sans"/>
              </a:rPr>
              <a:t> </a:t>
            </a:r>
            <a:r>
              <a:rPr lang="en-US" sz="1500" err="1">
                <a:solidFill>
                  <a:srgbClr val="26374A"/>
                </a:solidFill>
                <a:latin typeface="Open Sans"/>
                <a:ea typeface="Open Sans"/>
                <a:cs typeface="Open Sans"/>
              </a:rPr>
              <a:t>d'interface</a:t>
            </a:r>
            <a:endParaRPr lang="en-US" sz="1500">
              <a:solidFill>
                <a:srgbClr val="26374A"/>
              </a:solidFill>
              <a:latin typeface="Open Sans"/>
              <a:ea typeface="Open Sans"/>
              <a:cs typeface="Open Sans"/>
            </a:endParaRPr>
          </a:p>
        </p:txBody>
      </p:sp>
      <p:sp>
        <p:nvSpPr>
          <p:cNvPr id="13" name="StatCard3">
            <a:extLst>
              <a:ext uri="{FF2B5EF4-FFF2-40B4-BE49-F238E27FC236}">
                <a16:creationId xmlns:a16="http://schemas.microsoft.com/office/drawing/2014/main" id="{A6439273-00E5-4A91-BAF7-DDA64CB457AA}"/>
              </a:ext>
            </a:extLst>
          </p:cNvPr>
          <p:cNvSpPr/>
          <p:nvPr/>
        </p:nvSpPr>
        <p:spPr>
          <a:xfrm>
            <a:off x="762000" y="4343400"/>
            <a:ext cx="3302000" cy="21336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DC9CC4A1-8CE0-4852-A561-648227F38741}"/>
              </a:ext>
            </a:extLst>
          </p:cNvPr>
          <p:cNvSpPr txBox="1"/>
          <p:nvPr/>
        </p:nvSpPr>
        <p:spPr>
          <a:xfrm>
            <a:off x="762000" y="5054600"/>
            <a:ext cx="3302000" cy="800219"/>
          </a:xfrm>
          <a:prstGeom prst="rect">
            <a:avLst/>
          </a:prstGeom>
          <a:noFill/>
        </p:spPr>
        <p:txBody>
          <a:bodyPr vertOverflow="overflow" vert="horz" wrap="square" lIns="91440" tIns="45720" rIns="91440" bIns="45720" rtlCol="0" anchor="t" anchorCtr="0">
            <a:spAutoFit/>
          </a:bodyPr>
          <a:lstStyle/>
          <a:p>
            <a:pPr algn="ctr"/>
            <a:r>
              <a:rPr lang="en-US" sz="4600" b="1">
                <a:solidFill>
                  <a:srgbClr val="16C784"/>
                </a:solidFill>
                <a:latin typeface="Montserrat"/>
              </a:rPr>
              <a:t>&gt;95%</a:t>
            </a:r>
            <a:endParaRPr lang="en-US"/>
          </a:p>
        </p:txBody>
      </p:sp>
      <p:sp>
        <p:nvSpPr>
          <p:cNvPr id="15" name="TextBox 14">
            <a:extLst>
              <a:ext uri="{FF2B5EF4-FFF2-40B4-BE49-F238E27FC236}">
                <a16:creationId xmlns:a16="http://schemas.microsoft.com/office/drawing/2014/main" id="{6C788433-F640-401C-B9FB-2EAA95D46CE2}"/>
              </a:ext>
            </a:extLst>
          </p:cNvPr>
          <p:cNvSpPr txBox="1"/>
          <p:nvPr/>
        </p:nvSpPr>
        <p:spPr>
          <a:xfrm>
            <a:off x="914400" y="5740400"/>
            <a:ext cx="2997200" cy="323165"/>
          </a:xfrm>
          <a:prstGeom prst="rect">
            <a:avLst/>
          </a:prstGeom>
          <a:noFill/>
        </p:spPr>
        <p:txBody>
          <a:bodyPr vertOverflow="overflow" vert="horz" wrap="square" rtlCol="0" anchor="t" anchorCtr="0">
            <a:spAutoFit/>
          </a:bodyPr>
          <a:lstStyle/>
          <a:p>
            <a:pPr algn="ctr"/>
            <a:r>
              <a:rPr lang="en-US" sz="1500">
                <a:solidFill>
                  <a:srgbClr val="26374A"/>
                </a:solidFill>
                <a:latin typeface="Open Sans"/>
                <a:ea typeface="Open Sans"/>
                <a:cs typeface="Open Sans"/>
              </a:rPr>
              <a:t>couverture de tests</a:t>
            </a:r>
          </a:p>
        </p:txBody>
      </p:sp>
      <p:sp>
        <p:nvSpPr>
          <p:cNvPr id="16" name="StatCard4">
            <a:extLst>
              <a:ext uri="{FF2B5EF4-FFF2-40B4-BE49-F238E27FC236}">
                <a16:creationId xmlns:a16="http://schemas.microsoft.com/office/drawing/2014/main" id="{22FDFE8B-5C19-4A2B-AE8B-FCDD62E6BEF7}"/>
              </a:ext>
            </a:extLst>
          </p:cNvPr>
          <p:cNvSpPr/>
          <p:nvPr/>
        </p:nvSpPr>
        <p:spPr>
          <a:xfrm>
            <a:off x="4445000" y="4343400"/>
            <a:ext cx="3302000" cy="21336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525FAA7F-CE25-462C-9A24-2B8A8A11E939}"/>
              </a:ext>
            </a:extLst>
          </p:cNvPr>
          <p:cNvSpPr txBox="1"/>
          <p:nvPr/>
        </p:nvSpPr>
        <p:spPr>
          <a:xfrm>
            <a:off x="4445000" y="5054600"/>
            <a:ext cx="3302000" cy="800219"/>
          </a:xfrm>
          <a:prstGeom prst="rect">
            <a:avLst/>
          </a:prstGeom>
          <a:noFill/>
        </p:spPr>
        <p:txBody>
          <a:bodyPr vertOverflow="overflow" vert="horz" wrap="square" lIns="91440" tIns="45720" rIns="91440" bIns="45720" rtlCol="0" anchor="t" anchorCtr="0">
            <a:spAutoFit/>
          </a:bodyPr>
          <a:lstStyle/>
          <a:p>
            <a:pPr algn="ctr"/>
            <a:r>
              <a:rPr lang="en-US" sz="4600" b="1">
                <a:solidFill>
                  <a:srgbClr val="2D7FF9"/>
                </a:solidFill>
                <a:latin typeface="Montserrat"/>
              </a:rPr>
              <a:t>4</a:t>
            </a:r>
            <a:endParaRPr lang="en-US"/>
          </a:p>
        </p:txBody>
      </p:sp>
      <p:sp>
        <p:nvSpPr>
          <p:cNvPr id="18" name="TextBox 17">
            <a:extLst>
              <a:ext uri="{FF2B5EF4-FFF2-40B4-BE49-F238E27FC236}">
                <a16:creationId xmlns:a16="http://schemas.microsoft.com/office/drawing/2014/main" id="{8D898AC8-FE13-48F3-824D-8B3874A7ADD5}"/>
              </a:ext>
            </a:extLst>
          </p:cNvPr>
          <p:cNvSpPr txBox="1"/>
          <p:nvPr/>
        </p:nvSpPr>
        <p:spPr>
          <a:xfrm>
            <a:off x="4597400" y="5740400"/>
            <a:ext cx="2997200" cy="323165"/>
          </a:xfrm>
          <a:prstGeom prst="rect">
            <a:avLst/>
          </a:prstGeom>
          <a:noFill/>
        </p:spPr>
        <p:txBody>
          <a:bodyPr vertOverflow="overflow" vert="horz" wrap="square" rtlCol="0" anchor="t" anchorCtr="0">
            <a:spAutoFit/>
          </a:bodyPr>
          <a:lstStyle/>
          <a:p>
            <a:pPr algn="ctr"/>
            <a:r>
              <a:rPr lang="en-US" sz="1500" err="1">
                <a:solidFill>
                  <a:srgbClr val="26374A"/>
                </a:solidFill>
                <a:latin typeface="Open Sans"/>
                <a:ea typeface="Open Sans"/>
                <a:cs typeface="Open Sans"/>
              </a:rPr>
              <a:t>rôles</a:t>
            </a:r>
            <a:r>
              <a:rPr lang="en-US" sz="1500">
                <a:solidFill>
                  <a:srgbClr val="26374A"/>
                </a:solidFill>
                <a:latin typeface="Open Sans"/>
                <a:ea typeface="Open Sans"/>
                <a:cs typeface="Open Sans"/>
              </a:rPr>
              <a:t> </a:t>
            </a:r>
            <a:r>
              <a:rPr lang="en-US" sz="1500" err="1">
                <a:solidFill>
                  <a:srgbClr val="26374A"/>
                </a:solidFill>
                <a:latin typeface="Open Sans"/>
                <a:ea typeface="Open Sans"/>
                <a:cs typeface="Open Sans"/>
              </a:rPr>
              <a:t>utilisateurs</a:t>
            </a:r>
            <a:endParaRPr lang="en-US" sz="1500">
              <a:solidFill>
                <a:srgbClr val="26374A"/>
              </a:solidFill>
              <a:latin typeface="Open Sans"/>
              <a:ea typeface="Open Sans"/>
              <a:cs typeface="Open Sans"/>
            </a:endParaRPr>
          </a:p>
        </p:txBody>
      </p:sp>
      <p:sp>
        <p:nvSpPr>
          <p:cNvPr id="19" name="StatCard5">
            <a:extLst>
              <a:ext uri="{FF2B5EF4-FFF2-40B4-BE49-F238E27FC236}">
                <a16:creationId xmlns:a16="http://schemas.microsoft.com/office/drawing/2014/main" id="{438C6A62-0E99-4824-BAB0-40DA65A3E3D1}"/>
              </a:ext>
            </a:extLst>
          </p:cNvPr>
          <p:cNvSpPr/>
          <p:nvPr/>
        </p:nvSpPr>
        <p:spPr>
          <a:xfrm>
            <a:off x="8128000" y="4343400"/>
            <a:ext cx="3302000" cy="21336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E7A75F6A-5213-4974-99A3-2C47A79F92CD}"/>
              </a:ext>
            </a:extLst>
          </p:cNvPr>
          <p:cNvSpPr txBox="1"/>
          <p:nvPr/>
        </p:nvSpPr>
        <p:spPr>
          <a:xfrm>
            <a:off x="8128000" y="5054600"/>
            <a:ext cx="3302000" cy="800219"/>
          </a:xfrm>
          <a:prstGeom prst="rect">
            <a:avLst/>
          </a:prstGeom>
          <a:noFill/>
        </p:spPr>
        <p:txBody>
          <a:bodyPr vertOverflow="overflow" vert="horz" wrap="square" lIns="91440" tIns="45720" rIns="91440" bIns="45720" rtlCol="0" anchor="t" anchorCtr="0">
            <a:spAutoFit/>
          </a:bodyPr>
          <a:lstStyle/>
          <a:p>
            <a:pPr algn="ctr"/>
            <a:r>
              <a:rPr lang="en-US" sz="4600" b="1">
                <a:solidFill>
                  <a:srgbClr val="16C784"/>
                </a:solidFill>
                <a:latin typeface="Montserrat"/>
              </a:rPr>
              <a:t>0</a:t>
            </a:r>
            <a:endParaRPr lang="en-US"/>
          </a:p>
        </p:txBody>
      </p:sp>
      <p:sp>
        <p:nvSpPr>
          <p:cNvPr id="21" name="TextBox 20">
            <a:extLst>
              <a:ext uri="{FF2B5EF4-FFF2-40B4-BE49-F238E27FC236}">
                <a16:creationId xmlns:a16="http://schemas.microsoft.com/office/drawing/2014/main" id="{2E26A528-8716-410B-988B-FA29FDD6586C}"/>
              </a:ext>
            </a:extLst>
          </p:cNvPr>
          <p:cNvSpPr txBox="1"/>
          <p:nvPr/>
        </p:nvSpPr>
        <p:spPr>
          <a:xfrm>
            <a:off x="8280400" y="5740400"/>
            <a:ext cx="2997200" cy="323165"/>
          </a:xfrm>
          <a:prstGeom prst="rect">
            <a:avLst/>
          </a:prstGeom>
          <a:noFill/>
        </p:spPr>
        <p:txBody>
          <a:bodyPr vertOverflow="overflow" vert="horz" wrap="square" rtlCol="0" anchor="t" anchorCtr="0">
            <a:spAutoFit/>
          </a:bodyPr>
          <a:lstStyle/>
          <a:p>
            <a:pPr algn="ctr"/>
            <a:r>
              <a:rPr lang="en-US" sz="1500">
                <a:solidFill>
                  <a:srgbClr val="26374A"/>
                </a:solidFill>
                <a:latin typeface="Open Sans"/>
                <a:ea typeface="Open Sans"/>
                <a:cs typeface="Open Sans"/>
              </a:rPr>
              <a:t>failles critique</a:t>
            </a:r>
          </a:p>
        </p:txBody>
      </p:sp>
      <p:pic>
        <p:nvPicPr>
          <p:cNvPr id="22" name="Graphic 22" descr="microservic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7100" y="2108200"/>
            <a:ext cx="431800" cy="431800"/>
          </a:xfrm>
          <a:prstGeom prst="rect">
            <a:avLst/>
          </a:prstGeom>
        </p:spPr>
      </p:pic>
      <p:pic>
        <p:nvPicPr>
          <p:cNvPr id="23" name="Graphic 23" descr="databas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80100" y="2108200"/>
            <a:ext cx="431800" cy="431800"/>
          </a:xfrm>
          <a:prstGeom prst="rect">
            <a:avLst/>
          </a:prstGeom>
        </p:spPr>
      </p:pic>
      <p:pic>
        <p:nvPicPr>
          <p:cNvPr id="24" name="Graphic 24" descr="language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3100" y="2108200"/>
            <a:ext cx="431800" cy="431800"/>
          </a:xfrm>
          <a:prstGeom prst="rect">
            <a:avLst/>
          </a:prstGeom>
        </p:spPr>
      </p:pic>
      <p:pic>
        <p:nvPicPr>
          <p:cNvPr id="25" name="Graphic 25" descr="tests coverage"/>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97100" y="4546600"/>
            <a:ext cx="431800" cy="431800"/>
          </a:xfrm>
          <a:prstGeom prst="rect">
            <a:avLst/>
          </a:prstGeom>
        </p:spPr>
      </p:pic>
      <p:pic>
        <p:nvPicPr>
          <p:cNvPr id="26" name="Graphic 26" descr="roles"/>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80100" y="4546600"/>
            <a:ext cx="431800" cy="431800"/>
          </a:xfrm>
          <a:prstGeom prst="rect">
            <a:avLst/>
          </a:prstGeom>
        </p:spPr>
      </p:pic>
      <p:pic>
        <p:nvPicPr>
          <p:cNvPr id="27" name="Graphic 27" descr="security pentest"/>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63100" y="4546600"/>
            <a:ext cx="431800" cy="431800"/>
          </a:xfrm>
          <a:prstGeom prst="rect">
            <a:avLst/>
          </a:prstGeom>
        </p:spPr>
      </p:pic>
      <p:sp>
        <p:nvSpPr>
          <p:cNvPr id="28" name="Espace réservé du numéro de diapositive 27">
            <a:extLst>
              <a:ext uri="{FF2B5EF4-FFF2-40B4-BE49-F238E27FC236}">
                <a16:creationId xmlns:a16="http://schemas.microsoft.com/office/drawing/2014/main" id="{EDD02E3D-8D1D-080C-6CC3-573BA7D777C9}"/>
              </a:ext>
            </a:extLst>
          </p:cNvPr>
          <p:cNvSpPr>
            <a:spLocks noGrp="1"/>
          </p:cNvSpPr>
          <p:nvPr>
            <p:ph type="sldNum" sz="quarter" idx="12"/>
          </p:nvPr>
        </p:nvSpPr>
        <p:spPr/>
        <p:txBody>
          <a:bodyPr/>
          <a:lstStyle/>
          <a:p>
            <a:fld id="{27C6CCC6-2BE5-4E42-96A4-D1E8E81A3D8E}" type="slidenum">
              <a:rPr lang="fr-FR" smtClean="0"/>
              <a:t>4</a:t>
            </a:fld>
            <a:endParaRPr lang="fr-FR"/>
          </a:p>
        </p:txBody>
      </p:sp>
    </p:spTree>
    <p:extLst>
      <p:ext uri="{BB962C8B-B14F-4D97-AF65-F5344CB8AC3E}">
        <p14:creationId xmlns:p14="http://schemas.microsoft.com/office/powerpoint/2010/main" val="40466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0205E2-EC39-4502-B40B-7C0D0B0E20FA}"/>
              </a:ext>
            </a:extLst>
          </p:cNvPr>
          <p:cNvSpPr txBox="1"/>
          <p:nvPr/>
        </p:nvSpPr>
        <p:spPr>
          <a:xfrm>
            <a:off x="762000" y="457200"/>
            <a:ext cx="8890000" cy="279400"/>
          </a:xfrm>
          <a:prstGeom prst="rect">
            <a:avLst/>
          </a:prstGeom>
          <a:noFill/>
        </p:spPr>
        <p:txBody>
          <a:bodyPr vertOverflow="overflow" vert="horz" wrap="square" rtlCol="0" anchor="t" anchorCtr="0">
            <a:spAutoFit/>
          </a:bodyPr>
          <a:lstStyle/>
          <a:p>
            <a:pPr algn="l"/>
            <a:r>
              <a:rPr lang="en-US" sz="1400" b="1">
                <a:solidFill>
                  <a:srgbClr val="00C2CB"/>
                </a:solidFill>
                <a:latin typeface="Montserrat"/>
              </a:rPr>
              <a:t>STRATÉGIE ÉCONOMIQUE</a:t>
            </a:r>
          </a:p>
        </p:txBody>
      </p:sp>
      <p:sp>
        <p:nvSpPr>
          <p:cNvPr id="3" name="TextBox 2">
            <a:extLst>
              <a:ext uri="{FF2B5EF4-FFF2-40B4-BE49-F238E27FC236}">
                <a16:creationId xmlns:a16="http://schemas.microsoft.com/office/drawing/2014/main" id="{3B80BAE5-CE88-41BA-B9F5-A9CC220DC22D}"/>
              </a:ext>
            </a:extLst>
          </p:cNvPr>
          <p:cNvSpPr txBox="1"/>
          <p:nvPr/>
        </p:nvSpPr>
        <p:spPr>
          <a:xfrm>
            <a:off x="762000" y="736600"/>
            <a:ext cx="10668000" cy="584200"/>
          </a:xfrm>
          <a:prstGeom prst="rect">
            <a:avLst/>
          </a:prstGeom>
          <a:noFill/>
        </p:spPr>
        <p:txBody>
          <a:bodyPr vertOverflow="overflow" vert="horz" wrap="square" rtlCol="0" anchor="t" anchorCtr="0">
            <a:spAutoFit/>
          </a:bodyPr>
          <a:lstStyle/>
          <a:p>
            <a:pPr algn="l"/>
            <a:r>
              <a:rPr lang="en-US" sz="3400" b="1">
                <a:solidFill>
                  <a:srgbClr val="0B2A4A"/>
                </a:solidFill>
                <a:latin typeface="Montserrat"/>
              </a:rPr>
              <a:t>Un modèle en 3 temps</a:t>
            </a:r>
          </a:p>
        </p:txBody>
      </p:sp>
      <p:sp>
        <p:nvSpPr>
          <p:cNvPr id="4" name="Step0">
            <a:extLst>
              <a:ext uri="{FF2B5EF4-FFF2-40B4-BE49-F238E27FC236}">
                <a16:creationId xmlns:a16="http://schemas.microsoft.com/office/drawing/2014/main" id="{2B91F313-0131-4A22-956F-40FD079457A7}"/>
              </a:ext>
            </a:extLst>
          </p:cNvPr>
          <p:cNvSpPr/>
          <p:nvPr/>
        </p:nvSpPr>
        <p:spPr>
          <a:xfrm>
            <a:off x="762000" y="1905000"/>
            <a:ext cx="3175000" cy="21590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2B70FEA6-0B70-47C9-BD9C-50EA45CB0AB2}"/>
              </a:ext>
            </a:extLst>
          </p:cNvPr>
          <p:cNvSpPr/>
          <p:nvPr/>
        </p:nvSpPr>
        <p:spPr>
          <a:xfrm>
            <a:off x="990600" y="2133600"/>
            <a:ext cx="406400" cy="4064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1</a:t>
            </a:r>
          </a:p>
        </p:txBody>
      </p:sp>
      <p:sp>
        <p:nvSpPr>
          <p:cNvPr id="6" name="TextBox 5">
            <a:extLst>
              <a:ext uri="{FF2B5EF4-FFF2-40B4-BE49-F238E27FC236}">
                <a16:creationId xmlns:a16="http://schemas.microsoft.com/office/drawing/2014/main" id="{DB012C1A-ED3E-4D9A-9606-9747FBB3BDC7}"/>
              </a:ext>
            </a:extLst>
          </p:cNvPr>
          <p:cNvSpPr txBox="1"/>
          <p:nvPr/>
        </p:nvSpPr>
        <p:spPr>
          <a:xfrm>
            <a:off x="990600" y="2743200"/>
            <a:ext cx="2717800" cy="381000"/>
          </a:xfrm>
          <a:prstGeom prst="rect">
            <a:avLst/>
          </a:prstGeom>
          <a:noFill/>
        </p:spPr>
        <p:txBody>
          <a:bodyPr vertOverflow="overflow" vert="horz" wrap="square" rtlCol="0" anchor="t" anchorCtr="0">
            <a:spAutoFit/>
          </a:bodyPr>
          <a:lstStyle/>
          <a:p>
            <a:pPr algn="l"/>
            <a:r>
              <a:rPr lang="en-US" sz="2100" b="1">
                <a:solidFill>
                  <a:srgbClr val="0B2A4A"/>
                </a:solidFill>
                <a:latin typeface="Montserrat"/>
              </a:rPr>
              <a:t>Amorçage</a:t>
            </a:r>
          </a:p>
        </p:txBody>
      </p:sp>
      <p:sp>
        <p:nvSpPr>
          <p:cNvPr id="7" name="TextBox 6">
            <a:extLst>
              <a:ext uri="{FF2B5EF4-FFF2-40B4-BE49-F238E27FC236}">
                <a16:creationId xmlns:a16="http://schemas.microsoft.com/office/drawing/2014/main" id="{176CEB7D-BDB4-4954-A923-5FC4CB728326}"/>
              </a:ext>
            </a:extLst>
          </p:cNvPr>
          <p:cNvSpPr txBox="1"/>
          <p:nvPr/>
        </p:nvSpPr>
        <p:spPr>
          <a:xfrm>
            <a:off x="990600" y="3175000"/>
            <a:ext cx="2717800" cy="538609"/>
          </a:xfrm>
          <a:prstGeom prst="rect">
            <a:avLst/>
          </a:prstGeom>
          <a:noFill/>
        </p:spPr>
        <p:txBody>
          <a:bodyPr vertOverflow="overflow" vert="horz" wrap="square" rtlCol="0" anchor="t" anchorCtr="0">
            <a:spAutoFit/>
          </a:bodyPr>
          <a:lstStyle/>
          <a:p>
            <a:pPr algn="l"/>
            <a:r>
              <a:rPr lang="en-US" sz="1450">
                <a:solidFill>
                  <a:srgbClr val="26374A"/>
                </a:solidFill>
                <a:latin typeface="Open Sans"/>
                <a:ea typeface="Open Sans"/>
                <a:cs typeface="Open Sans"/>
              </a:rPr>
              <a:t>Levée de fonds, </a:t>
            </a:r>
            <a:r>
              <a:rPr lang="en-US" sz="1450" err="1">
                <a:solidFill>
                  <a:srgbClr val="26374A"/>
                </a:solidFill>
                <a:latin typeface="Open Sans"/>
                <a:ea typeface="Open Sans"/>
                <a:cs typeface="Open Sans"/>
              </a:rPr>
              <a:t>l'audience</a:t>
            </a:r>
            <a:r>
              <a:rPr lang="en-US" sz="1450">
                <a:solidFill>
                  <a:srgbClr val="26374A"/>
                </a:solidFill>
                <a:latin typeface="Open Sans"/>
                <a:ea typeface="Open Sans"/>
                <a:cs typeface="Open Sans"/>
              </a:rPr>
              <a:t> </a:t>
            </a:r>
            <a:r>
              <a:rPr lang="en-US" sz="1450" err="1">
                <a:solidFill>
                  <a:srgbClr val="26374A"/>
                </a:solidFill>
                <a:latin typeface="Open Sans"/>
                <a:ea typeface="Open Sans"/>
                <a:cs typeface="Open Sans"/>
              </a:rPr>
              <a:t>d'abord</a:t>
            </a:r>
            <a:r>
              <a:rPr lang="en-US" sz="1450">
                <a:solidFill>
                  <a:srgbClr val="26374A"/>
                </a:solidFill>
                <a:latin typeface="Open Sans"/>
                <a:ea typeface="Open Sans"/>
                <a:cs typeface="Open Sans"/>
              </a:rPr>
              <a:t>, pas le </a:t>
            </a:r>
            <a:r>
              <a:rPr lang="en-US" sz="1450" err="1">
                <a:solidFill>
                  <a:srgbClr val="26374A"/>
                </a:solidFill>
                <a:latin typeface="Open Sans"/>
                <a:ea typeface="Open Sans"/>
                <a:cs typeface="Open Sans"/>
              </a:rPr>
              <a:t>revenu</a:t>
            </a:r>
            <a:endParaRPr lang="en-US" sz="1450">
              <a:solidFill>
                <a:srgbClr val="26374A"/>
              </a:solidFill>
              <a:latin typeface="Open Sans"/>
              <a:ea typeface="Open Sans"/>
              <a:cs typeface="Open Sans"/>
            </a:endParaRPr>
          </a:p>
        </p:txBody>
      </p:sp>
      <p:sp>
        <p:nvSpPr>
          <p:cNvPr id="8" name="Step1">
            <a:extLst>
              <a:ext uri="{FF2B5EF4-FFF2-40B4-BE49-F238E27FC236}">
                <a16:creationId xmlns:a16="http://schemas.microsoft.com/office/drawing/2014/main" id="{B1F75CF3-63FB-424E-99C0-33B0AC333739}"/>
              </a:ext>
            </a:extLst>
          </p:cNvPr>
          <p:cNvSpPr/>
          <p:nvPr/>
        </p:nvSpPr>
        <p:spPr>
          <a:xfrm>
            <a:off x="4381500" y="1905000"/>
            <a:ext cx="3175000" cy="21590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A12D252B-C3DD-4BC9-B3F0-6CC1FC9529B9}"/>
              </a:ext>
            </a:extLst>
          </p:cNvPr>
          <p:cNvSpPr/>
          <p:nvPr/>
        </p:nvSpPr>
        <p:spPr>
          <a:xfrm>
            <a:off x="4610100" y="2133600"/>
            <a:ext cx="406400" cy="4064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2</a:t>
            </a:r>
          </a:p>
        </p:txBody>
      </p:sp>
      <p:sp>
        <p:nvSpPr>
          <p:cNvPr id="10" name="TextBox 9">
            <a:extLst>
              <a:ext uri="{FF2B5EF4-FFF2-40B4-BE49-F238E27FC236}">
                <a16:creationId xmlns:a16="http://schemas.microsoft.com/office/drawing/2014/main" id="{F05CFD90-8954-41CF-BA09-54AD232FAB3B}"/>
              </a:ext>
            </a:extLst>
          </p:cNvPr>
          <p:cNvSpPr txBox="1"/>
          <p:nvPr/>
        </p:nvSpPr>
        <p:spPr>
          <a:xfrm>
            <a:off x="4610100" y="2743200"/>
            <a:ext cx="2717800" cy="381000"/>
          </a:xfrm>
          <a:prstGeom prst="rect">
            <a:avLst/>
          </a:prstGeom>
          <a:noFill/>
        </p:spPr>
        <p:txBody>
          <a:bodyPr vertOverflow="overflow" vert="horz" wrap="square" rtlCol="0" anchor="t" anchorCtr="0">
            <a:spAutoFit/>
          </a:bodyPr>
          <a:lstStyle/>
          <a:p>
            <a:pPr algn="l"/>
            <a:r>
              <a:rPr lang="en-US" sz="2100" b="1">
                <a:solidFill>
                  <a:srgbClr val="0B2A4A"/>
                </a:solidFill>
                <a:latin typeface="Montserrat"/>
              </a:rPr>
              <a:t>Croissance</a:t>
            </a:r>
          </a:p>
        </p:txBody>
      </p:sp>
      <p:sp>
        <p:nvSpPr>
          <p:cNvPr id="11" name="TextBox 10">
            <a:extLst>
              <a:ext uri="{FF2B5EF4-FFF2-40B4-BE49-F238E27FC236}">
                <a16:creationId xmlns:a16="http://schemas.microsoft.com/office/drawing/2014/main" id="{574B6A5A-4260-4548-AEE9-BB8B03FD6A59}"/>
              </a:ext>
            </a:extLst>
          </p:cNvPr>
          <p:cNvSpPr txBox="1"/>
          <p:nvPr/>
        </p:nvSpPr>
        <p:spPr>
          <a:xfrm>
            <a:off x="4610100" y="3175000"/>
            <a:ext cx="2717800" cy="762000"/>
          </a:xfrm>
          <a:prstGeom prst="rect">
            <a:avLst/>
          </a:prstGeom>
          <a:noFill/>
        </p:spPr>
        <p:txBody>
          <a:bodyPr vertOverflow="overflow" vert="horz" wrap="square" rtlCol="0" anchor="t" anchorCtr="0">
            <a:spAutoFit/>
          </a:bodyPr>
          <a:lstStyle/>
          <a:p>
            <a:pPr algn="l"/>
            <a:r>
              <a:rPr lang="en-US" sz="1450">
                <a:solidFill>
                  <a:srgbClr val="26374A"/>
                </a:solidFill>
                <a:latin typeface="Open Sans"/>
                <a:ea typeface="Open Sans"/>
                <a:cs typeface="Open Sans"/>
              </a:rPr>
              <a:t>Rétention &amp; viralité pour bâtir l'audience</a:t>
            </a:r>
          </a:p>
        </p:txBody>
      </p:sp>
      <p:sp>
        <p:nvSpPr>
          <p:cNvPr id="12" name="Step2">
            <a:extLst>
              <a:ext uri="{FF2B5EF4-FFF2-40B4-BE49-F238E27FC236}">
                <a16:creationId xmlns:a16="http://schemas.microsoft.com/office/drawing/2014/main" id="{6E95E8CB-6442-4B62-8DF6-93B9FC0C4F91}"/>
              </a:ext>
            </a:extLst>
          </p:cNvPr>
          <p:cNvSpPr/>
          <p:nvPr/>
        </p:nvSpPr>
        <p:spPr>
          <a:xfrm>
            <a:off x="8001000" y="1905000"/>
            <a:ext cx="3175000" cy="21590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56515FB7-6B98-40EC-BAB9-4583CA96611B}"/>
              </a:ext>
            </a:extLst>
          </p:cNvPr>
          <p:cNvSpPr/>
          <p:nvPr/>
        </p:nvSpPr>
        <p:spPr>
          <a:xfrm>
            <a:off x="8229600" y="2133600"/>
            <a:ext cx="406400" cy="4064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3</a:t>
            </a:r>
          </a:p>
        </p:txBody>
      </p:sp>
      <p:sp>
        <p:nvSpPr>
          <p:cNvPr id="14" name="TextBox 13">
            <a:extLst>
              <a:ext uri="{FF2B5EF4-FFF2-40B4-BE49-F238E27FC236}">
                <a16:creationId xmlns:a16="http://schemas.microsoft.com/office/drawing/2014/main" id="{DEFD72F3-B510-4FC6-8B19-B6E6BB91CD0C}"/>
              </a:ext>
            </a:extLst>
          </p:cNvPr>
          <p:cNvSpPr txBox="1"/>
          <p:nvPr/>
        </p:nvSpPr>
        <p:spPr>
          <a:xfrm>
            <a:off x="8229600" y="2743200"/>
            <a:ext cx="2717800" cy="381000"/>
          </a:xfrm>
          <a:prstGeom prst="rect">
            <a:avLst/>
          </a:prstGeom>
          <a:noFill/>
        </p:spPr>
        <p:txBody>
          <a:bodyPr vertOverflow="overflow" vert="horz" wrap="square" rtlCol="0" anchor="t" anchorCtr="0">
            <a:spAutoFit/>
          </a:bodyPr>
          <a:lstStyle/>
          <a:p>
            <a:pPr algn="l"/>
            <a:r>
              <a:rPr lang="en-US" sz="2100" b="1">
                <a:solidFill>
                  <a:srgbClr val="0B2A4A"/>
                </a:solidFill>
                <a:latin typeface="Montserrat"/>
              </a:rPr>
              <a:t>Monétisation</a:t>
            </a:r>
          </a:p>
        </p:txBody>
      </p:sp>
      <p:sp>
        <p:nvSpPr>
          <p:cNvPr id="15" name="TextBox 14">
            <a:extLst>
              <a:ext uri="{FF2B5EF4-FFF2-40B4-BE49-F238E27FC236}">
                <a16:creationId xmlns:a16="http://schemas.microsoft.com/office/drawing/2014/main" id="{725E53D8-A919-41A7-A411-86C511DCB941}"/>
              </a:ext>
            </a:extLst>
          </p:cNvPr>
          <p:cNvSpPr txBox="1"/>
          <p:nvPr/>
        </p:nvSpPr>
        <p:spPr>
          <a:xfrm>
            <a:off x="8229600" y="3175000"/>
            <a:ext cx="2717800" cy="762000"/>
          </a:xfrm>
          <a:prstGeom prst="rect">
            <a:avLst/>
          </a:prstGeom>
          <a:noFill/>
        </p:spPr>
        <p:txBody>
          <a:bodyPr vertOverflow="overflow" vert="horz" wrap="square" rtlCol="0" anchor="t" anchorCtr="0">
            <a:spAutoFit/>
          </a:bodyPr>
          <a:lstStyle/>
          <a:p>
            <a:pPr algn="l"/>
            <a:r>
              <a:rPr lang="en-US" sz="1450">
                <a:solidFill>
                  <a:srgbClr val="26374A"/>
                </a:solidFill>
                <a:latin typeface="Open Sans"/>
                <a:ea typeface="Open Sans"/>
                <a:cs typeface="Open Sans"/>
              </a:rPr>
              <a:t>Publicité native + abonnement Breezy+</a:t>
            </a:r>
          </a:p>
        </p:txBody>
      </p:sp>
      <p:sp>
        <p:nvSpPr>
          <p:cNvPr id="16" name="Arrow: Chevron 15">
            <a:extLst>
              <a:ext uri="{FF2B5EF4-FFF2-40B4-BE49-F238E27FC236}">
                <a16:creationId xmlns:a16="http://schemas.microsoft.com/office/drawing/2014/main" id="{ED668DC1-B762-4E8A-BBA7-0EBB29E8F6FD}"/>
              </a:ext>
            </a:extLst>
          </p:cNvPr>
          <p:cNvSpPr/>
          <p:nvPr/>
        </p:nvSpPr>
        <p:spPr>
          <a:xfrm>
            <a:off x="3987800" y="2768600"/>
            <a:ext cx="330200" cy="431800"/>
          </a:xfrm>
          <a:prstGeom prst="chevron">
            <a:avLst/>
          </a:prstGeom>
          <a:solidFill>
            <a:srgbClr val="00C2C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tx1"/>
              </a:solidFill>
            </a:endParaRPr>
          </a:p>
        </p:txBody>
      </p:sp>
      <p:sp>
        <p:nvSpPr>
          <p:cNvPr id="17" name="Arrow: Chevron 16">
            <a:extLst>
              <a:ext uri="{FF2B5EF4-FFF2-40B4-BE49-F238E27FC236}">
                <a16:creationId xmlns:a16="http://schemas.microsoft.com/office/drawing/2014/main" id="{766E6EB0-F97C-4BA9-8CFB-220DA5C10EC0}"/>
              </a:ext>
            </a:extLst>
          </p:cNvPr>
          <p:cNvSpPr/>
          <p:nvPr/>
        </p:nvSpPr>
        <p:spPr>
          <a:xfrm>
            <a:off x="7607300" y="2768600"/>
            <a:ext cx="330200" cy="431800"/>
          </a:xfrm>
          <a:prstGeom prst="chevron">
            <a:avLst/>
          </a:prstGeom>
          <a:solidFill>
            <a:srgbClr val="00C2C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tx1"/>
              </a:solidFill>
            </a:endParaRPr>
          </a:p>
        </p:txBody>
      </p:sp>
      <p:sp>
        <p:nvSpPr>
          <p:cNvPr id="18" name="TextBox 17">
            <a:extLst>
              <a:ext uri="{FF2B5EF4-FFF2-40B4-BE49-F238E27FC236}">
                <a16:creationId xmlns:a16="http://schemas.microsoft.com/office/drawing/2014/main" id="{2D5DC65A-C25B-45FA-8D51-10AC44C38F1C}"/>
              </a:ext>
            </a:extLst>
          </p:cNvPr>
          <p:cNvSpPr txBox="1"/>
          <p:nvPr/>
        </p:nvSpPr>
        <p:spPr>
          <a:xfrm>
            <a:off x="762000" y="4318000"/>
            <a:ext cx="8890000" cy="254000"/>
          </a:xfrm>
          <a:prstGeom prst="rect">
            <a:avLst/>
          </a:prstGeom>
          <a:noFill/>
        </p:spPr>
        <p:txBody>
          <a:bodyPr vertOverflow="overflow" vert="horz" wrap="square" rtlCol="0" anchor="t" anchorCtr="0">
            <a:spAutoFit/>
          </a:bodyPr>
          <a:lstStyle/>
          <a:p>
            <a:pPr algn="l"/>
            <a:r>
              <a:rPr lang="en-US" sz="1300" b="1">
                <a:solidFill>
                  <a:srgbClr val="2D7FF9"/>
                </a:solidFill>
                <a:latin typeface="Montserrat"/>
              </a:rPr>
              <a:t>SOURCES DE REVENUS</a:t>
            </a:r>
          </a:p>
        </p:txBody>
      </p:sp>
      <p:sp>
        <p:nvSpPr>
          <p:cNvPr id="19" name="Chip0">
            <a:extLst>
              <a:ext uri="{FF2B5EF4-FFF2-40B4-BE49-F238E27FC236}">
                <a16:creationId xmlns:a16="http://schemas.microsoft.com/office/drawing/2014/main" id="{7DE9452E-74EB-418D-B85B-BD0BDA7E1783}"/>
              </a:ext>
            </a:extLst>
          </p:cNvPr>
          <p:cNvSpPr/>
          <p:nvPr/>
        </p:nvSpPr>
        <p:spPr>
          <a:xfrm>
            <a:off x="762000" y="4648200"/>
            <a:ext cx="3175000" cy="584200"/>
          </a:xfrm>
          <a:prstGeom prst="roundRect">
            <a:avLst/>
          </a:prstGeom>
          <a:solidFill>
            <a:srgbClr val="E9F1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l"/>
            <a:r>
              <a:rPr lang="en-US" sz="1350" err="1">
                <a:solidFill>
                  <a:srgbClr val="0B2A4A"/>
                </a:solidFill>
                <a:latin typeface="Open Sans"/>
                <a:ea typeface="Open Sans"/>
                <a:cs typeface="Open Sans"/>
              </a:rPr>
              <a:t>Publicité</a:t>
            </a:r>
            <a:r>
              <a:rPr lang="en-US" sz="1350">
                <a:solidFill>
                  <a:srgbClr val="0B2A4A"/>
                </a:solidFill>
                <a:latin typeface="Open Sans"/>
                <a:ea typeface="Open Sans"/>
                <a:cs typeface="Open Sans"/>
              </a:rPr>
              <a:t> native  CPM ~8 € · CPC ~0,25 €</a:t>
            </a:r>
          </a:p>
        </p:txBody>
      </p:sp>
      <p:sp>
        <p:nvSpPr>
          <p:cNvPr id="20" name="Chip1">
            <a:extLst>
              <a:ext uri="{FF2B5EF4-FFF2-40B4-BE49-F238E27FC236}">
                <a16:creationId xmlns:a16="http://schemas.microsoft.com/office/drawing/2014/main" id="{2F342DBA-847E-446B-892D-C144B10054AE}"/>
              </a:ext>
            </a:extLst>
          </p:cNvPr>
          <p:cNvSpPr/>
          <p:nvPr/>
        </p:nvSpPr>
        <p:spPr>
          <a:xfrm>
            <a:off x="4381500" y="4648200"/>
            <a:ext cx="3175000" cy="584200"/>
          </a:xfrm>
          <a:prstGeom prst="roundRect">
            <a:avLst/>
          </a:prstGeom>
          <a:solidFill>
            <a:srgbClr val="E9F1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l"/>
            <a:r>
              <a:rPr lang="en-US" sz="1350" err="1">
                <a:solidFill>
                  <a:srgbClr val="0B2A4A"/>
                </a:solidFill>
                <a:latin typeface="Open Sans"/>
                <a:ea typeface="Open Sans"/>
                <a:cs typeface="Open Sans"/>
              </a:rPr>
              <a:t>Offres</a:t>
            </a:r>
            <a:r>
              <a:rPr lang="en-US" sz="1350">
                <a:solidFill>
                  <a:srgbClr val="0B2A4A"/>
                </a:solidFill>
                <a:latin typeface="Open Sans"/>
                <a:ea typeface="Open Sans"/>
                <a:cs typeface="Open Sans"/>
              </a:rPr>
              <a:t> </a:t>
            </a:r>
            <a:r>
              <a:rPr lang="en-US" sz="1350" err="1">
                <a:solidFill>
                  <a:srgbClr val="0B2A4A"/>
                </a:solidFill>
                <a:latin typeface="Open Sans"/>
                <a:ea typeface="Open Sans"/>
                <a:cs typeface="Open Sans"/>
              </a:rPr>
              <a:t>annonceurs</a:t>
            </a:r>
            <a:r>
              <a:rPr lang="en-US" sz="1350">
                <a:solidFill>
                  <a:srgbClr val="0B2A4A"/>
                </a:solidFill>
                <a:latin typeface="Open Sans"/>
                <a:ea typeface="Open Sans"/>
                <a:cs typeface="Open Sans"/>
              </a:rPr>
              <a:t>  99 / 490 / 1 900 €/</a:t>
            </a:r>
            <a:r>
              <a:rPr lang="en-US" sz="1350" err="1">
                <a:solidFill>
                  <a:srgbClr val="0B2A4A"/>
                </a:solidFill>
                <a:latin typeface="Open Sans"/>
                <a:ea typeface="Open Sans"/>
                <a:cs typeface="Open Sans"/>
              </a:rPr>
              <a:t>mois</a:t>
            </a:r>
            <a:endParaRPr lang="en-US" sz="1350">
              <a:solidFill>
                <a:srgbClr val="0B2A4A"/>
              </a:solidFill>
              <a:latin typeface="Open Sans"/>
              <a:ea typeface="Open Sans"/>
              <a:cs typeface="Open Sans"/>
            </a:endParaRPr>
          </a:p>
        </p:txBody>
      </p:sp>
      <p:sp>
        <p:nvSpPr>
          <p:cNvPr id="21" name="Chip2">
            <a:extLst>
              <a:ext uri="{FF2B5EF4-FFF2-40B4-BE49-F238E27FC236}">
                <a16:creationId xmlns:a16="http://schemas.microsoft.com/office/drawing/2014/main" id="{5C2E5C21-AF48-41AF-A81B-6BC431E561BC}"/>
              </a:ext>
            </a:extLst>
          </p:cNvPr>
          <p:cNvSpPr/>
          <p:nvPr/>
        </p:nvSpPr>
        <p:spPr>
          <a:xfrm>
            <a:off x="8001000" y="4648200"/>
            <a:ext cx="3175000" cy="584200"/>
          </a:xfrm>
          <a:prstGeom prst="roundRect">
            <a:avLst/>
          </a:prstGeom>
          <a:solidFill>
            <a:srgbClr val="E9F1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l"/>
            <a:r>
              <a:rPr lang="en-US" sz="1350">
                <a:solidFill>
                  <a:srgbClr val="0B2A4A"/>
                </a:solidFill>
                <a:latin typeface="Open Sans"/>
                <a:ea typeface="Open Sans"/>
                <a:cs typeface="Open Sans"/>
              </a:rPr>
              <a:t>Abonnement Breezy+  4,99 €/</a:t>
            </a:r>
            <a:r>
              <a:rPr lang="en-US" sz="1350" err="1">
                <a:solidFill>
                  <a:srgbClr val="0B2A4A"/>
                </a:solidFill>
                <a:latin typeface="Open Sans"/>
                <a:ea typeface="Open Sans"/>
                <a:cs typeface="Open Sans"/>
              </a:rPr>
              <a:t>mois</a:t>
            </a:r>
            <a:endParaRPr lang="en-US" sz="1350">
              <a:solidFill>
                <a:srgbClr val="0B2A4A"/>
              </a:solidFill>
              <a:latin typeface="Open Sans"/>
              <a:ea typeface="Open Sans"/>
              <a:cs typeface="Open Sans"/>
            </a:endParaRPr>
          </a:p>
        </p:txBody>
      </p:sp>
      <p:sp>
        <p:nvSpPr>
          <p:cNvPr id="22" name="Rectangle: Rounded Corners 21">
            <a:extLst>
              <a:ext uri="{FF2B5EF4-FFF2-40B4-BE49-F238E27FC236}">
                <a16:creationId xmlns:a16="http://schemas.microsoft.com/office/drawing/2014/main" id="{0F2BE9D4-53BF-4461-BFFF-683C41C0E041}"/>
              </a:ext>
            </a:extLst>
          </p:cNvPr>
          <p:cNvSpPr/>
          <p:nvPr/>
        </p:nvSpPr>
        <p:spPr>
          <a:xfrm>
            <a:off x="762000" y="5461000"/>
            <a:ext cx="10668000" cy="838200"/>
          </a:xfrm>
          <a:prstGeom prst="roundRect">
            <a:avLst/>
          </a:prstGeom>
          <a:solidFill>
            <a:srgbClr val="0B2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A30893B4-3C97-4586-AB93-073F5A351819}"/>
              </a:ext>
            </a:extLst>
          </p:cNvPr>
          <p:cNvSpPr txBox="1"/>
          <p:nvPr/>
        </p:nvSpPr>
        <p:spPr>
          <a:xfrm>
            <a:off x="1016000" y="5638800"/>
            <a:ext cx="2921000" cy="508000"/>
          </a:xfrm>
          <a:prstGeom prst="rect">
            <a:avLst/>
          </a:prstGeom>
          <a:noFill/>
        </p:spPr>
        <p:txBody>
          <a:bodyPr vertOverflow="overflow" vert="horz" wrap="square" rtlCol="0" anchor="t" anchorCtr="0">
            <a:spAutoFit/>
          </a:bodyPr>
          <a:lstStyle/>
          <a:p>
            <a:pPr algn="l"/>
            <a:r>
              <a:rPr lang="en-US" sz="3000" b="1">
                <a:solidFill>
                  <a:srgbClr val="00C2CB"/>
                </a:solidFill>
                <a:latin typeface="Montserrat"/>
              </a:rPr>
              <a:t>≈ 14 mois</a:t>
            </a:r>
          </a:p>
        </p:txBody>
      </p:sp>
      <p:sp>
        <p:nvSpPr>
          <p:cNvPr id="24" name="TextBox 23">
            <a:extLst>
              <a:ext uri="{FF2B5EF4-FFF2-40B4-BE49-F238E27FC236}">
                <a16:creationId xmlns:a16="http://schemas.microsoft.com/office/drawing/2014/main" id="{292DC4F4-BBDF-42E1-9B5B-F7B5DEE47E95}"/>
              </a:ext>
            </a:extLst>
          </p:cNvPr>
          <p:cNvSpPr txBox="1"/>
          <p:nvPr/>
        </p:nvSpPr>
        <p:spPr>
          <a:xfrm>
            <a:off x="4064000" y="5666601"/>
            <a:ext cx="7112000" cy="553998"/>
          </a:xfrm>
          <a:prstGeom prst="rect">
            <a:avLst/>
          </a:prstGeom>
          <a:noFill/>
        </p:spPr>
        <p:txBody>
          <a:bodyPr vertOverflow="overflow" vert="horz" wrap="square" rtlCol="0" anchor="ctr" anchorCtr="0">
            <a:spAutoFit/>
          </a:bodyPr>
          <a:lstStyle/>
          <a:p>
            <a:pPr algn="l"/>
            <a:r>
              <a:rPr lang="en-US" sz="1500" err="1">
                <a:solidFill>
                  <a:srgbClr val="FFFFFF"/>
                </a:solidFill>
                <a:latin typeface="Open Sans"/>
                <a:ea typeface="Open Sans"/>
                <a:cs typeface="Open Sans"/>
              </a:rPr>
              <a:t>Seuil</a:t>
            </a:r>
            <a:r>
              <a:rPr lang="en-US" sz="1500">
                <a:solidFill>
                  <a:srgbClr val="FFFFFF"/>
                </a:solidFill>
                <a:latin typeface="Open Sans"/>
                <a:ea typeface="Open Sans"/>
                <a:cs typeface="Open Sans"/>
              </a:rPr>
              <a:t> de </a:t>
            </a:r>
            <a:r>
              <a:rPr lang="en-US" sz="1500" err="1">
                <a:solidFill>
                  <a:srgbClr val="FFFFFF"/>
                </a:solidFill>
                <a:latin typeface="Open Sans"/>
                <a:ea typeface="Open Sans"/>
                <a:cs typeface="Open Sans"/>
              </a:rPr>
              <a:t>rentabilité</a:t>
            </a:r>
            <a:r>
              <a:rPr lang="en-US" sz="1500">
                <a:solidFill>
                  <a:srgbClr val="FFFFFF"/>
                </a:solidFill>
                <a:latin typeface="Open Sans"/>
                <a:ea typeface="Open Sans"/>
                <a:cs typeface="Open Sans"/>
              </a:rPr>
              <a:t>  </a:t>
            </a:r>
            <a:r>
              <a:rPr lang="en-US" sz="1500" err="1">
                <a:solidFill>
                  <a:srgbClr val="FFFFFF"/>
                </a:solidFill>
                <a:latin typeface="Open Sans"/>
                <a:ea typeface="Open Sans"/>
                <a:cs typeface="Open Sans"/>
              </a:rPr>
              <a:t>modèle</a:t>
            </a:r>
            <a:r>
              <a:rPr lang="en-US" sz="1500">
                <a:solidFill>
                  <a:srgbClr val="FFFFFF"/>
                </a:solidFill>
                <a:latin typeface="Open Sans"/>
                <a:ea typeface="Open Sans"/>
                <a:cs typeface="Open Sans"/>
              </a:rPr>
              <a:t> rentable </a:t>
            </a:r>
            <a:r>
              <a:rPr lang="en-US" sz="1500" err="1">
                <a:solidFill>
                  <a:srgbClr val="FFFFFF"/>
                </a:solidFill>
                <a:latin typeface="Open Sans"/>
                <a:ea typeface="Open Sans"/>
                <a:cs typeface="Open Sans"/>
              </a:rPr>
              <a:t>même</a:t>
            </a:r>
            <a:r>
              <a:rPr lang="en-US" sz="1500">
                <a:solidFill>
                  <a:srgbClr val="FFFFFF"/>
                </a:solidFill>
                <a:latin typeface="Open Sans"/>
                <a:ea typeface="Open Sans"/>
                <a:cs typeface="Open Sans"/>
              </a:rPr>
              <a:t> </a:t>
            </a:r>
            <a:r>
              <a:rPr lang="en-US" sz="1500" err="1">
                <a:solidFill>
                  <a:srgbClr val="FFFFFF"/>
                </a:solidFill>
                <a:latin typeface="Open Sans"/>
                <a:ea typeface="Open Sans"/>
                <a:cs typeface="Open Sans"/>
              </a:rPr>
              <a:t>en</a:t>
            </a:r>
            <a:r>
              <a:rPr lang="en-US" sz="1500">
                <a:solidFill>
                  <a:srgbClr val="FFFFFF"/>
                </a:solidFill>
                <a:latin typeface="Open Sans"/>
                <a:ea typeface="Open Sans"/>
                <a:cs typeface="Open Sans"/>
              </a:rPr>
              <a:t> </a:t>
            </a:r>
            <a:r>
              <a:rPr lang="en-US" sz="1500" err="1">
                <a:solidFill>
                  <a:srgbClr val="FFFFFF"/>
                </a:solidFill>
                <a:latin typeface="Open Sans"/>
                <a:ea typeface="Open Sans"/>
                <a:cs typeface="Open Sans"/>
              </a:rPr>
              <a:t>dégradant</a:t>
            </a:r>
            <a:r>
              <a:rPr lang="en-US" sz="1500">
                <a:solidFill>
                  <a:srgbClr val="FFFFFF"/>
                </a:solidFill>
                <a:latin typeface="Open Sans"/>
                <a:ea typeface="Open Sans"/>
                <a:cs typeface="Open Sans"/>
              </a:rPr>
              <a:t> les </a:t>
            </a:r>
            <a:r>
              <a:rPr lang="en-US" sz="1500" err="1">
                <a:solidFill>
                  <a:srgbClr val="FFFFFF"/>
                </a:solidFill>
                <a:latin typeface="Open Sans"/>
                <a:ea typeface="Open Sans"/>
                <a:cs typeface="Open Sans"/>
              </a:rPr>
              <a:t>hypothèses</a:t>
            </a:r>
            <a:r>
              <a:rPr lang="en-US" sz="1500">
                <a:solidFill>
                  <a:srgbClr val="FFFFFF"/>
                </a:solidFill>
                <a:latin typeface="Open Sans"/>
                <a:ea typeface="Open Sans"/>
                <a:cs typeface="Open Sans"/>
              </a:rPr>
              <a:t> de 30 %</a:t>
            </a:r>
          </a:p>
        </p:txBody>
      </p:sp>
      <p:pic>
        <p:nvPicPr>
          <p:cNvPr id="25" name="Graphic 25" descr="amorçag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51200" y="2082800"/>
            <a:ext cx="457200" cy="457200"/>
          </a:xfrm>
          <a:prstGeom prst="rect">
            <a:avLst/>
          </a:prstGeom>
        </p:spPr>
      </p:pic>
      <p:pic>
        <p:nvPicPr>
          <p:cNvPr id="26" name="Graphic 26" descr="croissanc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70700" y="2082800"/>
            <a:ext cx="457200" cy="457200"/>
          </a:xfrm>
          <a:prstGeom prst="rect">
            <a:avLst/>
          </a:prstGeom>
        </p:spPr>
      </p:pic>
      <p:sp>
        <p:nvSpPr>
          <p:cNvPr id="28" name="Espace réservé du numéro de diapositive 27">
            <a:extLst>
              <a:ext uri="{FF2B5EF4-FFF2-40B4-BE49-F238E27FC236}">
                <a16:creationId xmlns:a16="http://schemas.microsoft.com/office/drawing/2014/main" id="{563FA366-CFAF-CDA6-C574-B796BA03C05C}"/>
              </a:ext>
            </a:extLst>
          </p:cNvPr>
          <p:cNvSpPr>
            <a:spLocks noGrp="1"/>
          </p:cNvSpPr>
          <p:nvPr>
            <p:ph type="sldNum" sz="quarter" idx="12"/>
          </p:nvPr>
        </p:nvSpPr>
        <p:spPr/>
        <p:txBody>
          <a:bodyPr/>
          <a:lstStyle/>
          <a:p>
            <a:fld id="{27C6CCC6-2BE5-4E42-96A4-D1E8E81A3D8E}" type="slidenum">
              <a:rPr lang="fr-FR" smtClean="0"/>
              <a:t>5</a:t>
            </a:fld>
            <a:endParaRPr lang="fr-FR"/>
          </a:p>
        </p:txBody>
      </p:sp>
      <p:pic>
        <p:nvPicPr>
          <p:cNvPr id="31" name="Image 30">
            <a:extLst>
              <a:ext uri="{FF2B5EF4-FFF2-40B4-BE49-F238E27FC236}">
                <a16:creationId xmlns:a16="http://schemas.microsoft.com/office/drawing/2014/main" id="{FDB5D3F2-C347-8E7D-A344-FC1E45B3029F}"/>
              </a:ext>
            </a:extLst>
          </p:cNvPr>
          <p:cNvPicPr>
            <a:picLocks noChangeAspect="1"/>
          </p:cNvPicPr>
          <p:nvPr/>
        </p:nvPicPr>
        <p:blipFill>
          <a:blip r:embed="rId5"/>
          <a:stretch>
            <a:fillRect/>
          </a:stretch>
        </p:blipFill>
        <p:spPr>
          <a:xfrm>
            <a:off x="10384063" y="2036994"/>
            <a:ext cx="677637" cy="763587"/>
          </a:xfrm>
          <a:prstGeom prst="rect">
            <a:avLst/>
          </a:prstGeom>
        </p:spPr>
      </p:pic>
    </p:spTree>
    <p:extLst>
      <p:ext uri="{BB962C8B-B14F-4D97-AF65-F5344CB8AC3E}">
        <p14:creationId xmlns:p14="http://schemas.microsoft.com/office/powerpoint/2010/main" val="1207293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79A6DD-0EC3-4153-B4E9-90D9098C0F92}"/>
              </a:ext>
            </a:extLst>
          </p:cNvPr>
          <p:cNvSpPr txBox="1"/>
          <p:nvPr/>
        </p:nvSpPr>
        <p:spPr>
          <a:xfrm>
            <a:off x="762000" y="457200"/>
            <a:ext cx="10668000" cy="279400"/>
          </a:xfrm>
          <a:prstGeom prst="rect">
            <a:avLst/>
          </a:prstGeom>
          <a:noFill/>
        </p:spPr>
        <p:txBody>
          <a:bodyPr vertOverflow="overflow" vert="horz" wrap="square" rtlCol="0" anchor="t" anchorCtr="0">
            <a:spAutoFit/>
          </a:bodyPr>
          <a:lstStyle/>
          <a:p>
            <a:pPr algn="l"/>
            <a:r>
              <a:rPr lang="en-US" sz="1300" b="1">
                <a:solidFill>
                  <a:srgbClr val="00C2CB"/>
                </a:solidFill>
                <a:latin typeface="Montserrat"/>
              </a:rPr>
              <a:t>PROJECTION FINANCIÈRE · 3 ANS</a:t>
            </a:r>
          </a:p>
        </p:txBody>
      </p:sp>
      <p:sp>
        <p:nvSpPr>
          <p:cNvPr id="3" name="TextBox 2">
            <a:extLst>
              <a:ext uri="{FF2B5EF4-FFF2-40B4-BE49-F238E27FC236}">
                <a16:creationId xmlns:a16="http://schemas.microsoft.com/office/drawing/2014/main" id="{B7CDD72D-5B76-417B-991E-11FD47745AEB}"/>
              </a:ext>
            </a:extLst>
          </p:cNvPr>
          <p:cNvSpPr txBox="1"/>
          <p:nvPr/>
        </p:nvSpPr>
        <p:spPr>
          <a:xfrm>
            <a:off x="762000" y="762000"/>
            <a:ext cx="10668000" cy="558800"/>
          </a:xfrm>
          <a:prstGeom prst="rect">
            <a:avLst/>
          </a:prstGeom>
          <a:noFill/>
        </p:spPr>
        <p:txBody>
          <a:bodyPr vertOverflow="overflow" vert="horz" wrap="square" rtlCol="0" anchor="t" anchorCtr="0">
            <a:spAutoFit/>
          </a:bodyPr>
          <a:lstStyle/>
          <a:p>
            <a:pPr algn="l"/>
            <a:r>
              <a:rPr lang="en-US" sz="3000" b="1">
                <a:solidFill>
                  <a:srgbClr val="0B2A4A"/>
                </a:solidFill>
                <a:latin typeface="Montserrat"/>
              </a:rPr>
              <a:t>Une trajectoire rentable dès la 2ᵉ année</a:t>
            </a:r>
          </a:p>
        </p:txBody>
      </p:sp>
      <p:sp>
        <p:nvSpPr>
          <p:cNvPr id="4" name="Rectangle: Rounded Corners 3">
            <a:extLst>
              <a:ext uri="{FF2B5EF4-FFF2-40B4-BE49-F238E27FC236}">
                <a16:creationId xmlns:a16="http://schemas.microsoft.com/office/drawing/2014/main" id="{FEEED43D-9C16-4ABA-B4FD-F094503F3EA0}"/>
              </a:ext>
            </a:extLst>
          </p:cNvPr>
          <p:cNvSpPr/>
          <p:nvPr/>
        </p:nvSpPr>
        <p:spPr>
          <a:xfrm>
            <a:off x="8255000" y="1930400"/>
            <a:ext cx="3175000" cy="12700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571467B1-C337-40B7-B1C1-127CEA9B9837}"/>
              </a:ext>
            </a:extLst>
          </p:cNvPr>
          <p:cNvSpPr/>
          <p:nvPr/>
        </p:nvSpPr>
        <p:spPr>
          <a:xfrm>
            <a:off x="8255000" y="2108200"/>
            <a:ext cx="76200" cy="914400"/>
          </a:xfrm>
          <a:prstGeom prst="rect">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65E671E9-622C-47D1-A929-31A9DA8EFB69}"/>
              </a:ext>
            </a:extLst>
          </p:cNvPr>
          <p:cNvSpPr txBox="1"/>
          <p:nvPr/>
        </p:nvSpPr>
        <p:spPr>
          <a:xfrm>
            <a:off x="8534400" y="2133600"/>
            <a:ext cx="2743200" cy="558800"/>
          </a:xfrm>
          <a:prstGeom prst="rect">
            <a:avLst/>
          </a:prstGeom>
          <a:noFill/>
        </p:spPr>
        <p:txBody>
          <a:bodyPr vertOverflow="overflow" vert="horz" wrap="square" rtlCol="0" anchor="t" anchorCtr="0">
            <a:spAutoFit/>
          </a:bodyPr>
          <a:lstStyle/>
          <a:p>
            <a:pPr algn="l"/>
            <a:r>
              <a:rPr lang="en-US" sz="3000" b="1">
                <a:solidFill>
                  <a:srgbClr val="2D7FF9"/>
                </a:solidFill>
                <a:latin typeface="Montserrat"/>
              </a:rPr>
              <a:t>600 k</a:t>
            </a:r>
          </a:p>
        </p:txBody>
      </p:sp>
      <p:sp>
        <p:nvSpPr>
          <p:cNvPr id="7" name="TextBox 6">
            <a:extLst>
              <a:ext uri="{FF2B5EF4-FFF2-40B4-BE49-F238E27FC236}">
                <a16:creationId xmlns:a16="http://schemas.microsoft.com/office/drawing/2014/main" id="{4E52FB6C-1B4E-4F05-BEA5-7D52931944E5}"/>
              </a:ext>
            </a:extLst>
          </p:cNvPr>
          <p:cNvSpPr txBox="1"/>
          <p:nvPr/>
        </p:nvSpPr>
        <p:spPr>
          <a:xfrm>
            <a:off x="8534400" y="2717800"/>
            <a:ext cx="2743200" cy="300082"/>
          </a:xfrm>
          <a:prstGeom prst="rect">
            <a:avLst/>
          </a:prstGeom>
          <a:noFill/>
        </p:spPr>
        <p:txBody>
          <a:bodyPr vertOverflow="overflow" vert="horz" wrap="square" rtlCol="0" anchor="t" anchorCtr="0">
            <a:spAutoFit/>
          </a:bodyPr>
          <a:lstStyle/>
          <a:p>
            <a:pPr algn="l"/>
            <a:r>
              <a:rPr lang="en-US" sz="1350" err="1">
                <a:solidFill>
                  <a:srgbClr val="26374A"/>
                </a:solidFill>
                <a:latin typeface="Open Sans"/>
                <a:ea typeface="Open Sans"/>
                <a:cs typeface="Open Sans"/>
              </a:rPr>
              <a:t>Utilisateurs</a:t>
            </a:r>
            <a:r>
              <a:rPr lang="en-US" sz="1350">
                <a:solidFill>
                  <a:srgbClr val="26374A"/>
                </a:solidFill>
                <a:latin typeface="Open Sans"/>
                <a:ea typeface="Open Sans"/>
                <a:cs typeface="Open Sans"/>
              </a:rPr>
              <a:t> </a:t>
            </a:r>
            <a:r>
              <a:rPr lang="en-US" sz="1350" err="1">
                <a:solidFill>
                  <a:srgbClr val="26374A"/>
                </a:solidFill>
                <a:latin typeface="Open Sans"/>
                <a:ea typeface="Open Sans"/>
                <a:cs typeface="Open Sans"/>
              </a:rPr>
              <a:t>actifs</a:t>
            </a:r>
            <a:r>
              <a:rPr lang="en-US" sz="1350">
                <a:solidFill>
                  <a:srgbClr val="26374A"/>
                </a:solidFill>
                <a:latin typeface="Open Sans"/>
                <a:ea typeface="Open Sans"/>
                <a:cs typeface="Open Sans"/>
              </a:rPr>
              <a:t> / </a:t>
            </a:r>
            <a:r>
              <a:rPr lang="en-US" sz="1350" err="1">
                <a:solidFill>
                  <a:srgbClr val="26374A"/>
                </a:solidFill>
                <a:latin typeface="Open Sans"/>
                <a:ea typeface="Open Sans"/>
                <a:cs typeface="Open Sans"/>
              </a:rPr>
              <a:t>mois</a:t>
            </a:r>
            <a:r>
              <a:rPr lang="en-US" sz="1350">
                <a:solidFill>
                  <a:srgbClr val="26374A"/>
                </a:solidFill>
                <a:latin typeface="Open Sans"/>
                <a:ea typeface="Open Sans"/>
                <a:cs typeface="Open Sans"/>
              </a:rPr>
              <a:t> – A+3</a:t>
            </a:r>
          </a:p>
        </p:txBody>
      </p:sp>
      <p:sp>
        <p:nvSpPr>
          <p:cNvPr id="8" name="Rectangle: Rounded Corners 7">
            <a:extLst>
              <a:ext uri="{FF2B5EF4-FFF2-40B4-BE49-F238E27FC236}">
                <a16:creationId xmlns:a16="http://schemas.microsoft.com/office/drawing/2014/main" id="{75D7618F-51C5-4C6C-88E8-E302E6A537BA}"/>
              </a:ext>
            </a:extLst>
          </p:cNvPr>
          <p:cNvSpPr/>
          <p:nvPr/>
        </p:nvSpPr>
        <p:spPr>
          <a:xfrm>
            <a:off x="8255000" y="3352800"/>
            <a:ext cx="3175000" cy="12700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9719AB75-5441-4CCC-B0ED-360845C05EB6}"/>
              </a:ext>
            </a:extLst>
          </p:cNvPr>
          <p:cNvSpPr/>
          <p:nvPr/>
        </p:nvSpPr>
        <p:spPr>
          <a:xfrm>
            <a:off x="8255000" y="3530600"/>
            <a:ext cx="76200" cy="914400"/>
          </a:xfrm>
          <a:prstGeom prst="rect">
            <a:avLst/>
          </a:prstGeom>
          <a:solidFill>
            <a:srgbClr val="16C78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F9CB6C37-4589-4FC4-9FCD-AFEB6B06835B}"/>
              </a:ext>
            </a:extLst>
          </p:cNvPr>
          <p:cNvSpPr txBox="1"/>
          <p:nvPr/>
        </p:nvSpPr>
        <p:spPr>
          <a:xfrm>
            <a:off x="8534400" y="3556000"/>
            <a:ext cx="2743200" cy="558800"/>
          </a:xfrm>
          <a:prstGeom prst="rect">
            <a:avLst/>
          </a:prstGeom>
          <a:noFill/>
        </p:spPr>
        <p:txBody>
          <a:bodyPr vertOverflow="overflow" vert="horz" wrap="square" rtlCol="0" anchor="t" anchorCtr="0">
            <a:spAutoFit/>
          </a:bodyPr>
          <a:lstStyle/>
          <a:p>
            <a:pPr algn="l"/>
            <a:r>
              <a:rPr lang="en-US" sz="3000" b="1">
                <a:solidFill>
                  <a:srgbClr val="16C784"/>
                </a:solidFill>
                <a:latin typeface="Montserrat"/>
              </a:rPr>
              <a:t>+3,1 M€</a:t>
            </a:r>
          </a:p>
        </p:txBody>
      </p:sp>
      <p:sp>
        <p:nvSpPr>
          <p:cNvPr id="11" name="TextBox 10">
            <a:extLst>
              <a:ext uri="{FF2B5EF4-FFF2-40B4-BE49-F238E27FC236}">
                <a16:creationId xmlns:a16="http://schemas.microsoft.com/office/drawing/2014/main" id="{0B6B338B-69FE-4539-940E-449C54A75057}"/>
              </a:ext>
            </a:extLst>
          </p:cNvPr>
          <p:cNvSpPr txBox="1"/>
          <p:nvPr/>
        </p:nvSpPr>
        <p:spPr>
          <a:xfrm>
            <a:off x="8534400" y="4140200"/>
            <a:ext cx="2743200" cy="300082"/>
          </a:xfrm>
          <a:prstGeom prst="rect">
            <a:avLst/>
          </a:prstGeom>
          <a:noFill/>
        </p:spPr>
        <p:txBody>
          <a:bodyPr vertOverflow="overflow" vert="horz" wrap="square" rtlCol="0" anchor="t" anchorCtr="0">
            <a:spAutoFit/>
          </a:bodyPr>
          <a:lstStyle/>
          <a:p>
            <a:pPr algn="l"/>
            <a:r>
              <a:rPr lang="en-US" sz="1350" err="1">
                <a:solidFill>
                  <a:srgbClr val="26374A"/>
                </a:solidFill>
                <a:latin typeface="Open Sans"/>
                <a:ea typeface="Open Sans"/>
                <a:cs typeface="Open Sans"/>
              </a:rPr>
              <a:t>Résultat</a:t>
            </a:r>
            <a:r>
              <a:rPr lang="en-US" sz="1350">
                <a:solidFill>
                  <a:srgbClr val="26374A"/>
                </a:solidFill>
                <a:latin typeface="Open Sans"/>
                <a:ea typeface="Open Sans"/>
                <a:cs typeface="Open Sans"/>
              </a:rPr>
              <a:t> </a:t>
            </a:r>
            <a:r>
              <a:rPr lang="en-US" sz="1350" err="1">
                <a:solidFill>
                  <a:srgbClr val="26374A"/>
                </a:solidFill>
                <a:latin typeface="Open Sans"/>
                <a:ea typeface="Open Sans"/>
                <a:cs typeface="Open Sans"/>
              </a:rPr>
              <a:t>cumulé</a:t>
            </a:r>
            <a:r>
              <a:rPr lang="en-US" sz="1350">
                <a:solidFill>
                  <a:srgbClr val="26374A"/>
                </a:solidFill>
                <a:latin typeface="Open Sans"/>
                <a:ea typeface="Open Sans"/>
                <a:cs typeface="Open Sans"/>
              </a:rPr>
              <a:t> – A+3</a:t>
            </a:r>
          </a:p>
        </p:txBody>
      </p:sp>
      <p:sp>
        <p:nvSpPr>
          <p:cNvPr id="12" name="Rectangle: Rounded Corners 11">
            <a:extLst>
              <a:ext uri="{FF2B5EF4-FFF2-40B4-BE49-F238E27FC236}">
                <a16:creationId xmlns:a16="http://schemas.microsoft.com/office/drawing/2014/main" id="{7DFF409F-8059-439C-AB74-D0CC41B022F1}"/>
              </a:ext>
            </a:extLst>
          </p:cNvPr>
          <p:cNvSpPr/>
          <p:nvPr/>
        </p:nvSpPr>
        <p:spPr>
          <a:xfrm>
            <a:off x="8255000" y="4775200"/>
            <a:ext cx="3175000" cy="12700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6D5E686A-AEAC-494E-B5CE-140582956F3A}"/>
              </a:ext>
            </a:extLst>
          </p:cNvPr>
          <p:cNvSpPr/>
          <p:nvPr/>
        </p:nvSpPr>
        <p:spPr>
          <a:xfrm>
            <a:off x="8255000" y="4953000"/>
            <a:ext cx="76200" cy="914400"/>
          </a:xfrm>
          <a:prstGeom prst="rect">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9E2E81DD-186F-4842-BDEC-157B13205620}"/>
              </a:ext>
            </a:extLst>
          </p:cNvPr>
          <p:cNvSpPr txBox="1"/>
          <p:nvPr/>
        </p:nvSpPr>
        <p:spPr>
          <a:xfrm>
            <a:off x="8534400" y="4978400"/>
            <a:ext cx="2743200" cy="558800"/>
          </a:xfrm>
          <a:prstGeom prst="rect">
            <a:avLst/>
          </a:prstGeom>
          <a:noFill/>
        </p:spPr>
        <p:txBody>
          <a:bodyPr vertOverflow="overflow" vert="horz" wrap="square" rtlCol="0" anchor="t" anchorCtr="0">
            <a:spAutoFit/>
          </a:bodyPr>
          <a:lstStyle/>
          <a:p>
            <a:pPr algn="l"/>
            <a:r>
              <a:rPr lang="en-US" sz="3000" b="1">
                <a:solidFill>
                  <a:srgbClr val="2D7FF9"/>
                </a:solidFill>
                <a:latin typeface="Montserrat"/>
              </a:rPr>
              <a:t>≈ 14 mois</a:t>
            </a:r>
          </a:p>
        </p:txBody>
      </p:sp>
      <p:sp>
        <p:nvSpPr>
          <p:cNvPr id="15" name="TextBox 14">
            <a:extLst>
              <a:ext uri="{FF2B5EF4-FFF2-40B4-BE49-F238E27FC236}">
                <a16:creationId xmlns:a16="http://schemas.microsoft.com/office/drawing/2014/main" id="{B15DA30C-8740-4D53-84C0-82644348E36C}"/>
              </a:ext>
            </a:extLst>
          </p:cNvPr>
          <p:cNvSpPr txBox="1"/>
          <p:nvPr/>
        </p:nvSpPr>
        <p:spPr>
          <a:xfrm>
            <a:off x="8534400" y="5562600"/>
            <a:ext cx="2743200" cy="431800"/>
          </a:xfrm>
          <a:prstGeom prst="rect">
            <a:avLst/>
          </a:prstGeom>
          <a:noFill/>
        </p:spPr>
        <p:txBody>
          <a:bodyPr vertOverflow="overflow" vert="horz" wrap="square" rtlCol="0" anchor="t" anchorCtr="0">
            <a:spAutoFit/>
          </a:bodyPr>
          <a:lstStyle/>
          <a:p>
            <a:pPr algn="l"/>
            <a:r>
              <a:rPr lang="en-US" sz="1350">
                <a:solidFill>
                  <a:srgbClr val="26374A"/>
                </a:solidFill>
                <a:latin typeface="Open Sans"/>
                <a:ea typeface="Open Sans"/>
                <a:cs typeface="Open Sans"/>
              </a:rPr>
              <a:t>Seuil de rentabilité</a:t>
            </a:r>
          </a:p>
        </p:txBody>
      </p:sp>
      <p:graphicFrame>
        <p:nvGraphicFramePr>
          <p:cNvPr id="151" name="ChartFin"/>
          <p:cNvGraphicFramePr/>
          <p:nvPr/>
        </p:nvGraphicFramePr>
        <p:xfrm>
          <a:off x="685800" y="1866900"/>
          <a:ext cx="72390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16" name="Espace réservé du numéro de diapositive 15">
            <a:extLst>
              <a:ext uri="{FF2B5EF4-FFF2-40B4-BE49-F238E27FC236}">
                <a16:creationId xmlns:a16="http://schemas.microsoft.com/office/drawing/2014/main" id="{4E37ED3E-25E8-3BA5-A0C9-BD8FA26CFADB}"/>
              </a:ext>
            </a:extLst>
          </p:cNvPr>
          <p:cNvSpPr>
            <a:spLocks noGrp="1"/>
          </p:cNvSpPr>
          <p:nvPr>
            <p:ph type="sldNum" sz="quarter" idx="12"/>
          </p:nvPr>
        </p:nvSpPr>
        <p:spPr/>
        <p:txBody>
          <a:bodyPr/>
          <a:lstStyle/>
          <a:p>
            <a:fld id="{27C6CCC6-2BE5-4E42-96A4-D1E8E81A3D8E}" type="slidenum">
              <a:rPr lang="fr-FR" smtClean="0"/>
              <a:t>6</a:t>
            </a:fld>
            <a:endParaRPr lang="fr-FR"/>
          </a:p>
        </p:txBody>
      </p:sp>
    </p:spTree>
    <p:extLst>
      <p:ext uri="{BB962C8B-B14F-4D97-AF65-F5344CB8AC3E}">
        <p14:creationId xmlns:p14="http://schemas.microsoft.com/office/powerpoint/2010/main" val="1870773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2452EE-6276-3855-F532-C9F33AF28CF6}"/>
              </a:ext>
            </a:extLst>
          </p:cNvPr>
          <p:cNvSpPr>
            <a:spLocks noGrp="1"/>
          </p:cNvSpPr>
          <p:nvPr>
            <p:ph type="title"/>
          </p:nvPr>
        </p:nvSpPr>
        <p:spPr/>
        <p:txBody>
          <a:bodyPr/>
          <a:lstStyle/>
          <a:p>
            <a:r>
              <a:rPr lang="fr-FR" b="1"/>
              <a:t>Positionnement sur le marché</a:t>
            </a:r>
          </a:p>
        </p:txBody>
      </p:sp>
      <p:sp>
        <p:nvSpPr>
          <p:cNvPr id="3" name="Espace réservé du numéro de diapositive 2">
            <a:extLst>
              <a:ext uri="{FF2B5EF4-FFF2-40B4-BE49-F238E27FC236}">
                <a16:creationId xmlns:a16="http://schemas.microsoft.com/office/drawing/2014/main" id="{E71B389E-8457-B1DE-ADFD-512E1191FB3F}"/>
              </a:ext>
            </a:extLst>
          </p:cNvPr>
          <p:cNvSpPr>
            <a:spLocks noGrp="1"/>
          </p:cNvSpPr>
          <p:nvPr>
            <p:ph type="sldNum" sz="quarter" idx="12"/>
          </p:nvPr>
        </p:nvSpPr>
        <p:spPr/>
        <p:txBody>
          <a:bodyPr/>
          <a:lstStyle/>
          <a:p>
            <a:fld id="{27C6CCC6-2BE5-4E42-96A4-D1E8E81A3D8E}" type="slidenum">
              <a:rPr lang="fr-FR" smtClean="0"/>
              <a:t>7</a:t>
            </a:fld>
            <a:endParaRPr lang="fr-FR"/>
          </a:p>
        </p:txBody>
      </p:sp>
      <p:sp>
        <p:nvSpPr>
          <p:cNvPr id="4" name="ZoneTexte 3">
            <a:extLst>
              <a:ext uri="{FF2B5EF4-FFF2-40B4-BE49-F238E27FC236}">
                <a16:creationId xmlns:a16="http://schemas.microsoft.com/office/drawing/2014/main" id="{1F5EC7FA-BEC0-4AC8-9A3B-C6054564121B}"/>
              </a:ext>
            </a:extLst>
          </p:cNvPr>
          <p:cNvSpPr txBox="1"/>
          <p:nvPr/>
        </p:nvSpPr>
        <p:spPr>
          <a:xfrm>
            <a:off x="838200" y="1752600"/>
            <a:ext cx="10515600" cy="685800"/>
          </a:xfrm>
          <a:prstGeom prst="rect">
            <a:avLst/>
          </a:prstGeom>
          <a:noFill/>
        </p:spPr>
        <p:txBody>
          <a:bodyPr vertOverflow="overflow" vert="horz" wrap="square" rtlCol="0" anchor="t">
            <a:spAutoFit/>
          </a:bodyPr>
          <a:lstStyle/>
          <a:p>
            <a:pPr algn="l"/>
            <a:r>
              <a:rPr lang="fr-FR">
                <a:solidFill>
                  <a:srgbClr val="0B2A4A"/>
                </a:solidFill>
                <a:latin typeface="Calibri"/>
                <a:ea typeface="Calibri"/>
                <a:cs typeface="Calibri"/>
              </a:rPr>
              <a:t>Breezy combine la simplicité des grands réseaux sociaux avec un niveau de confidentialité et une modularité technique nettement supérieurs.</a:t>
            </a:r>
          </a:p>
        </p:txBody>
      </p:sp>
      <p:sp>
        <p:nvSpPr>
          <p:cNvPr id="5" name="Rectangle : coins arrondis 4">
            <a:extLst>
              <a:ext uri="{FF2B5EF4-FFF2-40B4-BE49-F238E27FC236}">
                <a16:creationId xmlns:a16="http://schemas.microsoft.com/office/drawing/2014/main" id="{1A9C0F54-E897-4854-925D-438256219478}"/>
              </a:ext>
            </a:extLst>
          </p:cNvPr>
          <p:cNvSpPr/>
          <p:nvPr/>
        </p:nvSpPr>
        <p:spPr>
          <a:xfrm>
            <a:off x="838200" y="2603500"/>
            <a:ext cx="3479800" cy="3657600"/>
          </a:xfrm>
          <a:prstGeom prst="round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6" name="Rectangle 5">
            <a:extLst>
              <a:ext uri="{FF2B5EF4-FFF2-40B4-BE49-F238E27FC236}">
                <a16:creationId xmlns:a16="http://schemas.microsoft.com/office/drawing/2014/main" id="{307B9198-8E13-4A7F-9E07-5BD5F65FAB71}"/>
              </a:ext>
            </a:extLst>
          </p:cNvPr>
          <p:cNvSpPr/>
          <p:nvPr/>
        </p:nvSpPr>
        <p:spPr>
          <a:xfrm>
            <a:off x="838200" y="2603500"/>
            <a:ext cx="3479800" cy="88900"/>
          </a:xfrm>
          <a:prstGeom prst="rect">
            <a:avLst/>
          </a:prstGeom>
          <a:solidFill>
            <a:srgbClr val="16C78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7" name="ZoneTexte 6">
            <a:extLst>
              <a:ext uri="{FF2B5EF4-FFF2-40B4-BE49-F238E27FC236}">
                <a16:creationId xmlns:a16="http://schemas.microsoft.com/office/drawing/2014/main" id="{07E2A1CE-C13A-4CA9-81F8-4EC60BCBB7B6}"/>
              </a:ext>
            </a:extLst>
          </p:cNvPr>
          <p:cNvSpPr txBox="1"/>
          <p:nvPr/>
        </p:nvSpPr>
        <p:spPr>
          <a:xfrm>
            <a:off x="1066800" y="3810000"/>
            <a:ext cx="3022600" cy="584200"/>
          </a:xfrm>
          <a:prstGeom prst="rect">
            <a:avLst/>
          </a:prstGeom>
          <a:noFill/>
        </p:spPr>
        <p:txBody>
          <a:bodyPr vertOverflow="overflow" vert="horz" wrap="square" rtlCol="0" anchor="ctr" anchorCtr="0">
            <a:spAutoFit/>
          </a:bodyPr>
          <a:lstStyle/>
          <a:p>
            <a:pPr algn="l"/>
            <a:r>
              <a:rPr lang="fr-FR" sz="1900" b="1">
                <a:solidFill>
                  <a:srgbClr val="0B2A4A"/>
                </a:solidFill>
                <a:latin typeface="Calibri"/>
                <a:ea typeface="Calibri"/>
                <a:cs typeface="Calibri"/>
              </a:rPr>
              <a:t>Confidentialité &amp; confiance</a:t>
            </a:r>
          </a:p>
        </p:txBody>
      </p:sp>
      <p:sp>
        <p:nvSpPr>
          <p:cNvPr id="8" name="ZoneTexte 7">
            <a:extLst>
              <a:ext uri="{FF2B5EF4-FFF2-40B4-BE49-F238E27FC236}">
                <a16:creationId xmlns:a16="http://schemas.microsoft.com/office/drawing/2014/main" id="{AE935EBC-D6A8-49A4-BADB-D290450A0E03}"/>
              </a:ext>
            </a:extLst>
          </p:cNvPr>
          <p:cNvSpPr txBox="1"/>
          <p:nvPr/>
        </p:nvSpPr>
        <p:spPr>
          <a:xfrm>
            <a:off x="1066800" y="4483100"/>
            <a:ext cx="3022600" cy="1524000"/>
          </a:xfrm>
          <a:prstGeom prst="rect">
            <a:avLst/>
          </a:prstGeom>
          <a:noFill/>
        </p:spPr>
        <p:txBody>
          <a:bodyPr vertOverflow="overflow" vert="horz" wrap="square" rtlCol="0" anchor="t" anchorCtr="0">
            <a:spAutoFit/>
          </a:bodyPr>
          <a:lstStyle/>
          <a:p>
            <a:pPr algn="l"/>
            <a:r>
              <a:rPr lang="fr-FR" sz="1500">
                <a:solidFill>
                  <a:srgbClr val="0B2A4A"/>
                </a:solidFill>
                <a:latin typeface="Calibri"/>
                <a:ea typeface="Calibri"/>
                <a:cs typeface="Calibri"/>
              </a:rPr>
              <a:t>Messagerie chiffrée de bout en bout (E2EE). Confidentialité par conception et contrôle des données par l'utilisateur.</a:t>
            </a:r>
          </a:p>
        </p:txBody>
      </p:sp>
      <p:sp>
        <p:nvSpPr>
          <p:cNvPr id="9" name="Rectangle : coins arrondis 8">
            <a:extLst>
              <a:ext uri="{FF2B5EF4-FFF2-40B4-BE49-F238E27FC236}">
                <a16:creationId xmlns:a16="http://schemas.microsoft.com/office/drawing/2014/main" id="{36F82C5F-6A6C-42FD-B540-245B4B30DB9D}"/>
              </a:ext>
            </a:extLst>
          </p:cNvPr>
          <p:cNvSpPr/>
          <p:nvPr/>
        </p:nvSpPr>
        <p:spPr>
          <a:xfrm>
            <a:off x="4356100" y="2603500"/>
            <a:ext cx="3479800" cy="3657600"/>
          </a:xfrm>
          <a:prstGeom prst="round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0" name="Rectangle 9">
            <a:extLst>
              <a:ext uri="{FF2B5EF4-FFF2-40B4-BE49-F238E27FC236}">
                <a16:creationId xmlns:a16="http://schemas.microsoft.com/office/drawing/2014/main" id="{D28A4EC5-9293-4E50-B6EA-07E4B06BABEA}"/>
              </a:ext>
            </a:extLst>
          </p:cNvPr>
          <p:cNvSpPr/>
          <p:nvPr/>
        </p:nvSpPr>
        <p:spPr>
          <a:xfrm>
            <a:off x="4356100" y="2603500"/>
            <a:ext cx="3479800" cy="88900"/>
          </a:xfrm>
          <a:prstGeom prst="rect">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1" name="ZoneTexte 10">
            <a:extLst>
              <a:ext uri="{FF2B5EF4-FFF2-40B4-BE49-F238E27FC236}">
                <a16:creationId xmlns:a16="http://schemas.microsoft.com/office/drawing/2014/main" id="{66918F6B-ACCF-442A-A36C-21CE3C4AFD5F}"/>
              </a:ext>
            </a:extLst>
          </p:cNvPr>
          <p:cNvSpPr txBox="1"/>
          <p:nvPr/>
        </p:nvSpPr>
        <p:spPr>
          <a:xfrm>
            <a:off x="4584700" y="3810000"/>
            <a:ext cx="3022600" cy="584200"/>
          </a:xfrm>
          <a:prstGeom prst="rect">
            <a:avLst/>
          </a:prstGeom>
          <a:noFill/>
        </p:spPr>
        <p:txBody>
          <a:bodyPr vertOverflow="overflow" vert="horz" wrap="square" rtlCol="0" anchor="ctr" anchorCtr="0">
            <a:spAutoFit/>
          </a:bodyPr>
          <a:lstStyle/>
          <a:p>
            <a:pPr algn="l"/>
            <a:r>
              <a:rPr lang="fr-FR" sz="1900" b="1">
                <a:solidFill>
                  <a:srgbClr val="0B2A4A"/>
                </a:solidFill>
                <a:latin typeface="Calibri"/>
                <a:ea typeface="Calibri"/>
                <a:cs typeface="Calibri"/>
              </a:rPr>
              <a:t>Design moderne</a:t>
            </a:r>
          </a:p>
        </p:txBody>
      </p:sp>
      <p:sp>
        <p:nvSpPr>
          <p:cNvPr id="12" name="ZoneTexte 11">
            <a:extLst>
              <a:ext uri="{FF2B5EF4-FFF2-40B4-BE49-F238E27FC236}">
                <a16:creationId xmlns:a16="http://schemas.microsoft.com/office/drawing/2014/main" id="{5E5DF20D-41CB-43B2-9363-95898AC97C32}"/>
              </a:ext>
            </a:extLst>
          </p:cNvPr>
          <p:cNvSpPr txBox="1"/>
          <p:nvPr/>
        </p:nvSpPr>
        <p:spPr>
          <a:xfrm>
            <a:off x="4584700" y="4483100"/>
            <a:ext cx="3022600" cy="1524000"/>
          </a:xfrm>
          <a:prstGeom prst="rect">
            <a:avLst/>
          </a:prstGeom>
          <a:noFill/>
        </p:spPr>
        <p:txBody>
          <a:bodyPr vertOverflow="overflow" vert="horz" wrap="square" rtlCol="0" anchor="t" anchorCtr="0">
            <a:spAutoFit/>
          </a:bodyPr>
          <a:lstStyle/>
          <a:p>
            <a:pPr algn="l"/>
            <a:r>
              <a:rPr lang="fr-FR" sz="1500">
                <a:solidFill>
                  <a:srgbClr val="0B2A4A"/>
                </a:solidFill>
                <a:latin typeface="Calibri"/>
                <a:ea typeface="Calibri"/>
                <a:cs typeface="Calibri"/>
              </a:rPr>
              <a:t>Interface épurée inspirée de X/Twitter, responsive web et mobile, thème clair/sombre et accents personnalisables.</a:t>
            </a:r>
          </a:p>
        </p:txBody>
      </p:sp>
      <p:sp>
        <p:nvSpPr>
          <p:cNvPr id="13" name="Rectangle : coins arrondis 12">
            <a:extLst>
              <a:ext uri="{FF2B5EF4-FFF2-40B4-BE49-F238E27FC236}">
                <a16:creationId xmlns:a16="http://schemas.microsoft.com/office/drawing/2014/main" id="{E5DAF34C-71CE-4CB9-8965-DCC1587A1C16}"/>
              </a:ext>
            </a:extLst>
          </p:cNvPr>
          <p:cNvSpPr/>
          <p:nvPr/>
        </p:nvSpPr>
        <p:spPr>
          <a:xfrm>
            <a:off x="7874000" y="2603500"/>
            <a:ext cx="3479800" cy="3657600"/>
          </a:xfrm>
          <a:prstGeom prst="round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4" name="Rectangle 13">
            <a:extLst>
              <a:ext uri="{FF2B5EF4-FFF2-40B4-BE49-F238E27FC236}">
                <a16:creationId xmlns:a16="http://schemas.microsoft.com/office/drawing/2014/main" id="{B37A68FF-03EA-4393-A26F-4EB457C03FB9}"/>
              </a:ext>
            </a:extLst>
          </p:cNvPr>
          <p:cNvSpPr/>
          <p:nvPr/>
        </p:nvSpPr>
        <p:spPr>
          <a:xfrm>
            <a:off x="7874000" y="2603500"/>
            <a:ext cx="3479800" cy="88900"/>
          </a:xfrm>
          <a:prstGeom prst="rect">
            <a:avLst/>
          </a:prstGeom>
          <a:solidFill>
            <a:srgbClr val="9B6C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5" name="ZoneTexte 14">
            <a:extLst>
              <a:ext uri="{FF2B5EF4-FFF2-40B4-BE49-F238E27FC236}">
                <a16:creationId xmlns:a16="http://schemas.microsoft.com/office/drawing/2014/main" id="{4A3855E9-EBDD-4A18-924A-2BD9F9E11EDC}"/>
              </a:ext>
            </a:extLst>
          </p:cNvPr>
          <p:cNvSpPr txBox="1"/>
          <p:nvPr/>
        </p:nvSpPr>
        <p:spPr>
          <a:xfrm>
            <a:off x="8102600" y="3810000"/>
            <a:ext cx="3022600" cy="584200"/>
          </a:xfrm>
          <a:prstGeom prst="rect">
            <a:avLst/>
          </a:prstGeom>
          <a:noFill/>
        </p:spPr>
        <p:txBody>
          <a:bodyPr vertOverflow="overflow" vert="horz" wrap="square" rtlCol="0" anchor="ctr" anchorCtr="0">
            <a:spAutoFit/>
          </a:bodyPr>
          <a:lstStyle/>
          <a:p>
            <a:pPr algn="l"/>
            <a:r>
              <a:rPr lang="fr-FR" sz="1900" b="1">
                <a:solidFill>
                  <a:srgbClr val="0B2A4A"/>
                </a:solidFill>
                <a:latin typeface="Calibri"/>
                <a:ea typeface="Calibri"/>
                <a:cs typeface="Calibri"/>
              </a:rPr>
              <a:t>Architecture modulaire</a:t>
            </a:r>
          </a:p>
        </p:txBody>
      </p:sp>
      <p:sp>
        <p:nvSpPr>
          <p:cNvPr id="16" name="ZoneTexte 15">
            <a:extLst>
              <a:ext uri="{FF2B5EF4-FFF2-40B4-BE49-F238E27FC236}">
                <a16:creationId xmlns:a16="http://schemas.microsoft.com/office/drawing/2014/main" id="{2572D603-C82B-4CFD-A414-7E4C7D8F432E}"/>
              </a:ext>
            </a:extLst>
          </p:cNvPr>
          <p:cNvSpPr txBox="1"/>
          <p:nvPr/>
        </p:nvSpPr>
        <p:spPr>
          <a:xfrm>
            <a:off x="8102600" y="4483100"/>
            <a:ext cx="3022600" cy="1524000"/>
          </a:xfrm>
          <a:prstGeom prst="rect">
            <a:avLst/>
          </a:prstGeom>
          <a:noFill/>
        </p:spPr>
        <p:txBody>
          <a:bodyPr vertOverflow="overflow" vert="horz" wrap="square" rtlCol="0" anchor="t" anchorCtr="0">
            <a:spAutoFit/>
          </a:bodyPr>
          <a:lstStyle/>
          <a:p>
            <a:pPr algn="l"/>
            <a:r>
              <a:rPr lang="fr-FR" sz="1500">
                <a:solidFill>
                  <a:srgbClr val="0B2A4A"/>
                </a:solidFill>
                <a:latin typeface="Calibri"/>
                <a:ea typeface="Calibri"/>
                <a:cs typeface="Calibri"/>
              </a:rPr>
              <a:t>Microservices indépendants : montée en charge ciblée, évolutivité et maintenance grandement simplifiées.</a:t>
            </a:r>
          </a:p>
        </p:txBody>
      </p:sp>
      <p:pic>
        <p:nvPicPr>
          <p:cNvPr id="17" name="Graphic 17" descr="Shield — confidentialité"/>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0" y="2870200"/>
            <a:ext cx="609600" cy="609600"/>
          </a:xfrm>
          <a:prstGeom prst="rect">
            <a:avLst/>
          </a:prstGeom>
        </p:spPr>
      </p:pic>
      <p:pic>
        <p:nvPicPr>
          <p:cNvPr id="18" name="Graphic 18" descr="Wand — design modern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3900" y="2870200"/>
            <a:ext cx="609600" cy="609600"/>
          </a:xfrm>
          <a:prstGeom prst="rect">
            <a:avLst/>
          </a:prstGeom>
        </p:spPr>
      </p:pic>
      <p:pic>
        <p:nvPicPr>
          <p:cNvPr id="19" name="Graphic 19" descr="Puzzle — architecture modulaire"/>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21800" y="2870200"/>
            <a:ext cx="609600" cy="609600"/>
          </a:xfrm>
          <a:prstGeom prst="rect">
            <a:avLst/>
          </a:prstGeom>
        </p:spPr>
      </p:pic>
    </p:spTree>
    <p:extLst>
      <p:ext uri="{BB962C8B-B14F-4D97-AF65-F5344CB8AC3E}">
        <p14:creationId xmlns:p14="http://schemas.microsoft.com/office/powerpoint/2010/main" val="1429989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DB3AA-EEAF-7729-72AA-3BC166005E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40FD6A-7EE1-1779-DBD0-CC696EBF7702}"/>
              </a:ext>
            </a:extLst>
          </p:cNvPr>
          <p:cNvSpPr txBox="1"/>
          <p:nvPr/>
        </p:nvSpPr>
        <p:spPr>
          <a:xfrm>
            <a:off x="215590" y="196849"/>
            <a:ext cx="10668000" cy="304800"/>
          </a:xfrm>
          <a:prstGeom prst="rect">
            <a:avLst/>
          </a:prstGeom>
          <a:noFill/>
        </p:spPr>
        <p:txBody>
          <a:bodyPr vertOverflow="overflow" vert="horz" wrap="square" rtlCol="0" anchor="ctr" anchorCtr="0">
            <a:spAutoFit/>
          </a:bodyPr>
          <a:lstStyle/>
          <a:p>
            <a:pPr algn="l"/>
            <a:r>
              <a:rPr lang="en-US" sz="1400" b="1">
                <a:solidFill>
                  <a:srgbClr val="00C2CB"/>
                </a:solidFill>
                <a:latin typeface="Montserrat"/>
              </a:rPr>
              <a:t>BREEZY · SOUTENANCE FISA INFO A3</a:t>
            </a:r>
          </a:p>
        </p:txBody>
      </p:sp>
      <p:sp>
        <p:nvSpPr>
          <p:cNvPr id="3" name="TextBox 2">
            <a:extLst>
              <a:ext uri="{FF2B5EF4-FFF2-40B4-BE49-F238E27FC236}">
                <a16:creationId xmlns:a16="http://schemas.microsoft.com/office/drawing/2014/main" id="{4F2A689D-7500-72C7-F53C-1ADA6AA4B99B}"/>
              </a:ext>
            </a:extLst>
          </p:cNvPr>
          <p:cNvSpPr txBox="1"/>
          <p:nvPr/>
        </p:nvSpPr>
        <p:spPr>
          <a:xfrm>
            <a:off x="2864004" y="2921168"/>
            <a:ext cx="6463991" cy="1015663"/>
          </a:xfrm>
          <a:prstGeom prst="rect">
            <a:avLst/>
          </a:prstGeom>
          <a:noFill/>
        </p:spPr>
        <p:txBody>
          <a:bodyPr vertOverflow="overflow" vert="horz" wrap="square" rtlCol="0" anchor="ctr" anchorCtr="0">
            <a:spAutoFit/>
          </a:bodyPr>
          <a:lstStyle/>
          <a:p>
            <a:pPr algn="l"/>
            <a:r>
              <a:rPr lang="en-US" sz="6000" b="1" err="1">
                <a:solidFill>
                  <a:srgbClr val="0B2A4A"/>
                </a:solidFill>
                <a:latin typeface="Montserrat"/>
              </a:rPr>
              <a:t>Démonstration</a:t>
            </a:r>
            <a:endParaRPr lang="en-US" sz="6000" b="1">
              <a:solidFill>
                <a:srgbClr val="0B2A4A"/>
              </a:solidFill>
              <a:latin typeface="Montserrat"/>
            </a:endParaRPr>
          </a:p>
        </p:txBody>
      </p:sp>
      <p:sp>
        <p:nvSpPr>
          <p:cNvPr id="7" name="Espace réservé du numéro de diapositive 6">
            <a:extLst>
              <a:ext uri="{FF2B5EF4-FFF2-40B4-BE49-F238E27FC236}">
                <a16:creationId xmlns:a16="http://schemas.microsoft.com/office/drawing/2014/main" id="{87463C66-675A-0D63-44F2-C66878693985}"/>
              </a:ext>
            </a:extLst>
          </p:cNvPr>
          <p:cNvSpPr>
            <a:spLocks noGrp="1"/>
          </p:cNvSpPr>
          <p:nvPr>
            <p:ph type="sldNum" sz="quarter" idx="12"/>
          </p:nvPr>
        </p:nvSpPr>
        <p:spPr/>
        <p:txBody>
          <a:bodyPr/>
          <a:lstStyle/>
          <a:p>
            <a:fld id="{27C6CCC6-2BE5-4E42-96A4-D1E8E81A3D8E}" type="slidenum">
              <a:rPr lang="fr-FR" smtClean="0"/>
              <a:t>8</a:t>
            </a:fld>
            <a:endParaRPr lang="fr-FR"/>
          </a:p>
        </p:txBody>
      </p:sp>
    </p:spTree>
    <p:extLst>
      <p:ext uri="{BB962C8B-B14F-4D97-AF65-F5344CB8AC3E}">
        <p14:creationId xmlns:p14="http://schemas.microsoft.com/office/powerpoint/2010/main" val="3523155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7EE4DC-CBF8-4938-98E4-BFE42F1161D1}"/>
              </a:ext>
            </a:extLst>
          </p:cNvPr>
          <p:cNvSpPr txBox="1"/>
          <p:nvPr/>
        </p:nvSpPr>
        <p:spPr>
          <a:xfrm>
            <a:off x="762000" y="1905000"/>
            <a:ext cx="10668000" cy="304800"/>
          </a:xfrm>
          <a:prstGeom prst="rect">
            <a:avLst/>
          </a:prstGeom>
          <a:noFill/>
        </p:spPr>
        <p:txBody>
          <a:bodyPr vertOverflow="overflow" vert="horz" wrap="square" rtlCol="0" anchor="ctr" anchorCtr="0">
            <a:spAutoFit/>
          </a:bodyPr>
          <a:lstStyle/>
          <a:p>
            <a:pPr algn="l"/>
            <a:r>
              <a:rPr lang="en-US" sz="1400" b="1">
                <a:solidFill>
                  <a:srgbClr val="00C2CB"/>
                </a:solidFill>
                <a:latin typeface="Montserrat"/>
              </a:rPr>
              <a:t>BREEZY · SOUTENANCE FISA INFO A3</a:t>
            </a:r>
          </a:p>
        </p:txBody>
      </p:sp>
      <p:sp>
        <p:nvSpPr>
          <p:cNvPr id="3" name="TextBox 2">
            <a:extLst>
              <a:ext uri="{FF2B5EF4-FFF2-40B4-BE49-F238E27FC236}">
                <a16:creationId xmlns:a16="http://schemas.microsoft.com/office/drawing/2014/main" id="{2A4E1745-6E69-42EA-A3A5-E3097CDA7CBB}"/>
              </a:ext>
            </a:extLst>
          </p:cNvPr>
          <p:cNvSpPr txBox="1"/>
          <p:nvPr/>
        </p:nvSpPr>
        <p:spPr>
          <a:xfrm>
            <a:off x="762000" y="2286000"/>
            <a:ext cx="10668000" cy="1016000"/>
          </a:xfrm>
          <a:prstGeom prst="rect">
            <a:avLst/>
          </a:prstGeom>
          <a:noFill/>
        </p:spPr>
        <p:txBody>
          <a:bodyPr vertOverflow="overflow" vert="horz" wrap="square" rtlCol="0" anchor="ctr" anchorCtr="0">
            <a:spAutoFit/>
          </a:bodyPr>
          <a:lstStyle/>
          <a:p>
            <a:pPr algn="l"/>
            <a:r>
              <a:rPr lang="en-US" sz="6000" b="1">
                <a:solidFill>
                  <a:srgbClr val="0B2A4A"/>
                </a:solidFill>
                <a:latin typeface="Montserrat"/>
              </a:rPr>
              <a:t>Merci !</a:t>
            </a:r>
          </a:p>
        </p:txBody>
      </p:sp>
      <p:sp>
        <p:nvSpPr>
          <p:cNvPr id="4" name="Rectangle 3">
            <a:extLst>
              <a:ext uri="{FF2B5EF4-FFF2-40B4-BE49-F238E27FC236}">
                <a16:creationId xmlns:a16="http://schemas.microsoft.com/office/drawing/2014/main" id="{D09301D7-E8E3-4994-B915-E81BCC5B4BF3}"/>
              </a:ext>
            </a:extLst>
          </p:cNvPr>
          <p:cNvSpPr/>
          <p:nvPr/>
        </p:nvSpPr>
        <p:spPr>
          <a:xfrm>
            <a:off x="889000" y="3403600"/>
            <a:ext cx="1143000" cy="50800"/>
          </a:xfrm>
          <a:prstGeom prst="rect">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7546F184-5DDE-4B51-B7A3-4FF654B23811}"/>
              </a:ext>
            </a:extLst>
          </p:cNvPr>
          <p:cNvSpPr txBox="1"/>
          <p:nvPr/>
        </p:nvSpPr>
        <p:spPr>
          <a:xfrm>
            <a:off x="762000" y="3759200"/>
            <a:ext cx="10668000" cy="431800"/>
          </a:xfrm>
          <a:prstGeom prst="rect">
            <a:avLst/>
          </a:prstGeom>
          <a:noFill/>
        </p:spPr>
        <p:txBody>
          <a:bodyPr vertOverflow="overflow" vert="horz" wrap="square" rtlCol="0" anchor="ctr" anchorCtr="0">
            <a:spAutoFit/>
          </a:bodyPr>
          <a:lstStyle/>
          <a:p>
            <a:pPr algn="l"/>
            <a:r>
              <a:rPr lang="en-US" sz="2400">
                <a:solidFill>
                  <a:srgbClr val="2D7FF9"/>
                </a:solidFill>
                <a:latin typeface="Open Sans"/>
                <a:ea typeface="Open Sans"/>
                <a:cs typeface="Open Sans"/>
              </a:rPr>
              <a:t>Des questions ?</a:t>
            </a:r>
          </a:p>
        </p:txBody>
      </p:sp>
      <p:sp>
        <p:nvSpPr>
          <p:cNvPr id="6" name="TextBox 5">
            <a:extLst>
              <a:ext uri="{FF2B5EF4-FFF2-40B4-BE49-F238E27FC236}">
                <a16:creationId xmlns:a16="http://schemas.microsoft.com/office/drawing/2014/main" id="{46BA700C-AFC9-4A03-A1E4-82AF6FB307AD}"/>
              </a:ext>
            </a:extLst>
          </p:cNvPr>
          <p:cNvSpPr txBox="1"/>
          <p:nvPr/>
        </p:nvSpPr>
        <p:spPr>
          <a:xfrm>
            <a:off x="762000" y="4521200"/>
            <a:ext cx="10668000" cy="304800"/>
          </a:xfrm>
          <a:prstGeom prst="rect">
            <a:avLst/>
          </a:prstGeom>
          <a:noFill/>
        </p:spPr>
        <p:txBody>
          <a:bodyPr vertOverflow="overflow" vert="horz" wrap="square" rtlCol="0" anchor="ctr" anchorCtr="0">
            <a:spAutoFit/>
          </a:bodyPr>
          <a:lstStyle/>
          <a:p>
            <a:pPr algn="l"/>
            <a:r>
              <a:rPr lang="en-US" sz="1600">
                <a:solidFill>
                  <a:srgbClr val="6C8CB5"/>
                </a:solidFill>
                <a:latin typeface="Open Sans"/>
                <a:ea typeface="Open Sans"/>
                <a:cs typeface="Open Sans"/>
              </a:rPr>
              <a:t>Philippe LUU   ·   Alexandre RIVET   ·   Romain TOUZE   ·   Maxime STOFFEL</a:t>
            </a:r>
          </a:p>
        </p:txBody>
      </p:sp>
      <p:sp>
        <p:nvSpPr>
          <p:cNvPr id="7" name="Espace réservé du numéro de diapositive 6">
            <a:extLst>
              <a:ext uri="{FF2B5EF4-FFF2-40B4-BE49-F238E27FC236}">
                <a16:creationId xmlns:a16="http://schemas.microsoft.com/office/drawing/2014/main" id="{50FF082E-68AB-A30E-D086-2F32564EB747}"/>
              </a:ext>
            </a:extLst>
          </p:cNvPr>
          <p:cNvSpPr>
            <a:spLocks noGrp="1"/>
          </p:cNvSpPr>
          <p:nvPr>
            <p:ph type="sldNum" sz="quarter" idx="12"/>
          </p:nvPr>
        </p:nvSpPr>
        <p:spPr/>
        <p:txBody>
          <a:bodyPr/>
          <a:lstStyle/>
          <a:p>
            <a:fld id="{27C6CCC6-2BE5-4E42-96A4-D1E8E81A3D8E}" type="slidenum">
              <a:rPr lang="fr-FR" smtClean="0"/>
              <a:t>9</a:t>
            </a:fld>
            <a:endParaRPr lang="fr-FR"/>
          </a:p>
        </p:txBody>
      </p:sp>
    </p:spTree>
    <p:extLst>
      <p:ext uri="{BB962C8B-B14F-4D97-AF65-F5344CB8AC3E}">
        <p14:creationId xmlns:p14="http://schemas.microsoft.com/office/powerpoint/2010/main" val="2179049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BA750F-B2B6-4BAB-B03D-634D31403E96}"/>
              </a:ext>
            </a:extLst>
          </p:cNvPr>
          <p:cNvSpPr txBox="1"/>
          <p:nvPr/>
        </p:nvSpPr>
        <p:spPr>
          <a:xfrm>
            <a:off x="762000" y="431800"/>
            <a:ext cx="10668000" cy="279400"/>
          </a:xfrm>
          <a:prstGeom prst="rect">
            <a:avLst/>
          </a:prstGeom>
          <a:noFill/>
        </p:spPr>
        <p:txBody>
          <a:bodyPr vertOverflow="overflow" vert="horz" wrap="square" rtlCol="0" anchor="t" anchorCtr="0">
            <a:spAutoFit/>
          </a:bodyPr>
          <a:lstStyle/>
          <a:p>
            <a:pPr algn="l"/>
            <a:r>
              <a:rPr lang="en-US" sz="1300" b="1">
                <a:solidFill>
                  <a:srgbClr val="00C2CB"/>
                </a:solidFill>
                <a:latin typeface="Montserrat"/>
              </a:rPr>
              <a:t>QUESTIONS DU JURY · GESTION DE PROJET</a:t>
            </a:r>
          </a:p>
        </p:txBody>
      </p:sp>
      <p:sp>
        <p:nvSpPr>
          <p:cNvPr id="3" name="TextBox 2">
            <a:extLst>
              <a:ext uri="{FF2B5EF4-FFF2-40B4-BE49-F238E27FC236}">
                <a16:creationId xmlns:a16="http://schemas.microsoft.com/office/drawing/2014/main" id="{C028A8F4-5CA2-4E70-BEDB-68F11CA4CA6C}"/>
              </a:ext>
            </a:extLst>
          </p:cNvPr>
          <p:cNvSpPr txBox="1"/>
          <p:nvPr/>
        </p:nvSpPr>
        <p:spPr>
          <a:xfrm>
            <a:off x="762000" y="736600"/>
            <a:ext cx="10668000" cy="584200"/>
          </a:xfrm>
          <a:prstGeom prst="rect">
            <a:avLst/>
          </a:prstGeom>
          <a:noFill/>
        </p:spPr>
        <p:txBody>
          <a:bodyPr vertOverflow="overflow" vert="horz" wrap="square" rtlCol="0" anchor="t" anchorCtr="0">
            <a:spAutoFit/>
          </a:bodyPr>
          <a:lstStyle/>
          <a:p>
            <a:pPr algn="l"/>
            <a:r>
              <a:rPr lang="en-US" sz="3000" b="1">
                <a:solidFill>
                  <a:srgbClr val="0B2A4A"/>
                </a:solidFill>
                <a:latin typeface="Montserrat"/>
              </a:rPr>
              <a:t>Une conduite de projet agile et tracée</a:t>
            </a:r>
          </a:p>
        </p:txBody>
      </p:sp>
      <p:sp>
        <p:nvSpPr>
          <p:cNvPr id="4" name="Rectangle: Rounded Corners 3">
            <a:extLst>
              <a:ext uri="{FF2B5EF4-FFF2-40B4-BE49-F238E27FC236}">
                <a16:creationId xmlns:a16="http://schemas.microsoft.com/office/drawing/2014/main" id="{4F0097C3-0211-4D80-B6FC-8ACA8C97013F}"/>
              </a:ext>
            </a:extLst>
          </p:cNvPr>
          <p:cNvSpPr/>
          <p:nvPr/>
        </p:nvSpPr>
        <p:spPr>
          <a:xfrm>
            <a:off x="762000" y="19050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B88071BB-EB08-4D18-BAAE-A3E83F9CFCAF}"/>
              </a:ext>
            </a:extLst>
          </p:cNvPr>
          <p:cNvSpPr/>
          <p:nvPr/>
        </p:nvSpPr>
        <p:spPr>
          <a:xfrm>
            <a:off x="1041400" y="21844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1</a:t>
            </a:r>
          </a:p>
        </p:txBody>
      </p:sp>
      <p:sp>
        <p:nvSpPr>
          <p:cNvPr id="6" name="TextBox 5">
            <a:extLst>
              <a:ext uri="{FF2B5EF4-FFF2-40B4-BE49-F238E27FC236}">
                <a16:creationId xmlns:a16="http://schemas.microsoft.com/office/drawing/2014/main" id="{BC6CDBF6-1188-40A0-959F-D8C0B9F39ED1}"/>
              </a:ext>
            </a:extLst>
          </p:cNvPr>
          <p:cNvSpPr txBox="1"/>
          <p:nvPr/>
        </p:nvSpPr>
        <p:spPr>
          <a:xfrm>
            <a:off x="1651000" y="22352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Méthodologie</a:t>
            </a:r>
          </a:p>
        </p:txBody>
      </p:sp>
      <p:sp>
        <p:nvSpPr>
          <p:cNvPr id="7" name="TextBox 6">
            <a:extLst>
              <a:ext uri="{FF2B5EF4-FFF2-40B4-BE49-F238E27FC236}">
                <a16:creationId xmlns:a16="http://schemas.microsoft.com/office/drawing/2014/main" id="{A5A2898A-94CA-477E-803D-4A2055A89C94}"/>
              </a:ext>
            </a:extLst>
          </p:cNvPr>
          <p:cNvSpPr txBox="1"/>
          <p:nvPr/>
        </p:nvSpPr>
        <p:spPr>
          <a:xfrm>
            <a:off x="1066800" y="28448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Agile / Scrum avec un Scrum Master dédié, itérations courtes et points quotidiens sur Discord.</a:t>
            </a:r>
          </a:p>
        </p:txBody>
      </p:sp>
      <p:sp>
        <p:nvSpPr>
          <p:cNvPr id="8" name="Rectangle: Rounded Corners 7">
            <a:extLst>
              <a:ext uri="{FF2B5EF4-FFF2-40B4-BE49-F238E27FC236}">
                <a16:creationId xmlns:a16="http://schemas.microsoft.com/office/drawing/2014/main" id="{23030D52-BE15-41B8-8824-3F29DF8E063B}"/>
              </a:ext>
            </a:extLst>
          </p:cNvPr>
          <p:cNvSpPr/>
          <p:nvPr/>
        </p:nvSpPr>
        <p:spPr>
          <a:xfrm>
            <a:off x="6350000" y="19050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DEF3B1BD-C615-47EC-B0C2-31CB5C7BA8DD}"/>
              </a:ext>
            </a:extLst>
          </p:cNvPr>
          <p:cNvSpPr/>
          <p:nvPr/>
        </p:nvSpPr>
        <p:spPr>
          <a:xfrm>
            <a:off x="6629400" y="21844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2</a:t>
            </a:r>
          </a:p>
        </p:txBody>
      </p:sp>
      <p:sp>
        <p:nvSpPr>
          <p:cNvPr id="10" name="TextBox 9">
            <a:extLst>
              <a:ext uri="{FF2B5EF4-FFF2-40B4-BE49-F238E27FC236}">
                <a16:creationId xmlns:a16="http://schemas.microsoft.com/office/drawing/2014/main" id="{4B1CE825-C4E5-49F2-A97B-31D0A648D1F7}"/>
              </a:ext>
            </a:extLst>
          </p:cNvPr>
          <p:cNvSpPr txBox="1"/>
          <p:nvPr/>
        </p:nvSpPr>
        <p:spPr>
          <a:xfrm>
            <a:off x="7239000" y="22352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Pilotage &amp; outils</a:t>
            </a:r>
          </a:p>
        </p:txBody>
      </p:sp>
      <p:sp>
        <p:nvSpPr>
          <p:cNvPr id="11" name="TextBox 10">
            <a:extLst>
              <a:ext uri="{FF2B5EF4-FFF2-40B4-BE49-F238E27FC236}">
                <a16:creationId xmlns:a16="http://schemas.microsoft.com/office/drawing/2014/main" id="{307DF3A3-6DFF-4AA5-900D-80E020DF93EE}"/>
              </a:ext>
            </a:extLst>
          </p:cNvPr>
          <p:cNvSpPr txBox="1"/>
          <p:nvPr/>
        </p:nvSpPr>
        <p:spPr>
          <a:xfrm>
            <a:off x="6654800" y="28448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GitHub Projects (Kanban), issues étiquetées par domaine et par phase, Pull Requests et revue par les pairs.</a:t>
            </a:r>
          </a:p>
        </p:txBody>
      </p:sp>
      <p:sp>
        <p:nvSpPr>
          <p:cNvPr id="12" name="Rectangle: Rounded Corners 11">
            <a:extLst>
              <a:ext uri="{FF2B5EF4-FFF2-40B4-BE49-F238E27FC236}">
                <a16:creationId xmlns:a16="http://schemas.microsoft.com/office/drawing/2014/main" id="{2C5C14AC-7150-47E9-B873-B4B705D7AF3E}"/>
              </a:ext>
            </a:extLst>
          </p:cNvPr>
          <p:cNvSpPr/>
          <p:nvPr/>
        </p:nvSpPr>
        <p:spPr>
          <a:xfrm>
            <a:off x="762000" y="42545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A7AF7AE8-7E7E-497B-A645-9F211F0B89D9}"/>
              </a:ext>
            </a:extLst>
          </p:cNvPr>
          <p:cNvSpPr/>
          <p:nvPr/>
        </p:nvSpPr>
        <p:spPr>
          <a:xfrm>
            <a:off x="1041400" y="45339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3</a:t>
            </a:r>
          </a:p>
        </p:txBody>
      </p:sp>
      <p:sp>
        <p:nvSpPr>
          <p:cNvPr id="14" name="TextBox 13">
            <a:extLst>
              <a:ext uri="{FF2B5EF4-FFF2-40B4-BE49-F238E27FC236}">
                <a16:creationId xmlns:a16="http://schemas.microsoft.com/office/drawing/2014/main" id="{7831CF75-4296-4864-8A3F-3485263A3723}"/>
              </a:ext>
            </a:extLst>
          </p:cNvPr>
          <p:cNvSpPr txBox="1"/>
          <p:nvPr/>
        </p:nvSpPr>
        <p:spPr>
          <a:xfrm>
            <a:off x="1651000" y="45847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Planning</a:t>
            </a:r>
          </a:p>
        </p:txBody>
      </p:sp>
      <p:sp>
        <p:nvSpPr>
          <p:cNvPr id="15" name="TextBox 14">
            <a:extLst>
              <a:ext uri="{FF2B5EF4-FFF2-40B4-BE49-F238E27FC236}">
                <a16:creationId xmlns:a16="http://schemas.microsoft.com/office/drawing/2014/main" id="{0A3BE2F6-C18B-43A4-98D9-3F7CE914EBF3}"/>
              </a:ext>
            </a:extLst>
          </p:cNvPr>
          <p:cNvSpPr txBox="1"/>
          <p:nvPr/>
        </p:nvSpPr>
        <p:spPr>
          <a:xfrm>
            <a:off x="1066800" y="51943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6 phases de la conception à la qualité, ~210 tâches traitées et jalons de sortie clairs à chaque étape.</a:t>
            </a:r>
          </a:p>
        </p:txBody>
      </p:sp>
      <p:sp>
        <p:nvSpPr>
          <p:cNvPr id="16" name="Rectangle: Rounded Corners 15">
            <a:extLst>
              <a:ext uri="{FF2B5EF4-FFF2-40B4-BE49-F238E27FC236}">
                <a16:creationId xmlns:a16="http://schemas.microsoft.com/office/drawing/2014/main" id="{3EC6EC51-737F-4C4A-B663-E395FD4BD863}"/>
              </a:ext>
            </a:extLst>
          </p:cNvPr>
          <p:cNvSpPr/>
          <p:nvPr/>
        </p:nvSpPr>
        <p:spPr>
          <a:xfrm>
            <a:off x="6350000" y="42545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a:extLst>
              <a:ext uri="{FF2B5EF4-FFF2-40B4-BE49-F238E27FC236}">
                <a16:creationId xmlns:a16="http://schemas.microsoft.com/office/drawing/2014/main" id="{96FBEC30-ABC0-48B0-941E-2FE4030918D1}"/>
              </a:ext>
            </a:extLst>
          </p:cNvPr>
          <p:cNvSpPr/>
          <p:nvPr/>
        </p:nvSpPr>
        <p:spPr>
          <a:xfrm>
            <a:off x="6629400" y="45339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4</a:t>
            </a:r>
          </a:p>
        </p:txBody>
      </p:sp>
      <p:sp>
        <p:nvSpPr>
          <p:cNvPr id="18" name="TextBox 17">
            <a:extLst>
              <a:ext uri="{FF2B5EF4-FFF2-40B4-BE49-F238E27FC236}">
                <a16:creationId xmlns:a16="http://schemas.microsoft.com/office/drawing/2014/main" id="{1FE7B085-0FEA-49B2-B742-6DB5EEBFF293}"/>
              </a:ext>
            </a:extLst>
          </p:cNvPr>
          <p:cNvSpPr txBox="1"/>
          <p:nvPr/>
        </p:nvSpPr>
        <p:spPr>
          <a:xfrm>
            <a:off x="7239000" y="45847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Gestion des risques</a:t>
            </a:r>
          </a:p>
        </p:txBody>
      </p:sp>
      <p:sp>
        <p:nvSpPr>
          <p:cNvPr id="19" name="TextBox 18">
            <a:extLst>
              <a:ext uri="{FF2B5EF4-FFF2-40B4-BE49-F238E27FC236}">
                <a16:creationId xmlns:a16="http://schemas.microsoft.com/office/drawing/2014/main" id="{A74A76ED-7DAA-4F70-811A-809AAF0415A2}"/>
              </a:ext>
            </a:extLst>
          </p:cNvPr>
          <p:cNvSpPr txBox="1"/>
          <p:nvPr/>
        </p:nvSpPr>
        <p:spPr>
          <a:xfrm>
            <a:off x="6654800" y="51943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6 risques majeurs identifiés et tracés (mise en prod, E2EE, i18n, responsive) — 100 % résolus.</a:t>
            </a:r>
          </a:p>
        </p:txBody>
      </p:sp>
      <p:sp>
        <p:nvSpPr>
          <p:cNvPr id="20" name="Espace réservé du numéro de diapositive 19">
            <a:extLst>
              <a:ext uri="{FF2B5EF4-FFF2-40B4-BE49-F238E27FC236}">
                <a16:creationId xmlns:a16="http://schemas.microsoft.com/office/drawing/2014/main" id="{586BE191-6069-2CA4-FDC6-A5E91866CE8D}"/>
              </a:ext>
            </a:extLst>
          </p:cNvPr>
          <p:cNvSpPr>
            <a:spLocks noGrp="1"/>
          </p:cNvSpPr>
          <p:nvPr>
            <p:ph type="sldNum" sz="quarter" idx="12"/>
          </p:nvPr>
        </p:nvSpPr>
        <p:spPr/>
        <p:txBody>
          <a:bodyPr/>
          <a:lstStyle/>
          <a:p>
            <a:fld id="{27C6CCC6-2BE5-4E42-96A4-D1E8E81A3D8E}" type="slidenum">
              <a:rPr lang="fr-FR" smtClean="0"/>
              <a:t>10</a:t>
            </a:fld>
            <a:endParaRPr lang="fr-FR"/>
          </a:p>
        </p:txBody>
      </p:sp>
    </p:spTree>
    <p:extLst>
      <p:ext uri="{BB962C8B-B14F-4D97-AF65-F5344CB8AC3E}">
        <p14:creationId xmlns:p14="http://schemas.microsoft.com/office/powerpoint/2010/main" val="648181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C8CB713-3ACB-4B82-83A5-8E16E86A21BF}"/>
              </a:ext>
            </a:extLst>
          </p:cNvPr>
          <p:cNvSpPr/>
          <p:nvPr/>
        </p:nvSpPr>
        <p:spPr>
          <a:xfrm>
            <a:off x="11487150"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7C55A39E-BC56-4FFF-91F9-50511A6E8035}"/>
              </a:ext>
            </a:extLst>
          </p:cNvPr>
          <p:cNvSpPr/>
          <p:nvPr/>
        </p:nvSpPr>
        <p:spPr>
          <a:xfrm>
            <a:off x="10846377"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B7204E6D-FBBA-4441-9283-B780D3A77758}"/>
              </a:ext>
            </a:extLst>
          </p:cNvPr>
          <p:cNvSpPr/>
          <p:nvPr/>
        </p:nvSpPr>
        <p:spPr>
          <a:xfrm>
            <a:off x="10205604"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6C53D8A3-DD67-4897-B052-5E712B84B778}"/>
              </a:ext>
            </a:extLst>
          </p:cNvPr>
          <p:cNvSpPr/>
          <p:nvPr/>
        </p:nvSpPr>
        <p:spPr>
          <a:xfrm>
            <a:off x="9564831"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3370BE6B-A969-4100-AB88-C57E58BB4818}"/>
              </a:ext>
            </a:extLst>
          </p:cNvPr>
          <p:cNvSpPr/>
          <p:nvPr/>
        </p:nvSpPr>
        <p:spPr>
          <a:xfrm>
            <a:off x="8924059"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CE6BDB96-6DF8-4D82-84D7-B2D1C35C4F4B}"/>
              </a:ext>
            </a:extLst>
          </p:cNvPr>
          <p:cNvSpPr/>
          <p:nvPr/>
        </p:nvSpPr>
        <p:spPr>
          <a:xfrm>
            <a:off x="8283286"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36979A71-D182-4E52-B8B1-41A6FB0339F1}"/>
              </a:ext>
            </a:extLst>
          </p:cNvPr>
          <p:cNvSpPr/>
          <p:nvPr/>
        </p:nvSpPr>
        <p:spPr>
          <a:xfrm>
            <a:off x="7642513"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619F7957-E920-4D1C-9013-16C18362D497}"/>
              </a:ext>
            </a:extLst>
          </p:cNvPr>
          <p:cNvSpPr/>
          <p:nvPr/>
        </p:nvSpPr>
        <p:spPr>
          <a:xfrm>
            <a:off x="7001740"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6AE844E9-1DC7-43A1-AC39-1BAEF82F17CB}"/>
              </a:ext>
            </a:extLst>
          </p:cNvPr>
          <p:cNvSpPr/>
          <p:nvPr/>
        </p:nvSpPr>
        <p:spPr>
          <a:xfrm>
            <a:off x="6360968"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191809D8-A0E5-4B40-9623-56DD28160C1E}"/>
              </a:ext>
            </a:extLst>
          </p:cNvPr>
          <p:cNvSpPr/>
          <p:nvPr/>
        </p:nvSpPr>
        <p:spPr>
          <a:xfrm>
            <a:off x="5720195"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0EBBAD99-336F-485C-ABF5-4A13241BA09F}"/>
              </a:ext>
            </a:extLst>
          </p:cNvPr>
          <p:cNvSpPr/>
          <p:nvPr/>
        </p:nvSpPr>
        <p:spPr>
          <a:xfrm>
            <a:off x="5079422"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04CFAA64-144B-49D6-AFC2-A1163324F1EE}"/>
              </a:ext>
            </a:extLst>
          </p:cNvPr>
          <p:cNvSpPr/>
          <p:nvPr/>
        </p:nvSpPr>
        <p:spPr>
          <a:xfrm>
            <a:off x="4438650" y="1905000"/>
            <a:ext cx="12700" cy="3429000"/>
          </a:xfrm>
          <a:prstGeom prst="rect">
            <a:avLst/>
          </a:prstGeom>
          <a:solidFill>
            <a:srgbClr val="E3EC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21E38599-F730-422B-B635-49EBFCDCBBC6}"/>
              </a:ext>
            </a:extLst>
          </p:cNvPr>
          <p:cNvSpPr txBox="1"/>
          <p:nvPr/>
        </p:nvSpPr>
        <p:spPr>
          <a:xfrm>
            <a:off x="762000" y="431800"/>
            <a:ext cx="10668000" cy="279400"/>
          </a:xfrm>
          <a:prstGeom prst="rect">
            <a:avLst/>
          </a:prstGeom>
          <a:noFill/>
        </p:spPr>
        <p:txBody>
          <a:bodyPr vertOverflow="overflow" vert="horz" wrap="none" rtlCol="0" anchor="t">
            <a:spAutoFit/>
          </a:bodyPr>
          <a:lstStyle/>
          <a:p>
            <a:pPr algn="l"/>
            <a:r>
              <a:rPr lang="en-US" sz="1300" b="1">
                <a:solidFill>
                  <a:srgbClr val="00C2CB"/>
                </a:solidFill>
                <a:latin typeface="Montserrat"/>
              </a:rPr>
              <a:t>GESTION DE PROJET</a:t>
            </a:r>
          </a:p>
        </p:txBody>
      </p:sp>
      <p:sp>
        <p:nvSpPr>
          <p:cNvPr id="3" name="TextBox 2">
            <a:extLst>
              <a:ext uri="{FF2B5EF4-FFF2-40B4-BE49-F238E27FC236}">
                <a16:creationId xmlns:a16="http://schemas.microsoft.com/office/drawing/2014/main" id="{D3F36FB0-EE64-4F4A-B04D-2E229B3659E0}"/>
              </a:ext>
            </a:extLst>
          </p:cNvPr>
          <p:cNvSpPr txBox="1"/>
          <p:nvPr/>
        </p:nvSpPr>
        <p:spPr>
          <a:xfrm>
            <a:off x="762000" y="736600"/>
            <a:ext cx="10668000" cy="584200"/>
          </a:xfrm>
          <a:prstGeom prst="rect">
            <a:avLst/>
          </a:prstGeom>
          <a:noFill/>
        </p:spPr>
        <p:txBody>
          <a:bodyPr vertOverflow="overflow" vert="horz" wrap="none" rtlCol="0" anchor="t">
            <a:spAutoFit/>
          </a:bodyPr>
          <a:lstStyle/>
          <a:p>
            <a:pPr algn="l"/>
            <a:r>
              <a:rPr lang="en-US" sz="3000" b="1">
                <a:solidFill>
                  <a:srgbClr val="0B2A4A"/>
                </a:solidFill>
                <a:latin typeface="Montserrat"/>
              </a:rPr>
              <a:t>Une roadmap en 6 phases</a:t>
            </a:r>
          </a:p>
        </p:txBody>
      </p:sp>
      <p:sp>
        <p:nvSpPr>
          <p:cNvPr id="4" name="TextBox 3">
            <a:extLst>
              <a:ext uri="{FF2B5EF4-FFF2-40B4-BE49-F238E27FC236}">
                <a16:creationId xmlns:a16="http://schemas.microsoft.com/office/drawing/2014/main" id="{61B9A475-F6E2-4602-976C-B20613B37B71}"/>
              </a:ext>
            </a:extLst>
          </p:cNvPr>
          <p:cNvSpPr txBox="1"/>
          <p:nvPr/>
        </p:nvSpPr>
        <p:spPr>
          <a:xfrm>
            <a:off x="762000" y="1371600"/>
            <a:ext cx="10668000" cy="279400"/>
          </a:xfrm>
          <a:prstGeom prst="rect">
            <a:avLst/>
          </a:prstGeom>
          <a:noFill/>
        </p:spPr>
        <p:txBody>
          <a:bodyPr vertOverflow="overflow" vert="horz" wrap="none" rtlCol="0" anchor="t">
            <a:spAutoFit/>
          </a:bodyPr>
          <a:lstStyle/>
          <a:p>
            <a:pPr algn="l"/>
            <a:r>
              <a:rPr lang="en-US" sz="1400">
                <a:solidFill>
                  <a:srgbClr val="6C8CB5"/>
                </a:solidFill>
                <a:latin typeface="Open Sans"/>
                <a:ea typeface="Open Sans"/>
                <a:cs typeface="Open Sans"/>
              </a:rPr>
              <a:t>210+ issues livrées en juin 2026 · barre = période d'activité · ◆ médiane</a:t>
            </a:r>
          </a:p>
        </p:txBody>
      </p:sp>
      <p:sp>
        <p:nvSpPr>
          <p:cNvPr id="17" name="Rectangle 16">
            <a:extLst>
              <a:ext uri="{FF2B5EF4-FFF2-40B4-BE49-F238E27FC236}">
                <a16:creationId xmlns:a16="http://schemas.microsoft.com/office/drawing/2014/main" id="{49D23945-200D-4ED3-9F32-103179132173}"/>
              </a:ext>
            </a:extLst>
          </p:cNvPr>
          <p:cNvSpPr/>
          <p:nvPr/>
        </p:nvSpPr>
        <p:spPr>
          <a:xfrm>
            <a:off x="4445000" y="5334000"/>
            <a:ext cx="7048500" cy="12700"/>
          </a:xfrm>
          <a:prstGeom prst="rect">
            <a:avLst/>
          </a:prstGeom>
          <a:solidFill>
            <a:srgbClr val="C9D6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DB796D53-8395-4CD1-B351-2082F1DD3838}"/>
              </a:ext>
            </a:extLst>
          </p:cNvPr>
          <p:cNvSpPr txBox="1"/>
          <p:nvPr/>
        </p:nvSpPr>
        <p:spPr>
          <a:xfrm>
            <a:off x="4114800"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01/06</a:t>
            </a:r>
          </a:p>
        </p:txBody>
      </p:sp>
      <p:sp>
        <p:nvSpPr>
          <p:cNvPr id="19" name="TextBox 18">
            <a:extLst>
              <a:ext uri="{FF2B5EF4-FFF2-40B4-BE49-F238E27FC236}">
                <a16:creationId xmlns:a16="http://schemas.microsoft.com/office/drawing/2014/main" id="{F8C447D9-ACFE-466F-BDB4-4110BD801291}"/>
              </a:ext>
            </a:extLst>
          </p:cNvPr>
          <p:cNvSpPr txBox="1"/>
          <p:nvPr/>
        </p:nvSpPr>
        <p:spPr>
          <a:xfrm>
            <a:off x="4755572"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03/06</a:t>
            </a:r>
          </a:p>
        </p:txBody>
      </p:sp>
      <p:sp>
        <p:nvSpPr>
          <p:cNvPr id="20" name="TextBox 19">
            <a:extLst>
              <a:ext uri="{FF2B5EF4-FFF2-40B4-BE49-F238E27FC236}">
                <a16:creationId xmlns:a16="http://schemas.microsoft.com/office/drawing/2014/main" id="{A17856E7-3FBF-44A5-8931-4F9E448F960A}"/>
              </a:ext>
            </a:extLst>
          </p:cNvPr>
          <p:cNvSpPr txBox="1"/>
          <p:nvPr/>
        </p:nvSpPr>
        <p:spPr>
          <a:xfrm>
            <a:off x="5396345"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05/06</a:t>
            </a:r>
          </a:p>
        </p:txBody>
      </p:sp>
      <p:sp>
        <p:nvSpPr>
          <p:cNvPr id="21" name="TextBox 20">
            <a:extLst>
              <a:ext uri="{FF2B5EF4-FFF2-40B4-BE49-F238E27FC236}">
                <a16:creationId xmlns:a16="http://schemas.microsoft.com/office/drawing/2014/main" id="{E649A0BF-67BF-441C-9D19-A0135B3566BA}"/>
              </a:ext>
            </a:extLst>
          </p:cNvPr>
          <p:cNvSpPr txBox="1"/>
          <p:nvPr/>
        </p:nvSpPr>
        <p:spPr>
          <a:xfrm>
            <a:off x="6037118"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07/06</a:t>
            </a:r>
          </a:p>
        </p:txBody>
      </p:sp>
      <p:sp>
        <p:nvSpPr>
          <p:cNvPr id="22" name="TextBox 21">
            <a:extLst>
              <a:ext uri="{FF2B5EF4-FFF2-40B4-BE49-F238E27FC236}">
                <a16:creationId xmlns:a16="http://schemas.microsoft.com/office/drawing/2014/main" id="{8EFBBFC8-0427-4BD1-A34B-83964313D429}"/>
              </a:ext>
            </a:extLst>
          </p:cNvPr>
          <p:cNvSpPr txBox="1"/>
          <p:nvPr/>
        </p:nvSpPr>
        <p:spPr>
          <a:xfrm>
            <a:off x="6677890"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09/06</a:t>
            </a:r>
          </a:p>
        </p:txBody>
      </p:sp>
      <p:sp>
        <p:nvSpPr>
          <p:cNvPr id="23" name="TextBox 22">
            <a:extLst>
              <a:ext uri="{FF2B5EF4-FFF2-40B4-BE49-F238E27FC236}">
                <a16:creationId xmlns:a16="http://schemas.microsoft.com/office/drawing/2014/main" id="{5F5590A8-0D81-4396-BD69-3513A1A1CBF3}"/>
              </a:ext>
            </a:extLst>
          </p:cNvPr>
          <p:cNvSpPr txBox="1"/>
          <p:nvPr/>
        </p:nvSpPr>
        <p:spPr>
          <a:xfrm>
            <a:off x="7318663"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11/06</a:t>
            </a:r>
          </a:p>
        </p:txBody>
      </p:sp>
      <p:sp>
        <p:nvSpPr>
          <p:cNvPr id="24" name="TextBox 23">
            <a:extLst>
              <a:ext uri="{FF2B5EF4-FFF2-40B4-BE49-F238E27FC236}">
                <a16:creationId xmlns:a16="http://schemas.microsoft.com/office/drawing/2014/main" id="{2B7B3FE7-BD7F-4D87-BE7F-8F26B2778F66}"/>
              </a:ext>
            </a:extLst>
          </p:cNvPr>
          <p:cNvSpPr txBox="1"/>
          <p:nvPr/>
        </p:nvSpPr>
        <p:spPr>
          <a:xfrm>
            <a:off x="7959436"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13/06</a:t>
            </a:r>
          </a:p>
        </p:txBody>
      </p:sp>
      <p:sp>
        <p:nvSpPr>
          <p:cNvPr id="25" name="TextBox 24">
            <a:extLst>
              <a:ext uri="{FF2B5EF4-FFF2-40B4-BE49-F238E27FC236}">
                <a16:creationId xmlns:a16="http://schemas.microsoft.com/office/drawing/2014/main" id="{927055D0-D995-46FD-AF53-4D9D01AD996F}"/>
              </a:ext>
            </a:extLst>
          </p:cNvPr>
          <p:cNvSpPr txBox="1"/>
          <p:nvPr/>
        </p:nvSpPr>
        <p:spPr>
          <a:xfrm>
            <a:off x="8600209"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15/06</a:t>
            </a:r>
          </a:p>
        </p:txBody>
      </p:sp>
      <p:sp>
        <p:nvSpPr>
          <p:cNvPr id="26" name="TextBox 25">
            <a:extLst>
              <a:ext uri="{FF2B5EF4-FFF2-40B4-BE49-F238E27FC236}">
                <a16:creationId xmlns:a16="http://schemas.microsoft.com/office/drawing/2014/main" id="{B11416E1-E6D7-476B-BF8D-78B40F437D99}"/>
              </a:ext>
            </a:extLst>
          </p:cNvPr>
          <p:cNvSpPr txBox="1"/>
          <p:nvPr/>
        </p:nvSpPr>
        <p:spPr>
          <a:xfrm>
            <a:off x="9240981"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17/06</a:t>
            </a:r>
          </a:p>
        </p:txBody>
      </p:sp>
      <p:sp>
        <p:nvSpPr>
          <p:cNvPr id="27" name="TextBox 26">
            <a:extLst>
              <a:ext uri="{FF2B5EF4-FFF2-40B4-BE49-F238E27FC236}">
                <a16:creationId xmlns:a16="http://schemas.microsoft.com/office/drawing/2014/main" id="{9EED4290-F4A1-411D-904A-8D48C1791971}"/>
              </a:ext>
            </a:extLst>
          </p:cNvPr>
          <p:cNvSpPr txBox="1"/>
          <p:nvPr/>
        </p:nvSpPr>
        <p:spPr>
          <a:xfrm>
            <a:off x="9881754"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19/06</a:t>
            </a:r>
          </a:p>
        </p:txBody>
      </p:sp>
      <p:sp>
        <p:nvSpPr>
          <p:cNvPr id="28" name="TextBox 27">
            <a:extLst>
              <a:ext uri="{FF2B5EF4-FFF2-40B4-BE49-F238E27FC236}">
                <a16:creationId xmlns:a16="http://schemas.microsoft.com/office/drawing/2014/main" id="{B4D6A101-12ED-4FDD-8990-29374570CA67}"/>
              </a:ext>
            </a:extLst>
          </p:cNvPr>
          <p:cNvSpPr txBox="1"/>
          <p:nvPr/>
        </p:nvSpPr>
        <p:spPr>
          <a:xfrm>
            <a:off x="10522527"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21/06</a:t>
            </a:r>
          </a:p>
        </p:txBody>
      </p:sp>
      <p:sp>
        <p:nvSpPr>
          <p:cNvPr id="29" name="TextBox 28">
            <a:extLst>
              <a:ext uri="{FF2B5EF4-FFF2-40B4-BE49-F238E27FC236}">
                <a16:creationId xmlns:a16="http://schemas.microsoft.com/office/drawing/2014/main" id="{F9A6FB3A-D339-445F-9FFE-3971C76F8734}"/>
              </a:ext>
            </a:extLst>
          </p:cNvPr>
          <p:cNvSpPr txBox="1"/>
          <p:nvPr/>
        </p:nvSpPr>
        <p:spPr>
          <a:xfrm>
            <a:off x="11163300" y="5435600"/>
            <a:ext cx="660400" cy="2286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23/06</a:t>
            </a:r>
          </a:p>
        </p:txBody>
      </p:sp>
      <p:sp>
        <p:nvSpPr>
          <p:cNvPr id="30" name="TextBox 29">
            <a:extLst>
              <a:ext uri="{FF2B5EF4-FFF2-40B4-BE49-F238E27FC236}">
                <a16:creationId xmlns:a16="http://schemas.microsoft.com/office/drawing/2014/main" id="{E5B90DB3-175B-46AD-9BC4-EF3513F8D6FD}"/>
              </a:ext>
            </a:extLst>
          </p:cNvPr>
          <p:cNvSpPr txBox="1"/>
          <p:nvPr/>
        </p:nvSpPr>
        <p:spPr>
          <a:xfrm>
            <a:off x="254000" y="1981200"/>
            <a:ext cx="3937000" cy="228600"/>
          </a:xfrm>
          <a:prstGeom prst="rect">
            <a:avLst/>
          </a:prstGeom>
          <a:noFill/>
        </p:spPr>
        <p:txBody>
          <a:bodyPr vertOverflow="overflow" vert="horz" wrap="none" rtlCol="0" anchor="t">
            <a:spAutoFit/>
          </a:bodyPr>
          <a:lstStyle/>
          <a:p>
            <a:pPr algn="l"/>
            <a:r>
              <a:rPr lang="en-US" sz="1450" b="1">
                <a:solidFill>
                  <a:srgbClr val="0B2A4A"/>
                </a:solidFill>
                <a:latin typeface="Montserrat"/>
              </a:rPr>
              <a:t>Conception &amp; infrastructure</a:t>
            </a:r>
          </a:p>
        </p:txBody>
      </p:sp>
      <p:sp>
        <p:nvSpPr>
          <p:cNvPr id="31" name="TextBox 30">
            <a:extLst>
              <a:ext uri="{FF2B5EF4-FFF2-40B4-BE49-F238E27FC236}">
                <a16:creationId xmlns:a16="http://schemas.microsoft.com/office/drawing/2014/main" id="{01985C35-CA7F-4EF7-9B73-13C88D9C089C}"/>
              </a:ext>
            </a:extLst>
          </p:cNvPr>
          <p:cNvSpPr txBox="1"/>
          <p:nvPr/>
        </p:nvSpPr>
        <p:spPr>
          <a:xfrm>
            <a:off x="254000" y="2247900"/>
            <a:ext cx="3937000" cy="2032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35 issues</a:t>
            </a:r>
          </a:p>
        </p:txBody>
      </p:sp>
      <p:sp>
        <p:nvSpPr>
          <p:cNvPr id="32" name="TextBox 31">
            <a:extLst>
              <a:ext uri="{FF2B5EF4-FFF2-40B4-BE49-F238E27FC236}">
                <a16:creationId xmlns:a16="http://schemas.microsoft.com/office/drawing/2014/main" id="{A4D0BD03-21BC-4DEF-B3E3-956FB94274CD}"/>
              </a:ext>
            </a:extLst>
          </p:cNvPr>
          <p:cNvSpPr txBox="1"/>
          <p:nvPr/>
        </p:nvSpPr>
        <p:spPr>
          <a:xfrm>
            <a:off x="254000" y="2540000"/>
            <a:ext cx="3937000" cy="228600"/>
          </a:xfrm>
          <a:prstGeom prst="rect">
            <a:avLst/>
          </a:prstGeom>
          <a:noFill/>
        </p:spPr>
        <p:txBody>
          <a:bodyPr vertOverflow="overflow" vert="horz" wrap="none" rtlCol="0" anchor="t">
            <a:spAutoFit/>
          </a:bodyPr>
          <a:lstStyle/>
          <a:p>
            <a:pPr algn="l"/>
            <a:r>
              <a:rPr lang="en-US" sz="1450" b="1">
                <a:solidFill>
                  <a:srgbClr val="0B2A4A"/>
                </a:solidFill>
                <a:latin typeface="Montserrat"/>
              </a:rPr>
              <a:t>Fonctionnalités primaires (Fx1-11)</a:t>
            </a:r>
          </a:p>
        </p:txBody>
      </p:sp>
      <p:sp>
        <p:nvSpPr>
          <p:cNvPr id="33" name="TextBox 32">
            <a:extLst>
              <a:ext uri="{FF2B5EF4-FFF2-40B4-BE49-F238E27FC236}">
                <a16:creationId xmlns:a16="http://schemas.microsoft.com/office/drawing/2014/main" id="{D9700639-AFEF-49A9-AD08-4E9577BF865B}"/>
              </a:ext>
            </a:extLst>
          </p:cNvPr>
          <p:cNvSpPr txBox="1"/>
          <p:nvPr/>
        </p:nvSpPr>
        <p:spPr>
          <a:xfrm>
            <a:off x="254000" y="2806700"/>
            <a:ext cx="3937000" cy="2032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20 issues</a:t>
            </a:r>
          </a:p>
        </p:txBody>
      </p:sp>
      <p:sp>
        <p:nvSpPr>
          <p:cNvPr id="34" name="TextBox 33">
            <a:extLst>
              <a:ext uri="{FF2B5EF4-FFF2-40B4-BE49-F238E27FC236}">
                <a16:creationId xmlns:a16="http://schemas.microsoft.com/office/drawing/2014/main" id="{A14B2B9A-D7C1-421C-8BAD-DF06EB8CA29E}"/>
              </a:ext>
            </a:extLst>
          </p:cNvPr>
          <p:cNvSpPr txBox="1"/>
          <p:nvPr/>
        </p:nvSpPr>
        <p:spPr>
          <a:xfrm>
            <a:off x="254000" y="3098800"/>
            <a:ext cx="3937000" cy="228600"/>
          </a:xfrm>
          <a:prstGeom prst="rect">
            <a:avLst/>
          </a:prstGeom>
          <a:noFill/>
        </p:spPr>
        <p:txBody>
          <a:bodyPr vertOverflow="overflow" vert="horz" wrap="none" rtlCol="0" anchor="t">
            <a:spAutoFit/>
          </a:bodyPr>
          <a:lstStyle/>
          <a:p>
            <a:pPr algn="l"/>
            <a:r>
              <a:rPr lang="en-US" sz="1450" b="1">
                <a:solidFill>
                  <a:srgbClr val="0B2A4A"/>
                </a:solidFill>
                <a:latin typeface="Montserrat"/>
              </a:rPr>
              <a:t>Fonctionnalités secondaires (Fx12-23)</a:t>
            </a:r>
          </a:p>
        </p:txBody>
      </p:sp>
      <p:sp>
        <p:nvSpPr>
          <p:cNvPr id="35" name="TextBox 34">
            <a:extLst>
              <a:ext uri="{FF2B5EF4-FFF2-40B4-BE49-F238E27FC236}">
                <a16:creationId xmlns:a16="http://schemas.microsoft.com/office/drawing/2014/main" id="{AB729780-864B-4DBE-A9F5-1985F7BE0761}"/>
              </a:ext>
            </a:extLst>
          </p:cNvPr>
          <p:cNvSpPr txBox="1"/>
          <p:nvPr/>
        </p:nvSpPr>
        <p:spPr>
          <a:xfrm>
            <a:off x="254000" y="3365500"/>
            <a:ext cx="3937000" cy="2032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20 issues</a:t>
            </a:r>
          </a:p>
        </p:txBody>
      </p:sp>
      <p:sp>
        <p:nvSpPr>
          <p:cNvPr id="36" name="TextBox 35">
            <a:extLst>
              <a:ext uri="{FF2B5EF4-FFF2-40B4-BE49-F238E27FC236}">
                <a16:creationId xmlns:a16="http://schemas.microsoft.com/office/drawing/2014/main" id="{5B6A20AF-3338-4AC0-BB18-971E3CA8EC85}"/>
              </a:ext>
            </a:extLst>
          </p:cNvPr>
          <p:cNvSpPr txBox="1"/>
          <p:nvPr/>
        </p:nvSpPr>
        <p:spPr>
          <a:xfrm>
            <a:off x="254000" y="3657600"/>
            <a:ext cx="3937000" cy="228600"/>
          </a:xfrm>
          <a:prstGeom prst="rect">
            <a:avLst/>
          </a:prstGeom>
          <a:noFill/>
        </p:spPr>
        <p:txBody>
          <a:bodyPr vertOverflow="overflow" vert="horz" wrap="none" rtlCol="0" anchor="t">
            <a:spAutoFit/>
          </a:bodyPr>
          <a:lstStyle/>
          <a:p>
            <a:pPr algn="l"/>
            <a:r>
              <a:rPr lang="en-US" sz="1450" b="1">
                <a:solidFill>
                  <a:srgbClr val="0B2A4A"/>
                </a:solidFill>
                <a:latin typeface="Montserrat"/>
              </a:rPr>
              <a:t>Fonctionnalités additionnelles</a:t>
            </a:r>
          </a:p>
        </p:txBody>
      </p:sp>
      <p:sp>
        <p:nvSpPr>
          <p:cNvPr id="37" name="TextBox 36">
            <a:extLst>
              <a:ext uri="{FF2B5EF4-FFF2-40B4-BE49-F238E27FC236}">
                <a16:creationId xmlns:a16="http://schemas.microsoft.com/office/drawing/2014/main" id="{30F1A7AB-CE7A-4ABB-8777-ABBE5E646EF5}"/>
              </a:ext>
            </a:extLst>
          </p:cNvPr>
          <p:cNvSpPr txBox="1"/>
          <p:nvPr/>
        </p:nvSpPr>
        <p:spPr>
          <a:xfrm>
            <a:off x="254000" y="3924300"/>
            <a:ext cx="3937000" cy="2032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62 issues</a:t>
            </a:r>
          </a:p>
        </p:txBody>
      </p:sp>
      <p:sp>
        <p:nvSpPr>
          <p:cNvPr id="38" name="TextBox 37">
            <a:extLst>
              <a:ext uri="{FF2B5EF4-FFF2-40B4-BE49-F238E27FC236}">
                <a16:creationId xmlns:a16="http://schemas.microsoft.com/office/drawing/2014/main" id="{A92BEA4F-9155-483E-AE29-BC6A703E0ACB}"/>
              </a:ext>
            </a:extLst>
          </p:cNvPr>
          <p:cNvSpPr txBox="1"/>
          <p:nvPr/>
        </p:nvSpPr>
        <p:spPr>
          <a:xfrm>
            <a:off x="254000" y="4216400"/>
            <a:ext cx="3937000" cy="228600"/>
          </a:xfrm>
          <a:prstGeom prst="rect">
            <a:avLst/>
          </a:prstGeom>
          <a:noFill/>
        </p:spPr>
        <p:txBody>
          <a:bodyPr vertOverflow="overflow" vert="horz" wrap="none" rtlCol="0" anchor="t">
            <a:spAutoFit/>
          </a:bodyPr>
          <a:lstStyle/>
          <a:p>
            <a:pPr algn="l"/>
            <a:r>
              <a:rPr lang="en-US" sz="1450" b="1">
                <a:solidFill>
                  <a:srgbClr val="0B2A4A"/>
                </a:solidFill>
                <a:latin typeface="Montserrat"/>
              </a:rPr>
              <a:t>Corrections &amp; stabilisation</a:t>
            </a:r>
          </a:p>
        </p:txBody>
      </p:sp>
      <p:sp>
        <p:nvSpPr>
          <p:cNvPr id="39" name="TextBox 38">
            <a:extLst>
              <a:ext uri="{FF2B5EF4-FFF2-40B4-BE49-F238E27FC236}">
                <a16:creationId xmlns:a16="http://schemas.microsoft.com/office/drawing/2014/main" id="{574D268C-0450-492C-90AC-95FF8AC3F0F1}"/>
              </a:ext>
            </a:extLst>
          </p:cNvPr>
          <p:cNvSpPr txBox="1"/>
          <p:nvPr/>
        </p:nvSpPr>
        <p:spPr>
          <a:xfrm>
            <a:off x="254000" y="4483100"/>
            <a:ext cx="3937000" cy="2032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45 issues</a:t>
            </a:r>
          </a:p>
        </p:txBody>
      </p:sp>
      <p:sp>
        <p:nvSpPr>
          <p:cNvPr id="40" name="TextBox 39">
            <a:extLst>
              <a:ext uri="{FF2B5EF4-FFF2-40B4-BE49-F238E27FC236}">
                <a16:creationId xmlns:a16="http://schemas.microsoft.com/office/drawing/2014/main" id="{970AD451-178A-4D9B-BA9F-94107372856A}"/>
              </a:ext>
            </a:extLst>
          </p:cNvPr>
          <p:cNvSpPr txBox="1"/>
          <p:nvPr/>
        </p:nvSpPr>
        <p:spPr>
          <a:xfrm>
            <a:off x="254000" y="4775200"/>
            <a:ext cx="3937000" cy="228600"/>
          </a:xfrm>
          <a:prstGeom prst="rect">
            <a:avLst/>
          </a:prstGeom>
          <a:noFill/>
        </p:spPr>
        <p:txBody>
          <a:bodyPr vertOverflow="overflow" vert="horz" wrap="none" rtlCol="0" anchor="t">
            <a:spAutoFit/>
          </a:bodyPr>
          <a:lstStyle/>
          <a:p>
            <a:pPr algn="l"/>
            <a:r>
              <a:rPr lang="en-US" sz="1450" b="1">
                <a:solidFill>
                  <a:srgbClr val="0B2A4A"/>
                </a:solidFill>
                <a:latin typeface="Montserrat"/>
              </a:rPr>
              <a:t>Tests &amp; qualité</a:t>
            </a:r>
          </a:p>
        </p:txBody>
      </p:sp>
      <p:sp>
        <p:nvSpPr>
          <p:cNvPr id="41" name="TextBox 40">
            <a:extLst>
              <a:ext uri="{FF2B5EF4-FFF2-40B4-BE49-F238E27FC236}">
                <a16:creationId xmlns:a16="http://schemas.microsoft.com/office/drawing/2014/main" id="{F983E672-659F-41BA-8A33-81186E16BF1F}"/>
              </a:ext>
            </a:extLst>
          </p:cNvPr>
          <p:cNvSpPr txBox="1"/>
          <p:nvPr/>
        </p:nvSpPr>
        <p:spPr>
          <a:xfrm>
            <a:off x="254000" y="5041900"/>
            <a:ext cx="3937000" cy="203200"/>
          </a:xfrm>
          <a:prstGeom prst="rect">
            <a:avLst/>
          </a:prstGeom>
          <a:noFill/>
        </p:spPr>
        <p:txBody>
          <a:bodyPr vertOverflow="overflow" vert="horz" wrap="none" rtlCol="0" anchor="t">
            <a:spAutoFit/>
          </a:bodyPr>
          <a:lstStyle/>
          <a:p>
            <a:pPr algn="l"/>
            <a:r>
              <a:rPr lang="en-US" sz="1300">
                <a:solidFill>
                  <a:srgbClr val="8A9BB5"/>
                </a:solidFill>
                <a:latin typeface="Open Sans"/>
                <a:ea typeface="Open Sans"/>
                <a:cs typeface="Open Sans"/>
              </a:rPr>
              <a:t>9 issues</a:t>
            </a:r>
          </a:p>
        </p:txBody>
      </p:sp>
      <p:sp>
        <p:nvSpPr>
          <p:cNvPr id="42" name="Rectangle: Rounded Corners 41">
            <a:extLst>
              <a:ext uri="{FF2B5EF4-FFF2-40B4-BE49-F238E27FC236}">
                <a16:creationId xmlns:a16="http://schemas.microsoft.com/office/drawing/2014/main" id="{CC7EA21D-E461-44D1-9392-550CD13F5005}"/>
              </a:ext>
            </a:extLst>
          </p:cNvPr>
          <p:cNvSpPr/>
          <p:nvPr/>
        </p:nvSpPr>
        <p:spPr>
          <a:xfrm>
            <a:off x="4765386" y="2095500"/>
            <a:ext cx="5446568" cy="279400"/>
          </a:xfrm>
          <a:prstGeom prst="roundRect">
            <a:avLst/>
          </a:prstGeom>
          <a:solidFill>
            <a:srgbClr val="6366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Diamond 42">
            <a:extLst>
              <a:ext uri="{FF2B5EF4-FFF2-40B4-BE49-F238E27FC236}">
                <a16:creationId xmlns:a16="http://schemas.microsoft.com/office/drawing/2014/main" id="{9CF54F20-AE06-4336-9B47-52ACD556EC69}"/>
              </a:ext>
            </a:extLst>
          </p:cNvPr>
          <p:cNvSpPr/>
          <p:nvPr/>
        </p:nvSpPr>
        <p:spPr>
          <a:xfrm>
            <a:off x="4984172" y="2133600"/>
            <a:ext cx="203200" cy="203200"/>
          </a:xfrm>
          <a:prstGeom prst="diamond">
            <a:avLst/>
          </a:prstGeom>
          <a:solidFill>
            <a:srgbClr val="1B2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Rectangle: Rounded Corners 43">
            <a:extLst>
              <a:ext uri="{FF2B5EF4-FFF2-40B4-BE49-F238E27FC236}">
                <a16:creationId xmlns:a16="http://schemas.microsoft.com/office/drawing/2014/main" id="{74F25F66-44F0-414D-A034-84F828BDEFF6}"/>
              </a:ext>
            </a:extLst>
          </p:cNvPr>
          <p:cNvSpPr/>
          <p:nvPr/>
        </p:nvSpPr>
        <p:spPr>
          <a:xfrm>
            <a:off x="4445000" y="2654300"/>
            <a:ext cx="4805795" cy="279400"/>
          </a:xfrm>
          <a:prstGeom prst="roundRect">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Diamond 44">
            <a:extLst>
              <a:ext uri="{FF2B5EF4-FFF2-40B4-BE49-F238E27FC236}">
                <a16:creationId xmlns:a16="http://schemas.microsoft.com/office/drawing/2014/main" id="{78C79007-588F-448E-82A3-2F35183F846B}"/>
              </a:ext>
            </a:extLst>
          </p:cNvPr>
          <p:cNvSpPr/>
          <p:nvPr/>
        </p:nvSpPr>
        <p:spPr>
          <a:xfrm>
            <a:off x="6265718" y="2692400"/>
            <a:ext cx="203200" cy="203200"/>
          </a:xfrm>
          <a:prstGeom prst="diamond">
            <a:avLst/>
          </a:prstGeom>
          <a:solidFill>
            <a:srgbClr val="1B2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Rectangle: Rounded Corners 45">
            <a:extLst>
              <a:ext uri="{FF2B5EF4-FFF2-40B4-BE49-F238E27FC236}">
                <a16:creationId xmlns:a16="http://schemas.microsoft.com/office/drawing/2014/main" id="{FF6AD82D-51C4-4EB6-B244-378144FD2BDE}"/>
              </a:ext>
            </a:extLst>
          </p:cNvPr>
          <p:cNvSpPr/>
          <p:nvPr/>
        </p:nvSpPr>
        <p:spPr>
          <a:xfrm>
            <a:off x="5726545" y="3213100"/>
            <a:ext cx="3524250" cy="279400"/>
          </a:xfrm>
          <a:prstGeom prst="roundRect">
            <a:avLst/>
          </a:prstGeom>
          <a:solidFill>
            <a:srgbClr val="1FB6E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Diamond 46">
            <a:extLst>
              <a:ext uri="{FF2B5EF4-FFF2-40B4-BE49-F238E27FC236}">
                <a16:creationId xmlns:a16="http://schemas.microsoft.com/office/drawing/2014/main" id="{7D825BFA-870C-4B39-A8EB-9325BF450387}"/>
              </a:ext>
            </a:extLst>
          </p:cNvPr>
          <p:cNvSpPr/>
          <p:nvPr/>
        </p:nvSpPr>
        <p:spPr>
          <a:xfrm>
            <a:off x="7226877" y="3251200"/>
            <a:ext cx="203200" cy="203200"/>
          </a:xfrm>
          <a:prstGeom prst="diamond">
            <a:avLst/>
          </a:prstGeom>
          <a:solidFill>
            <a:srgbClr val="1B2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Rectangle: Rounded Corners 47">
            <a:extLst>
              <a:ext uri="{FF2B5EF4-FFF2-40B4-BE49-F238E27FC236}">
                <a16:creationId xmlns:a16="http://schemas.microsoft.com/office/drawing/2014/main" id="{F7CDFCF3-2042-48CD-83DD-34AD188A839B}"/>
              </a:ext>
            </a:extLst>
          </p:cNvPr>
          <p:cNvSpPr/>
          <p:nvPr/>
        </p:nvSpPr>
        <p:spPr>
          <a:xfrm>
            <a:off x="6527511" y="3771900"/>
            <a:ext cx="3684443" cy="279400"/>
          </a:xfrm>
          <a:prstGeom prst="roundRect">
            <a:avLst/>
          </a:prstGeom>
          <a:solidFill>
            <a:srgbClr val="16C78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9" name="Diamond 48">
            <a:extLst>
              <a:ext uri="{FF2B5EF4-FFF2-40B4-BE49-F238E27FC236}">
                <a16:creationId xmlns:a16="http://schemas.microsoft.com/office/drawing/2014/main" id="{D43CA343-74E0-4D5C-A5BE-E419503C1229}"/>
              </a:ext>
            </a:extLst>
          </p:cNvPr>
          <p:cNvSpPr/>
          <p:nvPr/>
        </p:nvSpPr>
        <p:spPr>
          <a:xfrm>
            <a:off x="8828809" y="3810000"/>
            <a:ext cx="203200" cy="203200"/>
          </a:xfrm>
          <a:prstGeom prst="diamond">
            <a:avLst/>
          </a:prstGeom>
          <a:solidFill>
            <a:srgbClr val="1B2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0" name="Rectangle: Rounded Corners 49">
            <a:extLst>
              <a:ext uri="{FF2B5EF4-FFF2-40B4-BE49-F238E27FC236}">
                <a16:creationId xmlns:a16="http://schemas.microsoft.com/office/drawing/2014/main" id="{1777ECB3-551A-4619-8B13-DB451741DA87}"/>
              </a:ext>
            </a:extLst>
          </p:cNvPr>
          <p:cNvSpPr/>
          <p:nvPr/>
        </p:nvSpPr>
        <p:spPr>
          <a:xfrm>
            <a:off x="7648863" y="4330700"/>
            <a:ext cx="1762125" cy="279400"/>
          </a:xfrm>
          <a:prstGeom prst="roundRect">
            <a:avLst/>
          </a:prstGeom>
          <a:solidFill>
            <a:srgbClr val="F5A62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1" name="Diamond 50">
            <a:extLst>
              <a:ext uri="{FF2B5EF4-FFF2-40B4-BE49-F238E27FC236}">
                <a16:creationId xmlns:a16="http://schemas.microsoft.com/office/drawing/2014/main" id="{0EAA5F5A-6402-4D3F-8AE7-5F19E1BCAE19}"/>
              </a:ext>
            </a:extLst>
          </p:cNvPr>
          <p:cNvSpPr/>
          <p:nvPr/>
        </p:nvSpPr>
        <p:spPr>
          <a:xfrm>
            <a:off x="9149195" y="4368800"/>
            <a:ext cx="203200" cy="203200"/>
          </a:xfrm>
          <a:prstGeom prst="diamond">
            <a:avLst/>
          </a:prstGeom>
          <a:solidFill>
            <a:srgbClr val="1B2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2" name="Oval 51">
            <a:extLst>
              <a:ext uri="{FF2B5EF4-FFF2-40B4-BE49-F238E27FC236}">
                <a16:creationId xmlns:a16="http://schemas.microsoft.com/office/drawing/2014/main" id="{8783F207-E67B-4C2D-8C3A-3E3446BE45ED}"/>
              </a:ext>
            </a:extLst>
          </p:cNvPr>
          <p:cNvSpPr/>
          <p:nvPr/>
        </p:nvSpPr>
        <p:spPr>
          <a:xfrm>
            <a:off x="11116829" y="4876800"/>
            <a:ext cx="304800" cy="304800"/>
          </a:xfrm>
          <a:prstGeom prst="ellipse">
            <a:avLst/>
          </a:prstGeom>
          <a:solidFill>
            <a:srgbClr val="9B6C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Diamond 52">
            <a:extLst>
              <a:ext uri="{FF2B5EF4-FFF2-40B4-BE49-F238E27FC236}">
                <a16:creationId xmlns:a16="http://schemas.microsoft.com/office/drawing/2014/main" id="{2A9F8C43-7682-4765-9F7C-BD2C7387E1C3}"/>
              </a:ext>
            </a:extLst>
          </p:cNvPr>
          <p:cNvSpPr/>
          <p:nvPr/>
        </p:nvSpPr>
        <p:spPr>
          <a:xfrm>
            <a:off x="11391900" y="4927600"/>
            <a:ext cx="203200" cy="203200"/>
          </a:xfrm>
          <a:prstGeom prst="diamond">
            <a:avLst/>
          </a:prstGeom>
          <a:solidFill>
            <a:srgbClr val="1B2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Espace réservé du numéro de diapositive 53">
            <a:extLst>
              <a:ext uri="{FF2B5EF4-FFF2-40B4-BE49-F238E27FC236}">
                <a16:creationId xmlns:a16="http://schemas.microsoft.com/office/drawing/2014/main" id="{DABA62FE-8851-3028-D801-9A889A3B0825}"/>
              </a:ext>
            </a:extLst>
          </p:cNvPr>
          <p:cNvSpPr>
            <a:spLocks noGrp="1"/>
          </p:cNvSpPr>
          <p:nvPr>
            <p:ph type="sldNum" sz="quarter" idx="12"/>
          </p:nvPr>
        </p:nvSpPr>
        <p:spPr/>
        <p:txBody>
          <a:bodyPr/>
          <a:lstStyle/>
          <a:p>
            <a:fld id="{27C6CCC6-2BE5-4E42-96A4-D1E8E81A3D8E}" type="slidenum">
              <a:rPr lang="fr-FR" smtClean="0"/>
              <a:t>11</a:t>
            </a:fld>
            <a:endParaRPr lang="fr-FR"/>
          </a:p>
        </p:txBody>
      </p:sp>
    </p:spTree>
    <p:extLst>
      <p:ext uri="{BB962C8B-B14F-4D97-AF65-F5344CB8AC3E}">
        <p14:creationId xmlns:p14="http://schemas.microsoft.com/office/powerpoint/2010/main" val="265899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419C27-7CA0-4C53-A0D2-67514DC68E71}"/>
              </a:ext>
            </a:extLst>
          </p:cNvPr>
          <p:cNvSpPr txBox="1"/>
          <p:nvPr/>
        </p:nvSpPr>
        <p:spPr>
          <a:xfrm>
            <a:off x="762000" y="431800"/>
            <a:ext cx="10668000" cy="279400"/>
          </a:xfrm>
          <a:prstGeom prst="rect">
            <a:avLst/>
          </a:prstGeom>
          <a:noFill/>
        </p:spPr>
        <p:txBody>
          <a:bodyPr vertOverflow="overflow" vert="horz" wrap="square" rtlCol="0" anchor="t" anchorCtr="0">
            <a:spAutoFit/>
          </a:bodyPr>
          <a:lstStyle/>
          <a:p>
            <a:pPr algn="l"/>
            <a:r>
              <a:rPr lang="en-US" sz="1300" b="1">
                <a:solidFill>
                  <a:srgbClr val="00C2CB"/>
                </a:solidFill>
                <a:latin typeface="Montserrat"/>
              </a:rPr>
              <a:t>QUESTIONS DU JURY · CHOIX TECHNIQUES</a:t>
            </a:r>
          </a:p>
        </p:txBody>
      </p:sp>
      <p:sp>
        <p:nvSpPr>
          <p:cNvPr id="3" name="TextBox 2">
            <a:extLst>
              <a:ext uri="{FF2B5EF4-FFF2-40B4-BE49-F238E27FC236}">
                <a16:creationId xmlns:a16="http://schemas.microsoft.com/office/drawing/2014/main" id="{021E59C1-8ECB-40F0-96EA-93DA443F98FF}"/>
              </a:ext>
            </a:extLst>
          </p:cNvPr>
          <p:cNvSpPr txBox="1"/>
          <p:nvPr/>
        </p:nvSpPr>
        <p:spPr>
          <a:xfrm>
            <a:off x="762000" y="736600"/>
            <a:ext cx="10668000" cy="584200"/>
          </a:xfrm>
          <a:prstGeom prst="rect">
            <a:avLst/>
          </a:prstGeom>
          <a:noFill/>
        </p:spPr>
        <p:txBody>
          <a:bodyPr vertOverflow="overflow" vert="horz" wrap="square" rtlCol="0" anchor="t" anchorCtr="0">
            <a:spAutoFit/>
          </a:bodyPr>
          <a:lstStyle/>
          <a:p>
            <a:pPr algn="l"/>
            <a:r>
              <a:rPr lang="en-US" sz="3000" b="1">
                <a:solidFill>
                  <a:srgbClr val="0B2A4A"/>
                </a:solidFill>
                <a:latin typeface="Montserrat"/>
              </a:rPr>
              <a:t>Des choix techniques assumés et justifiés</a:t>
            </a:r>
          </a:p>
        </p:txBody>
      </p:sp>
      <p:sp>
        <p:nvSpPr>
          <p:cNvPr id="4" name="Rectangle: Rounded Corners 3">
            <a:extLst>
              <a:ext uri="{FF2B5EF4-FFF2-40B4-BE49-F238E27FC236}">
                <a16:creationId xmlns:a16="http://schemas.microsoft.com/office/drawing/2014/main" id="{1A6E3A23-6171-4419-BB82-78AA1E47A412}"/>
              </a:ext>
            </a:extLst>
          </p:cNvPr>
          <p:cNvSpPr/>
          <p:nvPr/>
        </p:nvSpPr>
        <p:spPr>
          <a:xfrm>
            <a:off x="762000" y="19050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826A271B-4FBD-4537-A7A8-5613515979F7}"/>
              </a:ext>
            </a:extLst>
          </p:cNvPr>
          <p:cNvSpPr/>
          <p:nvPr/>
        </p:nvSpPr>
        <p:spPr>
          <a:xfrm>
            <a:off x="1041400" y="21844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1</a:t>
            </a:r>
          </a:p>
        </p:txBody>
      </p:sp>
      <p:sp>
        <p:nvSpPr>
          <p:cNvPr id="6" name="TextBox 5">
            <a:extLst>
              <a:ext uri="{FF2B5EF4-FFF2-40B4-BE49-F238E27FC236}">
                <a16:creationId xmlns:a16="http://schemas.microsoft.com/office/drawing/2014/main" id="{6320265E-0E17-4C82-9C71-756BC12A586C}"/>
              </a:ext>
            </a:extLst>
          </p:cNvPr>
          <p:cNvSpPr txBox="1"/>
          <p:nvPr/>
        </p:nvSpPr>
        <p:spPr>
          <a:xfrm>
            <a:off x="1651000" y="22352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Du sujet à notre choix</a:t>
            </a:r>
          </a:p>
        </p:txBody>
      </p:sp>
      <p:sp>
        <p:nvSpPr>
          <p:cNvPr id="7" name="TextBox 6">
            <a:extLst>
              <a:ext uri="{FF2B5EF4-FFF2-40B4-BE49-F238E27FC236}">
                <a16:creationId xmlns:a16="http://schemas.microsoft.com/office/drawing/2014/main" id="{6A86AEAD-245E-4FEE-ACB7-826BB59A6212}"/>
              </a:ext>
            </a:extLst>
          </p:cNvPr>
          <p:cNvSpPr txBox="1"/>
          <p:nvPr/>
        </p:nvSpPr>
        <p:spPr>
          <a:xfrm>
            <a:off x="1066800" y="28448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Le cahier des charges proposait Node.js/Express ; nous l'avons adapté en Go/Gin, en conservant l'esprit (REST, React, Docker, microservices).</a:t>
            </a:r>
          </a:p>
        </p:txBody>
      </p:sp>
      <p:sp>
        <p:nvSpPr>
          <p:cNvPr id="8" name="Rectangle: Rounded Corners 7">
            <a:extLst>
              <a:ext uri="{FF2B5EF4-FFF2-40B4-BE49-F238E27FC236}">
                <a16:creationId xmlns:a16="http://schemas.microsoft.com/office/drawing/2014/main" id="{0F4B4C9B-35AA-47C3-8484-093AAA814737}"/>
              </a:ext>
            </a:extLst>
          </p:cNvPr>
          <p:cNvSpPr/>
          <p:nvPr/>
        </p:nvSpPr>
        <p:spPr>
          <a:xfrm>
            <a:off x="6350000" y="19050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98672C2C-540C-4BAE-A8A7-76A5191E1DE9}"/>
              </a:ext>
            </a:extLst>
          </p:cNvPr>
          <p:cNvSpPr/>
          <p:nvPr/>
        </p:nvSpPr>
        <p:spPr>
          <a:xfrm>
            <a:off x="6629400" y="21844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2</a:t>
            </a:r>
          </a:p>
        </p:txBody>
      </p:sp>
      <p:sp>
        <p:nvSpPr>
          <p:cNvPr id="10" name="TextBox 9">
            <a:extLst>
              <a:ext uri="{FF2B5EF4-FFF2-40B4-BE49-F238E27FC236}">
                <a16:creationId xmlns:a16="http://schemas.microsoft.com/office/drawing/2014/main" id="{BFB8F21E-442B-493B-A33C-52DB697BD4B4}"/>
              </a:ext>
            </a:extLst>
          </p:cNvPr>
          <p:cNvSpPr txBox="1"/>
          <p:nvPr/>
        </p:nvSpPr>
        <p:spPr>
          <a:xfrm>
            <a:off x="7239000" y="22352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Pourquoi Go / Gin</a:t>
            </a:r>
          </a:p>
        </p:txBody>
      </p:sp>
      <p:sp>
        <p:nvSpPr>
          <p:cNvPr id="11" name="TextBox 10">
            <a:extLst>
              <a:ext uri="{FF2B5EF4-FFF2-40B4-BE49-F238E27FC236}">
                <a16:creationId xmlns:a16="http://schemas.microsoft.com/office/drawing/2014/main" id="{59ED58EF-E2D2-47C6-A321-627149E31B3C}"/>
              </a:ext>
            </a:extLst>
          </p:cNvPr>
          <p:cNvSpPr txBox="1"/>
          <p:nvPr/>
        </p:nvSpPr>
        <p:spPr>
          <a:xfrm>
            <a:off x="6654800" y="28448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Services indépendants, fortement typés, compilés et performants — simples à conteneuriser et adaptés à une architecture distribuée.</a:t>
            </a:r>
          </a:p>
        </p:txBody>
      </p:sp>
      <p:sp>
        <p:nvSpPr>
          <p:cNvPr id="12" name="Rectangle: Rounded Corners 11">
            <a:extLst>
              <a:ext uri="{FF2B5EF4-FFF2-40B4-BE49-F238E27FC236}">
                <a16:creationId xmlns:a16="http://schemas.microsoft.com/office/drawing/2014/main" id="{53621BE7-85DC-4571-9DA7-70C55188B233}"/>
              </a:ext>
            </a:extLst>
          </p:cNvPr>
          <p:cNvSpPr/>
          <p:nvPr/>
        </p:nvSpPr>
        <p:spPr>
          <a:xfrm>
            <a:off x="762000" y="42545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0FA07BDD-0CE8-468A-8455-FC49873EB86B}"/>
              </a:ext>
            </a:extLst>
          </p:cNvPr>
          <p:cNvSpPr/>
          <p:nvPr/>
        </p:nvSpPr>
        <p:spPr>
          <a:xfrm>
            <a:off x="1041400" y="45339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3</a:t>
            </a:r>
          </a:p>
        </p:txBody>
      </p:sp>
      <p:sp>
        <p:nvSpPr>
          <p:cNvPr id="14" name="TextBox 13">
            <a:extLst>
              <a:ext uri="{FF2B5EF4-FFF2-40B4-BE49-F238E27FC236}">
                <a16:creationId xmlns:a16="http://schemas.microsoft.com/office/drawing/2014/main" id="{0E1A267B-D421-4D05-B639-BF6C51D88ED6}"/>
              </a:ext>
            </a:extLst>
          </p:cNvPr>
          <p:cNvSpPr txBox="1"/>
          <p:nvPr/>
        </p:nvSpPr>
        <p:spPr>
          <a:xfrm>
            <a:off x="1651000" y="45847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Frontend moderne</a:t>
            </a:r>
          </a:p>
        </p:txBody>
      </p:sp>
      <p:sp>
        <p:nvSpPr>
          <p:cNvPr id="15" name="TextBox 14">
            <a:extLst>
              <a:ext uri="{FF2B5EF4-FFF2-40B4-BE49-F238E27FC236}">
                <a16:creationId xmlns:a16="http://schemas.microsoft.com/office/drawing/2014/main" id="{23877465-8AA7-4743-8C8A-9E444A7FA83F}"/>
              </a:ext>
            </a:extLst>
          </p:cNvPr>
          <p:cNvSpPr txBox="1"/>
          <p:nvPr/>
        </p:nvSpPr>
        <p:spPr>
          <a:xfrm>
            <a:off x="1066800" y="51943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Next.js 14, React 18, TypeScript ; UI mobile-first (Tailwind, shadcn/ui), thème clair/sombre et 12 langues.</a:t>
            </a:r>
          </a:p>
        </p:txBody>
      </p:sp>
      <p:sp>
        <p:nvSpPr>
          <p:cNvPr id="16" name="Rectangle: Rounded Corners 15">
            <a:extLst>
              <a:ext uri="{FF2B5EF4-FFF2-40B4-BE49-F238E27FC236}">
                <a16:creationId xmlns:a16="http://schemas.microsoft.com/office/drawing/2014/main" id="{05EF5AF6-B9D4-4E3B-A33F-FECF0D78A411}"/>
              </a:ext>
            </a:extLst>
          </p:cNvPr>
          <p:cNvSpPr/>
          <p:nvPr/>
        </p:nvSpPr>
        <p:spPr>
          <a:xfrm>
            <a:off x="6350000" y="42545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a:extLst>
              <a:ext uri="{FF2B5EF4-FFF2-40B4-BE49-F238E27FC236}">
                <a16:creationId xmlns:a16="http://schemas.microsoft.com/office/drawing/2014/main" id="{58B08349-90C4-45FE-BB30-B51121D90286}"/>
              </a:ext>
            </a:extLst>
          </p:cNvPr>
          <p:cNvSpPr/>
          <p:nvPr/>
        </p:nvSpPr>
        <p:spPr>
          <a:xfrm>
            <a:off x="6629400" y="45339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4</a:t>
            </a:r>
          </a:p>
        </p:txBody>
      </p:sp>
      <p:sp>
        <p:nvSpPr>
          <p:cNvPr id="18" name="TextBox 17">
            <a:extLst>
              <a:ext uri="{FF2B5EF4-FFF2-40B4-BE49-F238E27FC236}">
                <a16:creationId xmlns:a16="http://schemas.microsoft.com/office/drawing/2014/main" id="{08A1658F-826A-4FF4-83D8-7A7A01EEBC35}"/>
              </a:ext>
            </a:extLst>
          </p:cNvPr>
          <p:cNvSpPr txBox="1"/>
          <p:nvPr/>
        </p:nvSpPr>
        <p:spPr>
          <a:xfrm>
            <a:off x="7239000" y="45847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3 stockages adaptés</a:t>
            </a:r>
          </a:p>
        </p:txBody>
      </p:sp>
      <p:sp>
        <p:nvSpPr>
          <p:cNvPr id="19" name="TextBox 18">
            <a:extLst>
              <a:ext uri="{FF2B5EF4-FFF2-40B4-BE49-F238E27FC236}">
                <a16:creationId xmlns:a16="http://schemas.microsoft.com/office/drawing/2014/main" id="{C8D4F892-C192-4770-B0DC-7E18E3FFFB22}"/>
              </a:ext>
            </a:extLst>
          </p:cNvPr>
          <p:cNvSpPr txBox="1"/>
          <p:nvPr/>
        </p:nvSpPr>
        <p:spPr>
          <a:xfrm>
            <a:off x="6654800" y="51943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PostgreSQL pour l'identité, MongoDB pour le social, MinIO pour les médias — à chaque besoin sa base.</a:t>
            </a:r>
          </a:p>
        </p:txBody>
      </p:sp>
      <p:sp>
        <p:nvSpPr>
          <p:cNvPr id="20" name="Espace réservé du numéro de diapositive 19">
            <a:extLst>
              <a:ext uri="{FF2B5EF4-FFF2-40B4-BE49-F238E27FC236}">
                <a16:creationId xmlns:a16="http://schemas.microsoft.com/office/drawing/2014/main" id="{5289BF5E-BD1C-8847-BC78-8B74D9F38C45}"/>
              </a:ext>
            </a:extLst>
          </p:cNvPr>
          <p:cNvSpPr>
            <a:spLocks noGrp="1"/>
          </p:cNvSpPr>
          <p:nvPr>
            <p:ph type="sldNum" sz="quarter" idx="12"/>
          </p:nvPr>
        </p:nvSpPr>
        <p:spPr/>
        <p:txBody>
          <a:bodyPr/>
          <a:lstStyle/>
          <a:p>
            <a:fld id="{27C6CCC6-2BE5-4E42-96A4-D1E8E81A3D8E}" type="slidenum">
              <a:rPr lang="fr-FR" smtClean="0"/>
              <a:t>12</a:t>
            </a:fld>
            <a:endParaRPr lang="fr-FR"/>
          </a:p>
        </p:txBody>
      </p:sp>
    </p:spTree>
    <p:extLst>
      <p:ext uri="{BB962C8B-B14F-4D97-AF65-F5344CB8AC3E}">
        <p14:creationId xmlns:p14="http://schemas.microsoft.com/office/powerpoint/2010/main" val="3575661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155FF6-759A-48F1-AA59-B4B253EC04BE}"/>
              </a:ext>
            </a:extLst>
          </p:cNvPr>
          <p:cNvSpPr txBox="1"/>
          <p:nvPr/>
        </p:nvSpPr>
        <p:spPr>
          <a:xfrm>
            <a:off x="762000" y="431800"/>
            <a:ext cx="10668000" cy="279400"/>
          </a:xfrm>
          <a:prstGeom prst="rect">
            <a:avLst/>
          </a:prstGeom>
          <a:noFill/>
        </p:spPr>
        <p:txBody>
          <a:bodyPr vertOverflow="overflow" vert="horz" wrap="square" rtlCol="0" anchor="t" anchorCtr="0">
            <a:spAutoFit/>
          </a:bodyPr>
          <a:lstStyle/>
          <a:p>
            <a:pPr algn="l"/>
            <a:r>
              <a:rPr lang="en-US" sz="1300" b="1">
                <a:solidFill>
                  <a:srgbClr val="00C2CB"/>
                </a:solidFill>
                <a:latin typeface="Montserrat"/>
              </a:rPr>
              <a:t>QUESTIONS DU JURY · ARCHITECTURE</a:t>
            </a:r>
          </a:p>
        </p:txBody>
      </p:sp>
      <p:sp>
        <p:nvSpPr>
          <p:cNvPr id="3" name="TextBox 2">
            <a:extLst>
              <a:ext uri="{FF2B5EF4-FFF2-40B4-BE49-F238E27FC236}">
                <a16:creationId xmlns:a16="http://schemas.microsoft.com/office/drawing/2014/main" id="{2193C929-68A6-44F5-814C-5D0E24B9884E}"/>
              </a:ext>
            </a:extLst>
          </p:cNvPr>
          <p:cNvSpPr txBox="1"/>
          <p:nvPr/>
        </p:nvSpPr>
        <p:spPr>
          <a:xfrm>
            <a:off x="762000" y="736600"/>
            <a:ext cx="10668000" cy="584200"/>
          </a:xfrm>
          <a:prstGeom prst="rect">
            <a:avLst/>
          </a:prstGeom>
          <a:noFill/>
        </p:spPr>
        <p:txBody>
          <a:bodyPr vertOverflow="overflow" vert="horz" wrap="square" rtlCol="0" anchor="t" anchorCtr="0">
            <a:spAutoFit/>
          </a:bodyPr>
          <a:lstStyle/>
          <a:p>
            <a:pPr algn="l"/>
            <a:r>
              <a:rPr lang="en-US" sz="3000" b="1">
                <a:solidFill>
                  <a:srgbClr val="0B2A4A"/>
                </a:solidFill>
                <a:latin typeface="Montserrat"/>
              </a:rPr>
              <a:t>Une architecture microservices claire</a:t>
            </a:r>
          </a:p>
        </p:txBody>
      </p:sp>
      <p:sp>
        <p:nvSpPr>
          <p:cNvPr id="4" name="Rectangle: Rounded Corners 3">
            <a:extLst>
              <a:ext uri="{FF2B5EF4-FFF2-40B4-BE49-F238E27FC236}">
                <a16:creationId xmlns:a16="http://schemas.microsoft.com/office/drawing/2014/main" id="{A6F9C6ED-A7C2-429C-8D7E-B7A863E58F19}"/>
              </a:ext>
            </a:extLst>
          </p:cNvPr>
          <p:cNvSpPr/>
          <p:nvPr/>
        </p:nvSpPr>
        <p:spPr>
          <a:xfrm>
            <a:off x="762000" y="19050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AF535787-09E2-4458-B39F-E7E8796CEBC2}"/>
              </a:ext>
            </a:extLst>
          </p:cNvPr>
          <p:cNvSpPr/>
          <p:nvPr/>
        </p:nvSpPr>
        <p:spPr>
          <a:xfrm>
            <a:off x="1041400" y="21844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1</a:t>
            </a:r>
          </a:p>
        </p:txBody>
      </p:sp>
      <p:sp>
        <p:nvSpPr>
          <p:cNvPr id="6" name="TextBox 5">
            <a:extLst>
              <a:ext uri="{FF2B5EF4-FFF2-40B4-BE49-F238E27FC236}">
                <a16:creationId xmlns:a16="http://schemas.microsoft.com/office/drawing/2014/main" id="{4758015B-FE31-4C2C-AD1D-A117853EC7A8}"/>
              </a:ext>
            </a:extLst>
          </p:cNvPr>
          <p:cNvSpPr txBox="1"/>
          <p:nvPr/>
        </p:nvSpPr>
        <p:spPr>
          <a:xfrm>
            <a:off x="1651000" y="22352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Point d'entrée unique</a:t>
            </a:r>
          </a:p>
        </p:txBody>
      </p:sp>
      <p:sp>
        <p:nvSpPr>
          <p:cNvPr id="7" name="TextBox 6">
            <a:extLst>
              <a:ext uri="{FF2B5EF4-FFF2-40B4-BE49-F238E27FC236}">
                <a16:creationId xmlns:a16="http://schemas.microsoft.com/office/drawing/2014/main" id="{E6E0918D-C7EE-4939-908A-BA9AD6412DC9}"/>
              </a:ext>
            </a:extLst>
          </p:cNvPr>
          <p:cNvSpPr txBox="1"/>
          <p:nvPr/>
        </p:nvSpPr>
        <p:spPr>
          <a:xfrm>
            <a:off x="1066800" y="28448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Une API Gateway gère le routage, le CORS, le proxy WebSocket et les médias. Les bases ne sont jamais exposées au client.</a:t>
            </a:r>
          </a:p>
        </p:txBody>
      </p:sp>
      <p:sp>
        <p:nvSpPr>
          <p:cNvPr id="8" name="Rectangle: Rounded Corners 7">
            <a:extLst>
              <a:ext uri="{FF2B5EF4-FFF2-40B4-BE49-F238E27FC236}">
                <a16:creationId xmlns:a16="http://schemas.microsoft.com/office/drawing/2014/main" id="{2A71CF0E-5EB8-44EA-BF6B-77B81F3B3458}"/>
              </a:ext>
            </a:extLst>
          </p:cNvPr>
          <p:cNvSpPr/>
          <p:nvPr/>
        </p:nvSpPr>
        <p:spPr>
          <a:xfrm>
            <a:off x="6350000" y="19050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EF5F4255-B06D-403B-AD33-5AAB982A303F}"/>
              </a:ext>
            </a:extLst>
          </p:cNvPr>
          <p:cNvSpPr/>
          <p:nvPr/>
        </p:nvSpPr>
        <p:spPr>
          <a:xfrm>
            <a:off x="6629400" y="21844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2</a:t>
            </a:r>
          </a:p>
        </p:txBody>
      </p:sp>
      <p:sp>
        <p:nvSpPr>
          <p:cNvPr id="10" name="TextBox 9">
            <a:extLst>
              <a:ext uri="{FF2B5EF4-FFF2-40B4-BE49-F238E27FC236}">
                <a16:creationId xmlns:a16="http://schemas.microsoft.com/office/drawing/2014/main" id="{42E640FA-C1CE-47D2-AF54-595E5B07F946}"/>
              </a:ext>
            </a:extLst>
          </p:cNvPr>
          <p:cNvSpPr txBox="1"/>
          <p:nvPr/>
        </p:nvSpPr>
        <p:spPr>
          <a:xfrm>
            <a:off x="7239000" y="22352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11 services indépendants</a:t>
            </a:r>
          </a:p>
        </p:txBody>
      </p:sp>
      <p:sp>
        <p:nvSpPr>
          <p:cNvPr id="11" name="TextBox 10">
            <a:extLst>
              <a:ext uri="{FF2B5EF4-FFF2-40B4-BE49-F238E27FC236}">
                <a16:creationId xmlns:a16="http://schemas.microsoft.com/office/drawing/2014/main" id="{CBFAEA48-269F-4C9B-8B25-BC18B906D482}"/>
              </a:ext>
            </a:extLst>
          </p:cNvPr>
          <p:cNvSpPr txBox="1"/>
          <p:nvPr/>
        </p:nvSpPr>
        <p:spPr>
          <a:xfrm>
            <a:off x="6654800" y="28448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auth, user, profil, post, message, notification, report, media, mail… chacun déployable et testable séparément.</a:t>
            </a:r>
          </a:p>
        </p:txBody>
      </p:sp>
      <p:sp>
        <p:nvSpPr>
          <p:cNvPr id="12" name="Rectangle: Rounded Corners 11">
            <a:extLst>
              <a:ext uri="{FF2B5EF4-FFF2-40B4-BE49-F238E27FC236}">
                <a16:creationId xmlns:a16="http://schemas.microsoft.com/office/drawing/2014/main" id="{64D5C4C7-505F-4EF8-B67F-CB8ACE1EA357}"/>
              </a:ext>
            </a:extLst>
          </p:cNvPr>
          <p:cNvSpPr/>
          <p:nvPr/>
        </p:nvSpPr>
        <p:spPr>
          <a:xfrm>
            <a:off x="762000" y="42545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D0638872-4CD9-425D-AC34-BAF58053F66D}"/>
              </a:ext>
            </a:extLst>
          </p:cNvPr>
          <p:cNvSpPr/>
          <p:nvPr/>
        </p:nvSpPr>
        <p:spPr>
          <a:xfrm>
            <a:off x="1041400" y="45339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3</a:t>
            </a:r>
          </a:p>
        </p:txBody>
      </p:sp>
      <p:sp>
        <p:nvSpPr>
          <p:cNvPr id="14" name="TextBox 13">
            <a:extLst>
              <a:ext uri="{FF2B5EF4-FFF2-40B4-BE49-F238E27FC236}">
                <a16:creationId xmlns:a16="http://schemas.microsoft.com/office/drawing/2014/main" id="{1DD91891-EC9E-42D0-BCD5-D08E6FE623FE}"/>
              </a:ext>
            </a:extLst>
          </p:cNvPr>
          <p:cNvSpPr txBox="1"/>
          <p:nvPr/>
        </p:nvSpPr>
        <p:spPr>
          <a:xfrm>
            <a:off x="1651000" y="45847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Une donnée = un service</a:t>
            </a:r>
          </a:p>
        </p:txBody>
      </p:sp>
      <p:sp>
        <p:nvSpPr>
          <p:cNvPr id="15" name="TextBox 14">
            <a:extLst>
              <a:ext uri="{FF2B5EF4-FFF2-40B4-BE49-F238E27FC236}">
                <a16:creationId xmlns:a16="http://schemas.microsoft.com/office/drawing/2014/main" id="{112990B3-E649-44E2-BB15-DDA2498572C1}"/>
              </a:ext>
            </a:extLst>
          </p:cNvPr>
          <p:cNvSpPr txBox="1"/>
          <p:nvPr/>
        </p:nvSpPr>
        <p:spPr>
          <a:xfrm>
            <a:off x="1066800" y="51943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Chaque service possède son domaine et sa base ; schémas autonomes et migrations idempotentes au démarrage.</a:t>
            </a:r>
          </a:p>
        </p:txBody>
      </p:sp>
      <p:sp>
        <p:nvSpPr>
          <p:cNvPr id="16" name="Rectangle: Rounded Corners 15">
            <a:extLst>
              <a:ext uri="{FF2B5EF4-FFF2-40B4-BE49-F238E27FC236}">
                <a16:creationId xmlns:a16="http://schemas.microsoft.com/office/drawing/2014/main" id="{2FA82FA4-7E77-4ECA-A518-1139C5F4C362}"/>
              </a:ext>
            </a:extLst>
          </p:cNvPr>
          <p:cNvSpPr/>
          <p:nvPr/>
        </p:nvSpPr>
        <p:spPr>
          <a:xfrm>
            <a:off x="6350000" y="42545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a:extLst>
              <a:ext uri="{FF2B5EF4-FFF2-40B4-BE49-F238E27FC236}">
                <a16:creationId xmlns:a16="http://schemas.microsoft.com/office/drawing/2014/main" id="{AFA3BC55-60C1-4994-950B-3561D84187E4}"/>
              </a:ext>
            </a:extLst>
          </p:cNvPr>
          <p:cNvSpPr/>
          <p:nvPr/>
        </p:nvSpPr>
        <p:spPr>
          <a:xfrm>
            <a:off x="6629400" y="45339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4</a:t>
            </a:r>
          </a:p>
        </p:txBody>
      </p:sp>
      <p:sp>
        <p:nvSpPr>
          <p:cNvPr id="18" name="TextBox 17">
            <a:extLst>
              <a:ext uri="{FF2B5EF4-FFF2-40B4-BE49-F238E27FC236}">
                <a16:creationId xmlns:a16="http://schemas.microsoft.com/office/drawing/2014/main" id="{9B2B8B6F-9A59-4529-B0DE-DE3F1D65530E}"/>
              </a:ext>
            </a:extLst>
          </p:cNvPr>
          <p:cNvSpPr txBox="1"/>
          <p:nvPr/>
        </p:nvSpPr>
        <p:spPr>
          <a:xfrm>
            <a:off x="7239000" y="45847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Temps réel &amp; échanges</a:t>
            </a:r>
          </a:p>
        </p:txBody>
      </p:sp>
      <p:sp>
        <p:nvSpPr>
          <p:cNvPr id="19" name="TextBox 18">
            <a:extLst>
              <a:ext uri="{FF2B5EF4-FFF2-40B4-BE49-F238E27FC236}">
                <a16:creationId xmlns:a16="http://schemas.microsoft.com/office/drawing/2014/main" id="{0B347C19-8D15-47E8-8C34-B13730E5CB89}"/>
              </a:ext>
            </a:extLst>
          </p:cNvPr>
          <p:cNvSpPr txBox="1"/>
          <p:nvPr/>
        </p:nvSpPr>
        <p:spPr>
          <a:xfrm>
            <a:off x="6654800" y="51943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WebSocket authentifié pour notifications et messagerie ; communication interservices par événements internes sécurisés.</a:t>
            </a:r>
          </a:p>
        </p:txBody>
      </p:sp>
      <p:sp>
        <p:nvSpPr>
          <p:cNvPr id="20" name="Espace réservé du numéro de diapositive 19">
            <a:extLst>
              <a:ext uri="{FF2B5EF4-FFF2-40B4-BE49-F238E27FC236}">
                <a16:creationId xmlns:a16="http://schemas.microsoft.com/office/drawing/2014/main" id="{456A9757-E044-54F4-4420-ABA732AB49EC}"/>
              </a:ext>
            </a:extLst>
          </p:cNvPr>
          <p:cNvSpPr>
            <a:spLocks noGrp="1"/>
          </p:cNvSpPr>
          <p:nvPr>
            <p:ph type="sldNum" sz="quarter" idx="12"/>
          </p:nvPr>
        </p:nvSpPr>
        <p:spPr/>
        <p:txBody>
          <a:bodyPr/>
          <a:lstStyle/>
          <a:p>
            <a:fld id="{27C6CCC6-2BE5-4E42-96A4-D1E8E81A3D8E}" type="slidenum">
              <a:rPr lang="fr-FR" smtClean="0"/>
              <a:t>13</a:t>
            </a:fld>
            <a:endParaRPr lang="fr-FR"/>
          </a:p>
        </p:txBody>
      </p:sp>
    </p:spTree>
    <p:extLst>
      <p:ext uri="{BB962C8B-B14F-4D97-AF65-F5344CB8AC3E}">
        <p14:creationId xmlns:p14="http://schemas.microsoft.com/office/powerpoint/2010/main" val="1583975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4BFA94-9E2A-4032-AA8A-71A1C11F93C0}"/>
              </a:ext>
            </a:extLst>
          </p:cNvPr>
          <p:cNvSpPr txBox="1"/>
          <p:nvPr/>
        </p:nvSpPr>
        <p:spPr>
          <a:xfrm>
            <a:off x="762000" y="431800"/>
            <a:ext cx="10668000" cy="279400"/>
          </a:xfrm>
          <a:prstGeom prst="rect">
            <a:avLst/>
          </a:prstGeom>
          <a:noFill/>
        </p:spPr>
        <p:txBody>
          <a:bodyPr vertOverflow="overflow" vert="horz" wrap="square" rtlCol="0" anchor="t" anchorCtr="0">
            <a:spAutoFit/>
          </a:bodyPr>
          <a:lstStyle/>
          <a:p>
            <a:pPr algn="l"/>
            <a:r>
              <a:rPr lang="en-US" sz="1300" b="1">
                <a:solidFill>
                  <a:srgbClr val="00C2CB"/>
                </a:solidFill>
                <a:latin typeface="Montserrat"/>
              </a:rPr>
              <a:t>QUESTIONS DU JURY · SÉCURITÉ</a:t>
            </a:r>
          </a:p>
        </p:txBody>
      </p:sp>
      <p:sp>
        <p:nvSpPr>
          <p:cNvPr id="3" name="TextBox 2">
            <a:extLst>
              <a:ext uri="{FF2B5EF4-FFF2-40B4-BE49-F238E27FC236}">
                <a16:creationId xmlns:a16="http://schemas.microsoft.com/office/drawing/2014/main" id="{00849434-5C99-47AD-9A93-463034577FF4}"/>
              </a:ext>
            </a:extLst>
          </p:cNvPr>
          <p:cNvSpPr txBox="1"/>
          <p:nvPr/>
        </p:nvSpPr>
        <p:spPr>
          <a:xfrm>
            <a:off x="762000" y="736600"/>
            <a:ext cx="10668000" cy="584200"/>
          </a:xfrm>
          <a:prstGeom prst="rect">
            <a:avLst/>
          </a:prstGeom>
          <a:noFill/>
        </p:spPr>
        <p:txBody>
          <a:bodyPr vertOverflow="overflow" vert="horz" wrap="square" rtlCol="0" anchor="t" anchorCtr="0">
            <a:spAutoFit/>
          </a:bodyPr>
          <a:lstStyle/>
          <a:p>
            <a:pPr algn="l"/>
            <a:r>
              <a:rPr lang="en-US" sz="3000" b="1">
                <a:solidFill>
                  <a:srgbClr val="0B2A4A"/>
                </a:solidFill>
                <a:latin typeface="Montserrat"/>
              </a:rPr>
              <a:t>Une sécurité éprouvée par un pentest</a:t>
            </a:r>
          </a:p>
        </p:txBody>
      </p:sp>
      <p:sp>
        <p:nvSpPr>
          <p:cNvPr id="4" name="Rectangle: Rounded Corners 3">
            <a:extLst>
              <a:ext uri="{FF2B5EF4-FFF2-40B4-BE49-F238E27FC236}">
                <a16:creationId xmlns:a16="http://schemas.microsoft.com/office/drawing/2014/main" id="{53CF83C5-7044-433F-937B-001A1DDF1C30}"/>
              </a:ext>
            </a:extLst>
          </p:cNvPr>
          <p:cNvSpPr/>
          <p:nvPr/>
        </p:nvSpPr>
        <p:spPr>
          <a:xfrm>
            <a:off x="762000" y="19050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0E92CB4C-D036-4C4C-8E48-69E02DE2E21B}"/>
              </a:ext>
            </a:extLst>
          </p:cNvPr>
          <p:cNvSpPr/>
          <p:nvPr/>
        </p:nvSpPr>
        <p:spPr>
          <a:xfrm>
            <a:off x="1041400" y="21844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1</a:t>
            </a:r>
          </a:p>
        </p:txBody>
      </p:sp>
      <p:sp>
        <p:nvSpPr>
          <p:cNvPr id="6" name="TextBox 5">
            <a:extLst>
              <a:ext uri="{FF2B5EF4-FFF2-40B4-BE49-F238E27FC236}">
                <a16:creationId xmlns:a16="http://schemas.microsoft.com/office/drawing/2014/main" id="{CADEAAE3-A981-4BCC-8D4F-1FD25FFCC3D3}"/>
              </a:ext>
            </a:extLst>
          </p:cNvPr>
          <p:cNvSpPr txBox="1"/>
          <p:nvPr/>
        </p:nvSpPr>
        <p:spPr>
          <a:xfrm>
            <a:off x="1651000" y="22352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Sécurité dès la conception</a:t>
            </a:r>
          </a:p>
        </p:txBody>
      </p:sp>
      <p:sp>
        <p:nvSpPr>
          <p:cNvPr id="7" name="TextBox 6">
            <a:extLst>
              <a:ext uri="{FF2B5EF4-FFF2-40B4-BE49-F238E27FC236}">
                <a16:creationId xmlns:a16="http://schemas.microsoft.com/office/drawing/2014/main" id="{D534E5A7-316B-4AFB-B1F2-2C59D2FC0E76}"/>
              </a:ext>
            </a:extLst>
          </p:cNvPr>
          <p:cNvSpPr txBox="1"/>
          <p:nvPr/>
        </p:nvSpPr>
        <p:spPr>
          <a:xfrm>
            <a:off x="1066800" y="28448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Mots de passe bcrypt, jetons hachés SHA-256, vérification e-mail obligatoire et en-têtes HTTP de sécurité (CSP, HSTS).</a:t>
            </a:r>
          </a:p>
        </p:txBody>
      </p:sp>
      <p:sp>
        <p:nvSpPr>
          <p:cNvPr id="8" name="Rectangle: Rounded Corners 7">
            <a:extLst>
              <a:ext uri="{FF2B5EF4-FFF2-40B4-BE49-F238E27FC236}">
                <a16:creationId xmlns:a16="http://schemas.microsoft.com/office/drawing/2014/main" id="{255FFB27-5610-4ECE-9653-2407C63B16D2}"/>
              </a:ext>
            </a:extLst>
          </p:cNvPr>
          <p:cNvSpPr/>
          <p:nvPr/>
        </p:nvSpPr>
        <p:spPr>
          <a:xfrm>
            <a:off x="6350000" y="19050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FDC7C04C-2D63-4C99-A31D-E59C9B246473}"/>
              </a:ext>
            </a:extLst>
          </p:cNvPr>
          <p:cNvSpPr/>
          <p:nvPr/>
        </p:nvSpPr>
        <p:spPr>
          <a:xfrm>
            <a:off x="6629400" y="21844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2</a:t>
            </a:r>
          </a:p>
        </p:txBody>
      </p:sp>
      <p:sp>
        <p:nvSpPr>
          <p:cNvPr id="10" name="TextBox 9">
            <a:extLst>
              <a:ext uri="{FF2B5EF4-FFF2-40B4-BE49-F238E27FC236}">
                <a16:creationId xmlns:a16="http://schemas.microsoft.com/office/drawing/2014/main" id="{C16E14FE-25F6-494F-AEDF-0AE6E95B525E}"/>
              </a:ext>
            </a:extLst>
          </p:cNvPr>
          <p:cNvSpPr txBox="1"/>
          <p:nvPr/>
        </p:nvSpPr>
        <p:spPr>
          <a:xfrm>
            <a:off x="7239000" y="22352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Authentification forte</a:t>
            </a:r>
          </a:p>
        </p:txBody>
      </p:sp>
      <p:sp>
        <p:nvSpPr>
          <p:cNvPr id="11" name="TextBox 10">
            <a:extLst>
              <a:ext uri="{FF2B5EF4-FFF2-40B4-BE49-F238E27FC236}">
                <a16:creationId xmlns:a16="http://schemas.microsoft.com/office/drawing/2014/main" id="{C930C416-C9AF-424B-B43C-AAD93AD6455B}"/>
              </a:ext>
            </a:extLst>
          </p:cNvPr>
          <p:cNvSpPr txBox="1"/>
          <p:nvPr/>
        </p:nvSpPr>
        <p:spPr>
          <a:xfrm>
            <a:off x="6654800" y="28448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JWT + refresh token, double authentification (TOTP), OAuth Google &amp; Github avec liaison de compte vérifiée.</a:t>
            </a:r>
          </a:p>
        </p:txBody>
      </p:sp>
      <p:sp>
        <p:nvSpPr>
          <p:cNvPr id="12" name="Rectangle: Rounded Corners 11">
            <a:extLst>
              <a:ext uri="{FF2B5EF4-FFF2-40B4-BE49-F238E27FC236}">
                <a16:creationId xmlns:a16="http://schemas.microsoft.com/office/drawing/2014/main" id="{08823BBE-132C-4CE8-91A6-4565553302F4}"/>
              </a:ext>
            </a:extLst>
          </p:cNvPr>
          <p:cNvSpPr/>
          <p:nvPr/>
        </p:nvSpPr>
        <p:spPr>
          <a:xfrm>
            <a:off x="762000" y="42545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BD7960B7-D5FC-4D16-8BE9-3222299023A0}"/>
              </a:ext>
            </a:extLst>
          </p:cNvPr>
          <p:cNvSpPr/>
          <p:nvPr/>
        </p:nvSpPr>
        <p:spPr>
          <a:xfrm>
            <a:off x="1041400" y="45339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3</a:t>
            </a:r>
          </a:p>
        </p:txBody>
      </p:sp>
      <p:sp>
        <p:nvSpPr>
          <p:cNvPr id="14" name="TextBox 13">
            <a:extLst>
              <a:ext uri="{FF2B5EF4-FFF2-40B4-BE49-F238E27FC236}">
                <a16:creationId xmlns:a16="http://schemas.microsoft.com/office/drawing/2014/main" id="{C4334F45-31AA-47EC-B15C-9C764D140662}"/>
              </a:ext>
            </a:extLst>
          </p:cNvPr>
          <p:cNvSpPr txBox="1"/>
          <p:nvPr/>
        </p:nvSpPr>
        <p:spPr>
          <a:xfrm>
            <a:off x="1651000" y="45847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Messagerie chiffrée E2EE</a:t>
            </a:r>
          </a:p>
        </p:txBody>
      </p:sp>
      <p:sp>
        <p:nvSpPr>
          <p:cNvPr id="15" name="TextBox 14">
            <a:extLst>
              <a:ext uri="{FF2B5EF4-FFF2-40B4-BE49-F238E27FC236}">
                <a16:creationId xmlns:a16="http://schemas.microsoft.com/office/drawing/2014/main" id="{C106EB04-DD18-4F4D-A670-C669EB765A78}"/>
              </a:ext>
            </a:extLst>
          </p:cNvPr>
          <p:cNvSpPr txBox="1"/>
          <p:nvPr/>
        </p:nvSpPr>
        <p:spPr>
          <a:xfrm>
            <a:off x="1066800" y="51943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Chiffrement de bout en bout (X25519 + XChaCha20) : le serveur reste aveugle au contenu des messages privés.</a:t>
            </a:r>
          </a:p>
        </p:txBody>
      </p:sp>
      <p:sp>
        <p:nvSpPr>
          <p:cNvPr id="16" name="Rectangle: Rounded Corners 15">
            <a:extLst>
              <a:ext uri="{FF2B5EF4-FFF2-40B4-BE49-F238E27FC236}">
                <a16:creationId xmlns:a16="http://schemas.microsoft.com/office/drawing/2014/main" id="{42956589-05F7-4E7B-B23B-49FB819A4A3A}"/>
              </a:ext>
            </a:extLst>
          </p:cNvPr>
          <p:cNvSpPr/>
          <p:nvPr/>
        </p:nvSpPr>
        <p:spPr>
          <a:xfrm>
            <a:off x="6350000" y="4254500"/>
            <a:ext cx="5080000" cy="2095500"/>
          </a:xfrm>
          <a:prstGeom prst="roundRect">
            <a:avLst/>
          </a:prstGeom>
          <a:solidFill>
            <a:srgbClr val="FFFFFF"/>
          </a:solidFill>
          <a:ln w="12700" cap="flat" cmpd="sng" algn="ctr">
            <a:solidFill>
              <a:srgbClr val="D8E4F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a:extLst>
              <a:ext uri="{FF2B5EF4-FFF2-40B4-BE49-F238E27FC236}">
                <a16:creationId xmlns:a16="http://schemas.microsoft.com/office/drawing/2014/main" id="{E0A487EA-0C1E-463A-B96A-911F0C65F574}"/>
              </a:ext>
            </a:extLst>
          </p:cNvPr>
          <p:cNvSpPr/>
          <p:nvPr/>
        </p:nvSpPr>
        <p:spPr>
          <a:xfrm>
            <a:off x="6629400" y="4533900"/>
            <a:ext cx="457200" cy="457200"/>
          </a:xfrm>
          <a:prstGeom prst="ellipse">
            <a:avLst/>
          </a:prstGeom>
          <a:solidFill>
            <a:srgbClr val="2D7F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4</a:t>
            </a:r>
          </a:p>
        </p:txBody>
      </p:sp>
      <p:sp>
        <p:nvSpPr>
          <p:cNvPr id="18" name="TextBox 17">
            <a:extLst>
              <a:ext uri="{FF2B5EF4-FFF2-40B4-BE49-F238E27FC236}">
                <a16:creationId xmlns:a16="http://schemas.microsoft.com/office/drawing/2014/main" id="{E84BF31E-A46E-4FF4-B877-AB4620A25146}"/>
              </a:ext>
            </a:extLst>
          </p:cNvPr>
          <p:cNvSpPr txBox="1"/>
          <p:nvPr/>
        </p:nvSpPr>
        <p:spPr>
          <a:xfrm>
            <a:off x="7239000" y="4584700"/>
            <a:ext cx="3937000" cy="381000"/>
          </a:xfrm>
          <a:prstGeom prst="rect">
            <a:avLst/>
          </a:prstGeom>
          <a:noFill/>
        </p:spPr>
        <p:txBody>
          <a:bodyPr vertOverflow="overflow" vert="horz" wrap="square" rtlCol="0" anchor="t" anchorCtr="0">
            <a:spAutoFit/>
          </a:bodyPr>
          <a:lstStyle/>
          <a:p>
            <a:pPr algn="l"/>
            <a:r>
              <a:rPr lang="en-US" b="1">
                <a:solidFill>
                  <a:srgbClr val="0B2A4A"/>
                </a:solidFill>
                <a:latin typeface="Montserrat"/>
              </a:rPr>
              <a:t>Audit &amp; RGPD</a:t>
            </a:r>
          </a:p>
        </p:txBody>
      </p:sp>
      <p:sp>
        <p:nvSpPr>
          <p:cNvPr id="19" name="TextBox 18">
            <a:extLst>
              <a:ext uri="{FF2B5EF4-FFF2-40B4-BE49-F238E27FC236}">
                <a16:creationId xmlns:a16="http://schemas.microsoft.com/office/drawing/2014/main" id="{61D22AE8-6843-439A-BFB7-44830446D46A}"/>
              </a:ext>
            </a:extLst>
          </p:cNvPr>
          <p:cNvSpPr txBox="1"/>
          <p:nvPr/>
        </p:nvSpPr>
        <p:spPr>
          <a:xfrm>
            <a:off x="6654800" y="5194300"/>
            <a:ext cx="4470400" cy="952500"/>
          </a:xfrm>
          <a:prstGeom prst="rect">
            <a:avLst/>
          </a:prstGeom>
          <a:noFill/>
        </p:spPr>
        <p:txBody>
          <a:bodyPr vertOverflow="overflow" vert="horz" wrap="square" rtlCol="0" anchor="t" anchorCtr="0">
            <a:spAutoFit/>
          </a:bodyPr>
          <a:lstStyle/>
          <a:p>
            <a:pPr algn="l"/>
            <a:r>
              <a:rPr lang="en-US" sz="1450">
                <a:solidFill>
                  <a:srgbClr val="46586E"/>
                </a:solidFill>
                <a:latin typeface="Open Sans"/>
                <a:ea typeface="Open Sans"/>
                <a:cs typeface="Open Sans"/>
              </a:rPr>
              <a:t>Test d'intrusion : 0 faille critique, 0 majeure. Ciblage sur données de première main, conforme RGPD.</a:t>
            </a:r>
          </a:p>
        </p:txBody>
      </p:sp>
      <p:sp>
        <p:nvSpPr>
          <p:cNvPr id="20" name="Espace réservé du numéro de diapositive 19">
            <a:extLst>
              <a:ext uri="{FF2B5EF4-FFF2-40B4-BE49-F238E27FC236}">
                <a16:creationId xmlns:a16="http://schemas.microsoft.com/office/drawing/2014/main" id="{F8358B9C-A9B4-9A82-6C6C-0FAC0311AE93}"/>
              </a:ext>
            </a:extLst>
          </p:cNvPr>
          <p:cNvSpPr>
            <a:spLocks noGrp="1"/>
          </p:cNvSpPr>
          <p:nvPr>
            <p:ph type="sldNum" sz="quarter" idx="12"/>
          </p:nvPr>
        </p:nvSpPr>
        <p:spPr/>
        <p:txBody>
          <a:bodyPr/>
          <a:lstStyle/>
          <a:p>
            <a:fld id="{27C6CCC6-2BE5-4E42-96A4-D1E8E81A3D8E}" type="slidenum">
              <a:rPr lang="fr-FR" smtClean="0"/>
              <a:t>14</a:t>
            </a:fld>
            <a:endParaRPr lang="fr-FR"/>
          </a:p>
        </p:txBody>
      </p:sp>
    </p:spTree>
    <p:extLst>
      <p:ext uri="{BB962C8B-B14F-4D97-AF65-F5344CB8AC3E}">
        <p14:creationId xmlns:p14="http://schemas.microsoft.com/office/powerpoint/2010/main" val="1528964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D1EBB3-CCED-735B-FFEB-D7360BCBCE82}"/>
              </a:ext>
            </a:extLst>
          </p:cNvPr>
          <p:cNvSpPr>
            <a:spLocks noGrp="1"/>
          </p:cNvSpPr>
          <p:nvPr>
            <p:ph type="title"/>
          </p:nvPr>
        </p:nvSpPr>
        <p:spPr/>
        <p:txBody>
          <a:bodyPr/>
          <a:lstStyle/>
          <a:p>
            <a:r>
              <a:rPr lang="fr-FR" b="1"/>
              <a:t>Performances — pourquoi Next.js 14 ?</a:t>
            </a:r>
          </a:p>
        </p:txBody>
      </p:sp>
      <p:sp>
        <p:nvSpPr>
          <p:cNvPr id="3" name="Espace réservé du contenu 2">
            <a:extLst>
              <a:ext uri="{FF2B5EF4-FFF2-40B4-BE49-F238E27FC236}">
                <a16:creationId xmlns:a16="http://schemas.microsoft.com/office/drawing/2014/main" id="{CF55A4E3-83EC-4B75-8ED8-E72C72B93FB9}"/>
              </a:ext>
            </a:extLst>
          </p:cNvPr>
          <p:cNvSpPr>
            <a:spLocks noGrp="1"/>
          </p:cNvSpPr>
          <p:nvPr>
            <p:ph idx="1"/>
          </p:nvPr>
        </p:nvSpPr>
        <p:spPr/>
        <p:txBody>
          <a:bodyPr>
            <a:normAutofit/>
          </a:bodyPr>
          <a:lstStyle/>
          <a:p>
            <a:r>
              <a:rPr lang="fr-FR" sz="1600"/>
              <a:t>App Router et React Server Components : rendu serveur et streaming, moins de JavaScript envoyé au client.
Rendu hybride SSR / SSG / ISR selon les pages : fil dynamique en SSR, pages statiques mises en cache.
Découpage automatique du code et préchargement des routes pour une navigation quasi instantanée.
Images et polices optimisées nativement (next/image, next/font).</a:t>
            </a:r>
          </a:p>
        </p:txBody>
      </p:sp>
      <p:sp>
        <p:nvSpPr>
          <p:cNvPr id="4" name="Espace réservé du numéro de diapositive 3">
            <a:extLst>
              <a:ext uri="{FF2B5EF4-FFF2-40B4-BE49-F238E27FC236}">
                <a16:creationId xmlns:a16="http://schemas.microsoft.com/office/drawing/2014/main" id="{3674BE2C-8C70-145A-6A6F-33F468339E12}"/>
              </a:ext>
            </a:extLst>
          </p:cNvPr>
          <p:cNvSpPr>
            <a:spLocks noGrp="1"/>
          </p:cNvSpPr>
          <p:nvPr>
            <p:ph type="sldNum" sz="quarter" idx="12"/>
          </p:nvPr>
        </p:nvSpPr>
        <p:spPr/>
        <p:txBody>
          <a:bodyPr/>
          <a:lstStyle/>
          <a:p>
            <a:fld id="{27C6CCC6-2BE5-4E42-96A4-D1E8E81A3D8E}" type="slidenum">
              <a:rPr lang="fr-FR" smtClean="0"/>
              <a:t>15</a:t>
            </a:fld>
            <a:endParaRPr lang="fr-FR"/>
          </a:p>
        </p:txBody>
      </p:sp>
    </p:spTree>
    <p:extLst>
      <p:ext uri="{BB962C8B-B14F-4D97-AF65-F5344CB8AC3E}">
        <p14:creationId xmlns:p14="http://schemas.microsoft.com/office/powerpoint/2010/main" val="1214188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D05D25-5BB4-AF6B-1AD3-BB62323A2C59}"/>
              </a:ext>
            </a:extLst>
          </p:cNvPr>
          <p:cNvSpPr>
            <a:spLocks noGrp="1"/>
          </p:cNvSpPr>
          <p:nvPr>
            <p:ph type="title"/>
          </p:nvPr>
        </p:nvSpPr>
        <p:spPr/>
        <p:txBody>
          <a:bodyPr/>
          <a:lstStyle/>
          <a:p>
            <a:r>
              <a:rPr lang="fr-FR" b="1"/>
              <a:t>Pourquoi des microservices en Go (Gin) ?</a:t>
            </a:r>
          </a:p>
        </p:txBody>
      </p:sp>
      <p:sp>
        <p:nvSpPr>
          <p:cNvPr id="3" name="Espace réservé du contenu 2">
            <a:extLst>
              <a:ext uri="{FF2B5EF4-FFF2-40B4-BE49-F238E27FC236}">
                <a16:creationId xmlns:a16="http://schemas.microsoft.com/office/drawing/2014/main" id="{3DA15353-FF4D-B395-630C-17611AD404BB}"/>
              </a:ext>
            </a:extLst>
          </p:cNvPr>
          <p:cNvSpPr>
            <a:spLocks noGrp="1"/>
          </p:cNvSpPr>
          <p:nvPr>
            <p:ph idx="1"/>
          </p:nvPr>
        </p:nvSpPr>
        <p:spPr/>
        <p:txBody>
          <a:bodyPr>
            <a:normAutofit/>
          </a:bodyPr>
          <a:lstStyle/>
          <a:p>
            <a:r>
              <a:rPr lang="fr-FR" sz="1600"/>
              <a:t>Go : compilation native, faible empreinte mémoire et forte concurrence (goroutines).
Gin : framework HTTP léger et rapide, middlewares simples (auth, logs, CORS).
Un binaire unique par service : conteneurisation et déploiement simplifiés.
Typage statique et outillage intégré (tests, race detector) pour la fiabilité.</a:t>
            </a:r>
          </a:p>
        </p:txBody>
      </p:sp>
      <p:sp>
        <p:nvSpPr>
          <p:cNvPr id="4" name="Espace réservé du numéro de diapositive 3">
            <a:extLst>
              <a:ext uri="{FF2B5EF4-FFF2-40B4-BE49-F238E27FC236}">
                <a16:creationId xmlns:a16="http://schemas.microsoft.com/office/drawing/2014/main" id="{F0B82B43-0A04-BB0D-A987-4809E94AB6F2}"/>
              </a:ext>
            </a:extLst>
          </p:cNvPr>
          <p:cNvSpPr>
            <a:spLocks noGrp="1"/>
          </p:cNvSpPr>
          <p:nvPr>
            <p:ph type="sldNum" sz="quarter" idx="12"/>
          </p:nvPr>
        </p:nvSpPr>
        <p:spPr/>
        <p:txBody>
          <a:bodyPr/>
          <a:lstStyle/>
          <a:p>
            <a:fld id="{27C6CCC6-2BE5-4E42-96A4-D1E8E81A3D8E}" type="slidenum">
              <a:rPr lang="fr-FR" smtClean="0"/>
              <a:t>16</a:t>
            </a:fld>
            <a:endParaRPr lang="fr-FR"/>
          </a:p>
        </p:txBody>
      </p:sp>
    </p:spTree>
    <p:extLst>
      <p:ext uri="{BB962C8B-B14F-4D97-AF65-F5344CB8AC3E}">
        <p14:creationId xmlns:p14="http://schemas.microsoft.com/office/powerpoint/2010/main" val="4130573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39F80E-F863-ACB6-B9B8-343EB0FD64BE}"/>
              </a:ext>
            </a:extLst>
          </p:cNvPr>
          <p:cNvSpPr>
            <a:spLocks noGrp="1"/>
          </p:cNvSpPr>
          <p:nvPr>
            <p:ph type="title"/>
          </p:nvPr>
        </p:nvSpPr>
        <p:spPr/>
        <p:txBody>
          <a:bodyPr/>
          <a:lstStyle/>
          <a:p>
            <a:r>
              <a:rPr lang="fr-FR" b="1"/>
              <a:t>Cookies et sécurité : le rôle du BFF</a:t>
            </a:r>
          </a:p>
        </p:txBody>
      </p:sp>
      <p:sp>
        <p:nvSpPr>
          <p:cNvPr id="3" name="Espace réservé du contenu 2">
            <a:extLst>
              <a:ext uri="{FF2B5EF4-FFF2-40B4-BE49-F238E27FC236}">
                <a16:creationId xmlns:a16="http://schemas.microsoft.com/office/drawing/2014/main" id="{1B1A8336-CC21-C4E4-EB74-3560CAA8A57E}"/>
              </a:ext>
            </a:extLst>
          </p:cNvPr>
          <p:cNvSpPr>
            <a:spLocks noGrp="1"/>
          </p:cNvSpPr>
          <p:nvPr>
            <p:ph idx="1"/>
          </p:nvPr>
        </p:nvSpPr>
        <p:spPr/>
        <p:txBody>
          <a:bodyPr>
            <a:normAutofit/>
          </a:bodyPr>
          <a:lstStyle/>
          <a:p>
            <a:r>
              <a:rPr lang="fr-FR" sz="1600"/>
              <a:t>Le BFF Next.js pose le cookie de rafraîchissement en httpOnly : inaccessible au JavaScript.
Cookies Secure et SameSite pour limiter le vol de session et le CSRF.
Les jetons d'accès courts restent côté serveur ; le client ne manipule aucun secret.
Échange OAuth (Google) géré côté serveur, clés masquées.</a:t>
            </a:r>
          </a:p>
        </p:txBody>
      </p:sp>
      <p:sp>
        <p:nvSpPr>
          <p:cNvPr id="4" name="Espace réservé du numéro de diapositive 3">
            <a:extLst>
              <a:ext uri="{FF2B5EF4-FFF2-40B4-BE49-F238E27FC236}">
                <a16:creationId xmlns:a16="http://schemas.microsoft.com/office/drawing/2014/main" id="{64CA43CF-FA31-1FF2-F601-6B31C5B363DB}"/>
              </a:ext>
            </a:extLst>
          </p:cNvPr>
          <p:cNvSpPr>
            <a:spLocks noGrp="1"/>
          </p:cNvSpPr>
          <p:nvPr>
            <p:ph type="sldNum" sz="quarter" idx="12"/>
          </p:nvPr>
        </p:nvSpPr>
        <p:spPr/>
        <p:txBody>
          <a:bodyPr/>
          <a:lstStyle/>
          <a:p>
            <a:fld id="{27C6CCC6-2BE5-4E42-96A4-D1E8E81A3D8E}" type="slidenum">
              <a:rPr lang="fr-FR" smtClean="0"/>
              <a:t>17</a:t>
            </a:fld>
            <a:endParaRPr lang="fr-FR"/>
          </a:p>
        </p:txBody>
      </p:sp>
    </p:spTree>
    <p:extLst>
      <p:ext uri="{BB962C8B-B14F-4D97-AF65-F5344CB8AC3E}">
        <p14:creationId xmlns:p14="http://schemas.microsoft.com/office/powerpoint/2010/main" val="3003370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56204C-8349-38FF-4450-E25657FE3086}"/>
              </a:ext>
            </a:extLst>
          </p:cNvPr>
          <p:cNvSpPr>
            <a:spLocks noGrp="1"/>
          </p:cNvSpPr>
          <p:nvPr>
            <p:ph type="title"/>
          </p:nvPr>
        </p:nvSpPr>
        <p:spPr/>
        <p:txBody>
          <a:bodyPr/>
          <a:lstStyle/>
          <a:p>
            <a:r>
              <a:rPr lang="fr-FR" b="1"/>
              <a:t>Sectorisation des données : la bonne base au bon usage</a:t>
            </a:r>
          </a:p>
        </p:txBody>
      </p:sp>
      <p:sp>
        <p:nvSpPr>
          <p:cNvPr id="3" name="Espace réservé du contenu 2">
            <a:extLst>
              <a:ext uri="{FF2B5EF4-FFF2-40B4-BE49-F238E27FC236}">
                <a16:creationId xmlns:a16="http://schemas.microsoft.com/office/drawing/2014/main" id="{720EA17C-6DFA-B326-AFE1-A74AC9571BC1}"/>
              </a:ext>
            </a:extLst>
          </p:cNvPr>
          <p:cNvSpPr>
            <a:spLocks noGrp="1"/>
          </p:cNvSpPr>
          <p:nvPr>
            <p:ph idx="1"/>
          </p:nvPr>
        </p:nvSpPr>
        <p:spPr/>
        <p:txBody>
          <a:bodyPr>
            <a:normAutofit/>
          </a:bodyPr>
          <a:lstStyle/>
          <a:p>
            <a:r>
              <a:rPr lang="fr-FR" sz="1600"/>
              <a:t>PostgreSQL : données relationnelles et critiques (comptes, authentification, relations).
MongoDB : données souples et volumineuses (posts, commentaires, notifications).
MinIO : stockage objet pour les médias (images, vidéos), compatible S3.
Principe « une donnée = un service » : chaque base reste privée, jamais exposée au client.</a:t>
            </a:r>
          </a:p>
        </p:txBody>
      </p:sp>
      <p:sp>
        <p:nvSpPr>
          <p:cNvPr id="4" name="Espace réservé du numéro de diapositive 3">
            <a:extLst>
              <a:ext uri="{FF2B5EF4-FFF2-40B4-BE49-F238E27FC236}">
                <a16:creationId xmlns:a16="http://schemas.microsoft.com/office/drawing/2014/main" id="{C1480B5B-92A5-A375-97B1-7DE93C8F67E2}"/>
              </a:ext>
            </a:extLst>
          </p:cNvPr>
          <p:cNvSpPr>
            <a:spLocks noGrp="1"/>
          </p:cNvSpPr>
          <p:nvPr>
            <p:ph type="sldNum" sz="quarter" idx="12"/>
          </p:nvPr>
        </p:nvSpPr>
        <p:spPr/>
        <p:txBody>
          <a:bodyPr/>
          <a:lstStyle/>
          <a:p>
            <a:fld id="{27C6CCC6-2BE5-4E42-96A4-D1E8E81A3D8E}" type="slidenum">
              <a:rPr lang="fr-FR" smtClean="0"/>
              <a:t>18</a:t>
            </a:fld>
            <a:endParaRPr lang="fr-FR"/>
          </a:p>
        </p:txBody>
      </p:sp>
    </p:spTree>
    <p:extLst>
      <p:ext uri="{BB962C8B-B14F-4D97-AF65-F5344CB8AC3E}">
        <p14:creationId xmlns:p14="http://schemas.microsoft.com/office/powerpoint/2010/main" val="40996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14A270-6F22-C1DD-4312-10EC4768CE6F}"/>
              </a:ext>
            </a:extLst>
          </p:cNvPr>
          <p:cNvSpPr>
            <a:spLocks noGrp="1"/>
          </p:cNvSpPr>
          <p:nvPr>
            <p:ph type="title"/>
          </p:nvPr>
        </p:nvSpPr>
        <p:spPr/>
        <p:txBody>
          <a:bodyPr/>
          <a:lstStyle/>
          <a:p>
            <a:r>
              <a:rPr lang="fr-FR" b="1"/>
              <a:t>Architecture de la messagerie chiffrée</a:t>
            </a:r>
          </a:p>
        </p:txBody>
      </p:sp>
      <p:sp>
        <p:nvSpPr>
          <p:cNvPr id="3" name="Espace réservé du contenu 2">
            <a:extLst>
              <a:ext uri="{FF2B5EF4-FFF2-40B4-BE49-F238E27FC236}">
                <a16:creationId xmlns:a16="http://schemas.microsoft.com/office/drawing/2014/main" id="{5AD70C59-CC34-70E2-921E-3DC7C6723E70}"/>
              </a:ext>
            </a:extLst>
          </p:cNvPr>
          <p:cNvSpPr>
            <a:spLocks noGrp="1"/>
          </p:cNvSpPr>
          <p:nvPr>
            <p:ph idx="1"/>
          </p:nvPr>
        </p:nvSpPr>
        <p:spPr/>
        <p:txBody>
          <a:bodyPr>
            <a:normAutofit/>
          </a:bodyPr>
          <a:lstStyle/>
          <a:p>
            <a:r>
              <a:rPr lang="fr-FR" sz="1600"/>
              <a:t>Chiffrement de bout en bout côté client : le serveur ne voit jamais le contenu en clair.
Clés gérées par les utilisateurs ; le service ne stocke que des messages chiffrés.
WebSocket pour la livraison temps réel, accusés de réception et indicateur de saisie.
Pièces jointes chiffrées avant envoi.</a:t>
            </a:r>
          </a:p>
        </p:txBody>
      </p:sp>
      <p:sp>
        <p:nvSpPr>
          <p:cNvPr id="4" name="Espace réservé du numéro de diapositive 3">
            <a:extLst>
              <a:ext uri="{FF2B5EF4-FFF2-40B4-BE49-F238E27FC236}">
                <a16:creationId xmlns:a16="http://schemas.microsoft.com/office/drawing/2014/main" id="{15487FDB-35BF-F5B6-8D81-14D0D4CB12B0}"/>
              </a:ext>
            </a:extLst>
          </p:cNvPr>
          <p:cNvSpPr>
            <a:spLocks noGrp="1"/>
          </p:cNvSpPr>
          <p:nvPr>
            <p:ph type="sldNum" sz="quarter" idx="12"/>
          </p:nvPr>
        </p:nvSpPr>
        <p:spPr/>
        <p:txBody>
          <a:bodyPr/>
          <a:lstStyle/>
          <a:p>
            <a:fld id="{27C6CCC6-2BE5-4E42-96A4-D1E8E81A3D8E}" type="slidenum">
              <a:rPr lang="fr-FR" smtClean="0"/>
              <a:t>19</a:t>
            </a:fld>
            <a:endParaRPr lang="fr-FR"/>
          </a:p>
        </p:txBody>
      </p:sp>
    </p:spTree>
    <p:extLst>
      <p:ext uri="{BB962C8B-B14F-4D97-AF65-F5344CB8AC3E}">
        <p14:creationId xmlns:p14="http://schemas.microsoft.com/office/powerpoint/2010/main" val="2363875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FC62E9-D885-8FBC-73B6-D333F7E20251}"/>
              </a:ext>
            </a:extLst>
          </p:cNvPr>
          <p:cNvSpPr>
            <a:spLocks noGrp="1"/>
          </p:cNvSpPr>
          <p:nvPr>
            <p:ph type="title"/>
          </p:nvPr>
        </p:nvSpPr>
        <p:spPr/>
        <p:txBody>
          <a:bodyPr/>
          <a:lstStyle/>
          <a:p>
            <a:r>
              <a:rPr lang="fr-FR" b="1"/>
              <a:t>WebSockets ou requêtes régulières ?</a:t>
            </a:r>
          </a:p>
        </p:txBody>
      </p:sp>
      <p:sp>
        <p:nvSpPr>
          <p:cNvPr id="3" name="Espace réservé du contenu 2">
            <a:extLst>
              <a:ext uri="{FF2B5EF4-FFF2-40B4-BE49-F238E27FC236}">
                <a16:creationId xmlns:a16="http://schemas.microsoft.com/office/drawing/2014/main" id="{E44FEDAB-B0D2-8C08-0360-6F2E2D85260C}"/>
              </a:ext>
            </a:extLst>
          </p:cNvPr>
          <p:cNvSpPr>
            <a:spLocks noGrp="1"/>
          </p:cNvSpPr>
          <p:nvPr>
            <p:ph idx="1"/>
          </p:nvPr>
        </p:nvSpPr>
        <p:spPr/>
        <p:txBody>
          <a:bodyPr>
            <a:normAutofit/>
          </a:bodyPr>
          <a:lstStyle/>
          <a:p>
            <a:r>
              <a:rPr lang="fr-FR" sz="1600"/>
              <a:t>WebSocket pour le temps réel : messagerie, notifications, présence.
Requêtes HTTP classiques pour le contenu non temps réel (fil, profils) : plus simple à mettre en cache.
On évite le coût d'une connexion permanente là où elle n'apporte rien.
Reconnexion automatique et repli gracieux côté client.</a:t>
            </a:r>
          </a:p>
        </p:txBody>
      </p:sp>
      <p:sp>
        <p:nvSpPr>
          <p:cNvPr id="4" name="Espace réservé du numéro de diapositive 3">
            <a:extLst>
              <a:ext uri="{FF2B5EF4-FFF2-40B4-BE49-F238E27FC236}">
                <a16:creationId xmlns:a16="http://schemas.microsoft.com/office/drawing/2014/main" id="{79CF0E67-072D-32F0-EE0C-BCF8EF99006F}"/>
              </a:ext>
            </a:extLst>
          </p:cNvPr>
          <p:cNvSpPr>
            <a:spLocks noGrp="1"/>
          </p:cNvSpPr>
          <p:nvPr>
            <p:ph type="sldNum" sz="quarter" idx="12"/>
          </p:nvPr>
        </p:nvSpPr>
        <p:spPr/>
        <p:txBody>
          <a:bodyPr/>
          <a:lstStyle/>
          <a:p>
            <a:fld id="{27C6CCC6-2BE5-4E42-96A4-D1E8E81A3D8E}" type="slidenum">
              <a:rPr lang="fr-FR" smtClean="0"/>
              <a:t>20</a:t>
            </a:fld>
            <a:endParaRPr lang="fr-FR"/>
          </a:p>
        </p:txBody>
      </p:sp>
    </p:spTree>
    <p:extLst>
      <p:ext uri="{BB962C8B-B14F-4D97-AF65-F5344CB8AC3E}">
        <p14:creationId xmlns:p14="http://schemas.microsoft.com/office/powerpoint/2010/main" val="4038249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8BCF94-5CF2-A861-4AE0-BAEAC1B15CCF}"/>
              </a:ext>
            </a:extLst>
          </p:cNvPr>
          <p:cNvSpPr>
            <a:spLocks noGrp="1"/>
          </p:cNvSpPr>
          <p:nvPr>
            <p:ph type="title"/>
          </p:nvPr>
        </p:nvSpPr>
        <p:spPr/>
        <p:txBody>
          <a:bodyPr/>
          <a:lstStyle/>
          <a:p>
            <a:r>
              <a:rPr lang="fr-FR" b="1"/>
              <a:t>Flux d'authentification</a:t>
            </a:r>
          </a:p>
        </p:txBody>
      </p:sp>
      <p:sp>
        <p:nvSpPr>
          <p:cNvPr id="3" name="Espace réservé du contenu 2">
            <a:extLst>
              <a:ext uri="{FF2B5EF4-FFF2-40B4-BE49-F238E27FC236}">
                <a16:creationId xmlns:a16="http://schemas.microsoft.com/office/drawing/2014/main" id="{003DE1A0-1886-D1D0-A6C7-327AB685577E}"/>
              </a:ext>
            </a:extLst>
          </p:cNvPr>
          <p:cNvSpPr>
            <a:spLocks noGrp="1"/>
          </p:cNvSpPr>
          <p:nvPr>
            <p:ph idx="1"/>
          </p:nvPr>
        </p:nvSpPr>
        <p:spPr/>
        <p:txBody>
          <a:bodyPr>
            <a:normAutofit/>
          </a:bodyPr>
          <a:lstStyle/>
          <a:p>
            <a:r>
              <a:rPr lang="fr-FR" sz="1600"/>
              <a:t>Inscription avec validation par e-mail (auth-service et mail-service).
Connexion : jeton d'accès court et jeton de rafraîchissement en cookie httpOnly via le BFF.
Renouvellement transparent du jeton ; révocation possible côté serveur.
Connexion OAuth Google prise en charge.</a:t>
            </a:r>
          </a:p>
        </p:txBody>
      </p:sp>
      <p:sp>
        <p:nvSpPr>
          <p:cNvPr id="4" name="Espace réservé du numéro de diapositive 3">
            <a:extLst>
              <a:ext uri="{FF2B5EF4-FFF2-40B4-BE49-F238E27FC236}">
                <a16:creationId xmlns:a16="http://schemas.microsoft.com/office/drawing/2014/main" id="{334C3226-EBE0-A3B4-8482-F66D550098D1}"/>
              </a:ext>
            </a:extLst>
          </p:cNvPr>
          <p:cNvSpPr>
            <a:spLocks noGrp="1"/>
          </p:cNvSpPr>
          <p:nvPr>
            <p:ph type="sldNum" sz="quarter" idx="12"/>
          </p:nvPr>
        </p:nvSpPr>
        <p:spPr/>
        <p:txBody>
          <a:bodyPr/>
          <a:lstStyle/>
          <a:p>
            <a:fld id="{27C6CCC6-2BE5-4E42-96A4-D1E8E81A3D8E}" type="slidenum">
              <a:rPr lang="fr-FR" smtClean="0"/>
              <a:t>21</a:t>
            </a:fld>
            <a:endParaRPr lang="fr-FR"/>
          </a:p>
        </p:txBody>
      </p:sp>
    </p:spTree>
    <p:extLst>
      <p:ext uri="{BB962C8B-B14F-4D97-AF65-F5344CB8AC3E}">
        <p14:creationId xmlns:p14="http://schemas.microsoft.com/office/powerpoint/2010/main" val="3520415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EEEA3E-2FEF-DEDF-45C3-A752D4EE9D6B}"/>
              </a:ext>
            </a:extLst>
          </p:cNvPr>
          <p:cNvSpPr>
            <a:spLocks noGrp="1"/>
          </p:cNvSpPr>
          <p:nvPr>
            <p:ph type="title"/>
          </p:nvPr>
        </p:nvSpPr>
        <p:spPr/>
        <p:txBody>
          <a:bodyPr/>
          <a:lstStyle/>
          <a:p>
            <a:r>
              <a:rPr lang="fr-FR" b="1"/>
              <a:t>Modèle publicitaire : sources de revenus</a:t>
            </a:r>
          </a:p>
        </p:txBody>
      </p:sp>
      <p:sp>
        <p:nvSpPr>
          <p:cNvPr id="3" name="Espace réservé du contenu 2">
            <a:extLst>
              <a:ext uri="{FF2B5EF4-FFF2-40B4-BE49-F238E27FC236}">
                <a16:creationId xmlns:a16="http://schemas.microsoft.com/office/drawing/2014/main" id="{2B225694-D572-1FF3-5187-033A58D5A32D}"/>
              </a:ext>
            </a:extLst>
          </p:cNvPr>
          <p:cNvSpPr>
            <a:spLocks noGrp="1"/>
          </p:cNvSpPr>
          <p:nvPr>
            <p:ph idx="1"/>
          </p:nvPr>
        </p:nvSpPr>
        <p:spPr/>
        <p:txBody>
          <a:bodyPr>
            <a:normAutofit/>
          </a:bodyPr>
          <a:lstStyle/>
          <a:p>
            <a:r>
              <a:rPr lang="fr-FR" sz="1600"/>
              <a:t>Publicité native dans le fil, facturée au CPM et au CPC.
Ciblage contextuel respectueux de la vie privée, sans revente de données.
Abonnement optionnel Breezy+ sans publicité comme revenu complémentaire.
Rentabilité cumulée projetée vers le 14e mois.</a:t>
            </a:r>
          </a:p>
        </p:txBody>
      </p:sp>
      <p:sp>
        <p:nvSpPr>
          <p:cNvPr id="4" name="Espace réservé du numéro de diapositive 3">
            <a:extLst>
              <a:ext uri="{FF2B5EF4-FFF2-40B4-BE49-F238E27FC236}">
                <a16:creationId xmlns:a16="http://schemas.microsoft.com/office/drawing/2014/main" id="{A58DA9FF-BA2C-C096-B43A-941C44E2488C}"/>
              </a:ext>
            </a:extLst>
          </p:cNvPr>
          <p:cNvSpPr>
            <a:spLocks noGrp="1"/>
          </p:cNvSpPr>
          <p:nvPr>
            <p:ph type="sldNum" sz="quarter" idx="12"/>
          </p:nvPr>
        </p:nvSpPr>
        <p:spPr/>
        <p:txBody>
          <a:bodyPr/>
          <a:lstStyle/>
          <a:p>
            <a:fld id="{27C6CCC6-2BE5-4E42-96A4-D1E8E81A3D8E}" type="slidenum">
              <a:rPr lang="fr-FR" smtClean="0"/>
              <a:t>22</a:t>
            </a:fld>
            <a:endParaRPr lang="fr-FR"/>
          </a:p>
        </p:txBody>
      </p:sp>
    </p:spTree>
    <p:extLst>
      <p:ext uri="{BB962C8B-B14F-4D97-AF65-F5344CB8AC3E}">
        <p14:creationId xmlns:p14="http://schemas.microsoft.com/office/powerpoint/2010/main" val="2722339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8F3702-36C1-D643-CE85-34DFEB32C5C6}"/>
              </a:ext>
            </a:extLst>
          </p:cNvPr>
          <p:cNvSpPr>
            <a:spLocks noGrp="1"/>
          </p:cNvSpPr>
          <p:nvPr>
            <p:ph type="title"/>
          </p:nvPr>
        </p:nvSpPr>
        <p:spPr/>
        <p:txBody>
          <a:bodyPr/>
          <a:lstStyle/>
          <a:p>
            <a:r>
              <a:rPr lang="fr-FR" b="1"/>
              <a:t>Signalement : un microservice autonome</a:t>
            </a:r>
          </a:p>
        </p:txBody>
      </p:sp>
      <p:sp>
        <p:nvSpPr>
          <p:cNvPr id="3" name="Espace réservé du contenu 2">
            <a:extLst>
              <a:ext uri="{FF2B5EF4-FFF2-40B4-BE49-F238E27FC236}">
                <a16:creationId xmlns:a16="http://schemas.microsoft.com/office/drawing/2014/main" id="{A2391961-3D32-00BF-4B51-607417DA44B8}"/>
              </a:ext>
            </a:extLst>
          </p:cNvPr>
          <p:cNvSpPr>
            <a:spLocks noGrp="1"/>
          </p:cNvSpPr>
          <p:nvPr>
            <p:ph idx="1"/>
          </p:nvPr>
        </p:nvSpPr>
        <p:spPr/>
        <p:txBody>
          <a:bodyPr>
            <a:normAutofit/>
          </a:bodyPr>
          <a:lstStyle/>
          <a:p>
            <a:r>
              <a:rPr lang="fr-FR" sz="1600"/>
              <a:t>report-service indépendant : reçoit et agrège les signalements.
Auto-masquage d'un contenu au-delà d'un seuil configurable de signalements.
Avertissements à accuser réception par l'utilisateur.
Compatible E2EE : l'utilisateur divulgue volontairement le message ciblé.</a:t>
            </a:r>
          </a:p>
        </p:txBody>
      </p:sp>
      <p:sp>
        <p:nvSpPr>
          <p:cNvPr id="4" name="Espace réservé du numéro de diapositive 3">
            <a:extLst>
              <a:ext uri="{FF2B5EF4-FFF2-40B4-BE49-F238E27FC236}">
                <a16:creationId xmlns:a16="http://schemas.microsoft.com/office/drawing/2014/main" id="{16E1485E-A3BC-9FCF-CACC-A1212BEC0064}"/>
              </a:ext>
            </a:extLst>
          </p:cNvPr>
          <p:cNvSpPr>
            <a:spLocks noGrp="1"/>
          </p:cNvSpPr>
          <p:nvPr>
            <p:ph type="sldNum" sz="quarter" idx="12"/>
          </p:nvPr>
        </p:nvSpPr>
        <p:spPr/>
        <p:txBody>
          <a:bodyPr/>
          <a:lstStyle/>
          <a:p>
            <a:fld id="{27C6CCC6-2BE5-4E42-96A4-D1E8E81A3D8E}" type="slidenum">
              <a:rPr lang="fr-FR" smtClean="0"/>
              <a:t>23</a:t>
            </a:fld>
            <a:endParaRPr lang="fr-FR"/>
          </a:p>
        </p:txBody>
      </p:sp>
    </p:spTree>
    <p:extLst>
      <p:ext uri="{BB962C8B-B14F-4D97-AF65-F5344CB8AC3E}">
        <p14:creationId xmlns:p14="http://schemas.microsoft.com/office/powerpoint/2010/main" val="711214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032C8B-874C-4AD0-E2A8-DBA3D943B025}"/>
              </a:ext>
            </a:extLst>
          </p:cNvPr>
          <p:cNvSpPr>
            <a:spLocks noGrp="1"/>
          </p:cNvSpPr>
          <p:nvPr>
            <p:ph type="title"/>
          </p:nvPr>
        </p:nvSpPr>
        <p:spPr/>
        <p:txBody>
          <a:bodyPr/>
          <a:lstStyle/>
          <a:p>
            <a:r>
              <a:rPr lang="fr-FR" b="1"/>
              <a:t>API Gateway et service des fichiers</a:t>
            </a:r>
          </a:p>
        </p:txBody>
      </p:sp>
      <p:sp>
        <p:nvSpPr>
          <p:cNvPr id="3" name="Espace réservé du contenu 2">
            <a:extLst>
              <a:ext uri="{FF2B5EF4-FFF2-40B4-BE49-F238E27FC236}">
                <a16:creationId xmlns:a16="http://schemas.microsoft.com/office/drawing/2014/main" id="{076BEA7D-BDC1-E4DA-6D6D-769750B5C211}"/>
              </a:ext>
            </a:extLst>
          </p:cNvPr>
          <p:cNvSpPr>
            <a:spLocks noGrp="1"/>
          </p:cNvSpPr>
          <p:nvPr>
            <p:ph idx="1"/>
          </p:nvPr>
        </p:nvSpPr>
        <p:spPr/>
        <p:txBody>
          <a:bodyPr>
            <a:normAutofit/>
          </a:bodyPr>
          <a:lstStyle/>
          <a:p>
            <a:r>
              <a:rPr lang="fr-FR" sz="1600"/>
              <a:t>Point d'entrée unique : la gateway relaie HTTP, WebSocket et médias.
Diffusion des médias avec requêtes Range (lecture vidéo en streaming).
MinIO reste caché derrière media-service, jamais exposé au client.
Centralise authentification, journalisation et limitation de débit.</a:t>
            </a:r>
          </a:p>
        </p:txBody>
      </p:sp>
      <p:sp>
        <p:nvSpPr>
          <p:cNvPr id="4" name="Espace réservé du numéro de diapositive 3">
            <a:extLst>
              <a:ext uri="{FF2B5EF4-FFF2-40B4-BE49-F238E27FC236}">
                <a16:creationId xmlns:a16="http://schemas.microsoft.com/office/drawing/2014/main" id="{C4D601CB-6364-1FB2-A629-820A6C75EC58}"/>
              </a:ext>
            </a:extLst>
          </p:cNvPr>
          <p:cNvSpPr>
            <a:spLocks noGrp="1"/>
          </p:cNvSpPr>
          <p:nvPr>
            <p:ph type="sldNum" sz="quarter" idx="12"/>
          </p:nvPr>
        </p:nvSpPr>
        <p:spPr/>
        <p:txBody>
          <a:bodyPr/>
          <a:lstStyle/>
          <a:p>
            <a:fld id="{27C6CCC6-2BE5-4E42-96A4-D1E8E81A3D8E}" type="slidenum">
              <a:rPr lang="fr-FR" smtClean="0"/>
              <a:t>24</a:t>
            </a:fld>
            <a:endParaRPr lang="fr-FR"/>
          </a:p>
        </p:txBody>
      </p:sp>
    </p:spTree>
    <p:extLst>
      <p:ext uri="{BB962C8B-B14F-4D97-AF65-F5344CB8AC3E}">
        <p14:creationId xmlns:p14="http://schemas.microsoft.com/office/powerpoint/2010/main" val="1580871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F3BFC8-8620-F402-948C-BB6F48130F28}"/>
              </a:ext>
            </a:extLst>
          </p:cNvPr>
          <p:cNvSpPr>
            <a:spLocks noGrp="1"/>
          </p:cNvSpPr>
          <p:nvPr>
            <p:ph type="title"/>
          </p:nvPr>
        </p:nvSpPr>
        <p:spPr/>
        <p:txBody>
          <a:bodyPr/>
          <a:lstStyle/>
          <a:p>
            <a:r>
              <a:rPr lang="fr-FR" b="1"/>
              <a:t>Double authentification (2FA)</a:t>
            </a:r>
          </a:p>
        </p:txBody>
      </p:sp>
      <p:sp>
        <p:nvSpPr>
          <p:cNvPr id="3" name="Espace réservé du contenu 2">
            <a:extLst>
              <a:ext uri="{FF2B5EF4-FFF2-40B4-BE49-F238E27FC236}">
                <a16:creationId xmlns:a16="http://schemas.microsoft.com/office/drawing/2014/main" id="{27E2EACA-F742-2B07-569F-ED473ADE99C2}"/>
              </a:ext>
            </a:extLst>
          </p:cNvPr>
          <p:cNvSpPr>
            <a:spLocks noGrp="1"/>
          </p:cNvSpPr>
          <p:nvPr>
            <p:ph idx="1"/>
          </p:nvPr>
        </p:nvSpPr>
        <p:spPr/>
        <p:txBody>
          <a:bodyPr>
            <a:normAutofit/>
          </a:bodyPr>
          <a:lstStyle/>
          <a:p>
            <a:r>
              <a:rPr lang="fr-FR" sz="1600"/>
              <a:t>Second facteur par code à usage unique (TOTP) en complément du mot de passe.
Codes de secours en cas de perte du dispositif.
Vérification côté serveur, fenêtre de temps limitée contre le rejeu.
Re-vérification pour les actions sensibles.</a:t>
            </a:r>
          </a:p>
        </p:txBody>
      </p:sp>
      <p:sp>
        <p:nvSpPr>
          <p:cNvPr id="4" name="Espace réservé du numéro de diapositive 3">
            <a:extLst>
              <a:ext uri="{FF2B5EF4-FFF2-40B4-BE49-F238E27FC236}">
                <a16:creationId xmlns:a16="http://schemas.microsoft.com/office/drawing/2014/main" id="{F0BE9C2C-9BF4-F3BB-BFE4-C65A93414F97}"/>
              </a:ext>
            </a:extLst>
          </p:cNvPr>
          <p:cNvSpPr>
            <a:spLocks noGrp="1"/>
          </p:cNvSpPr>
          <p:nvPr>
            <p:ph type="sldNum" sz="quarter" idx="12"/>
          </p:nvPr>
        </p:nvSpPr>
        <p:spPr/>
        <p:txBody>
          <a:bodyPr/>
          <a:lstStyle/>
          <a:p>
            <a:fld id="{27C6CCC6-2BE5-4E42-96A4-D1E8E81A3D8E}" type="slidenum">
              <a:rPr lang="fr-FR" smtClean="0"/>
              <a:t>25</a:t>
            </a:fld>
            <a:endParaRPr lang="fr-FR"/>
          </a:p>
        </p:txBody>
      </p:sp>
    </p:spTree>
    <p:extLst>
      <p:ext uri="{BB962C8B-B14F-4D97-AF65-F5344CB8AC3E}">
        <p14:creationId xmlns:p14="http://schemas.microsoft.com/office/powerpoint/2010/main" val="4147644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5885F9-CDC0-BAD7-1EF9-B5639F5822E5}"/>
              </a:ext>
            </a:extLst>
          </p:cNvPr>
          <p:cNvSpPr>
            <a:spLocks noGrp="1"/>
          </p:cNvSpPr>
          <p:nvPr>
            <p:ph type="title"/>
          </p:nvPr>
        </p:nvSpPr>
        <p:spPr/>
        <p:txBody>
          <a:bodyPr/>
          <a:lstStyle/>
          <a:p>
            <a:r>
              <a:rPr lang="fr-FR" b="1"/>
              <a:t>Confidentialité appliquée côté serveur</a:t>
            </a:r>
          </a:p>
        </p:txBody>
      </p:sp>
      <p:sp>
        <p:nvSpPr>
          <p:cNvPr id="3" name="Espace réservé du contenu 2">
            <a:extLst>
              <a:ext uri="{FF2B5EF4-FFF2-40B4-BE49-F238E27FC236}">
                <a16:creationId xmlns:a16="http://schemas.microsoft.com/office/drawing/2014/main" id="{C5936368-07E5-23E9-D795-E7C82D96D028}"/>
              </a:ext>
            </a:extLst>
          </p:cNvPr>
          <p:cNvSpPr>
            <a:spLocks noGrp="1"/>
          </p:cNvSpPr>
          <p:nvPr>
            <p:ph idx="1"/>
          </p:nvPr>
        </p:nvSpPr>
        <p:spPr/>
        <p:txBody>
          <a:bodyPr>
            <a:normAutofit/>
          </a:bodyPr>
          <a:lstStyle/>
          <a:p>
            <a:r>
              <a:rPr lang="fr-FR" sz="1600"/>
              <a:t>Les règles de visibilité (compte privé, abonnés) sont appliquées par les services, pas par le client.
Filtres de visibilité au niveau des requêtes : un contenu non autorisé n'est jamais renvoyé.
Le client n'est jamais considéré comme une source de confiance.
Cohérence garantie quel que soit le point d'accès (web, mobile, API).</a:t>
            </a:r>
          </a:p>
        </p:txBody>
      </p:sp>
      <p:sp>
        <p:nvSpPr>
          <p:cNvPr id="4" name="Espace réservé du numéro de diapositive 3">
            <a:extLst>
              <a:ext uri="{FF2B5EF4-FFF2-40B4-BE49-F238E27FC236}">
                <a16:creationId xmlns:a16="http://schemas.microsoft.com/office/drawing/2014/main" id="{C1B8809B-01D1-6B6E-C877-C2B8BCA3AB7D}"/>
              </a:ext>
            </a:extLst>
          </p:cNvPr>
          <p:cNvSpPr>
            <a:spLocks noGrp="1"/>
          </p:cNvSpPr>
          <p:nvPr>
            <p:ph type="sldNum" sz="quarter" idx="12"/>
          </p:nvPr>
        </p:nvSpPr>
        <p:spPr/>
        <p:txBody>
          <a:bodyPr/>
          <a:lstStyle/>
          <a:p>
            <a:fld id="{27C6CCC6-2BE5-4E42-96A4-D1E8E81A3D8E}" type="slidenum">
              <a:rPr lang="fr-FR" smtClean="0"/>
              <a:t>26</a:t>
            </a:fld>
            <a:endParaRPr lang="fr-FR"/>
          </a:p>
        </p:txBody>
      </p:sp>
    </p:spTree>
    <p:extLst>
      <p:ext uri="{BB962C8B-B14F-4D97-AF65-F5344CB8AC3E}">
        <p14:creationId xmlns:p14="http://schemas.microsoft.com/office/powerpoint/2010/main" val="1796323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903EEA-D80D-4857-3829-C050EBFA1B74}"/>
              </a:ext>
            </a:extLst>
          </p:cNvPr>
          <p:cNvSpPr>
            <a:spLocks noGrp="1"/>
          </p:cNvSpPr>
          <p:nvPr>
            <p:ph type="title"/>
          </p:nvPr>
        </p:nvSpPr>
        <p:spPr/>
        <p:txBody>
          <a:bodyPr/>
          <a:lstStyle/>
          <a:p>
            <a:r>
              <a:rPr lang="fr-FR" b="1"/>
              <a:t>Contenu sensible : déduction de l'âge</a:t>
            </a:r>
          </a:p>
        </p:txBody>
      </p:sp>
      <p:sp>
        <p:nvSpPr>
          <p:cNvPr id="3" name="Espace réservé du contenu 2">
            <a:extLst>
              <a:ext uri="{FF2B5EF4-FFF2-40B4-BE49-F238E27FC236}">
                <a16:creationId xmlns:a16="http://schemas.microsoft.com/office/drawing/2014/main" id="{281AAFAA-FD58-0AC6-4E92-ED09FD3C079D}"/>
              </a:ext>
            </a:extLst>
          </p:cNvPr>
          <p:cNvSpPr>
            <a:spLocks noGrp="1"/>
          </p:cNvSpPr>
          <p:nvPr>
            <p:ph idx="1"/>
          </p:nvPr>
        </p:nvSpPr>
        <p:spPr/>
        <p:txBody>
          <a:bodyPr>
            <a:normAutofit/>
          </a:bodyPr>
          <a:lstStyle/>
          <a:p>
            <a:r>
              <a:rPr lang="fr-FR" sz="1600"/>
              <a:t>L'âge est déduit de la date de naissance fournie à l'inscription.
Le contenu sensible est filtré pour les comptes mineurs.
Contrôle appliqué côté serveur, indépendamment du client.
Paramètres de sensibilité ajustables par l'utilisateur adulte.</a:t>
            </a:r>
          </a:p>
        </p:txBody>
      </p:sp>
      <p:sp>
        <p:nvSpPr>
          <p:cNvPr id="4" name="Espace réservé du numéro de diapositive 3">
            <a:extLst>
              <a:ext uri="{FF2B5EF4-FFF2-40B4-BE49-F238E27FC236}">
                <a16:creationId xmlns:a16="http://schemas.microsoft.com/office/drawing/2014/main" id="{FF80C24B-5542-DBAD-EC52-06AC07FF329D}"/>
              </a:ext>
            </a:extLst>
          </p:cNvPr>
          <p:cNvSpPr>
            <a:spLocks noGrp="1"/>
          </p:cNvSpPr>
          <p:nvPr>
            <p:ph type="sldNum" sz="quarter" idx="12"/>
          </p:nvPr>
        </p:nvSpPr>
        <p:spPr/>
        <p:txBody>
          <a:bodyPr/>
          <a:lstStyle/>
          <a:p>
            <a:fld id="{27C6CCC6-2BE5-4E42-96A4-D1E8E81A3D8E}" type="slidenum">
              <a:rPr lang="fr-FR" smtClean="0"/>
              <a:t>27</a:t>
            </a:fld>
            <a:endParaRPr lang="fr-FR"/>
          </a:p>
        </p:txBody>
      </p:sp>
    </p:spTree>
    <p:extLst>
      <p:ext uri="{BB962C8B-B14F-4D97-AF65-F5344CB8AC3E}">
        <p14:creationId xmlns:p14="http://schemas.microsoft.com/office/powerpoint/2010/main" val="2977098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55BF24-6833-BFE1-2A45-426981B4AA58}"/>
              </a:ext>
            </a:extLst>
          </p:cNvPr>
          <p:cNvSpPr>
            <a:spLocks noGrp="1"/>
          </p:cNvSpPr>
          <p:nvPr>
            <p:ph type="title"/>
          </p:nvPr>
        </p:nvSpPr>
        <p:spPr/>
        <p:txBody>
          <a:bodyPr/>
          <a:lstStyle/>
          <a:p>
            <a:r>
              <a:rPr lang="fr-FR" b="1"/>
              <a:t>Internationalisation : 12 langues</a:t>
            </a:r>
          </a:p>
        </p:txBody>
      </p:sp>
      <p:sp>
        <p:nvSpPr>
          <p:cNvPr id="3" name="Espace réservé du contenu 2">
            <a:extLst>
              <a:ext uri="{FF2B5EF4-FFF2-40B4-BE49-F238E27FC236}">
                <a16:creationId xmlns:a16="http://schemas.microsoft.com/office/drawing/2014/main" id="{824EE4C2-A372-5E82-66EA-A2DA9D6388C6}"/>
              </a:ext>
            </a:extLst>
          </p:cNvPr>
          <p:cNvSpPr>
            <a:spLocks noGrp="1"/>
          </p:cNvSpPr>
          <p:nvPr>
            <p:ph idx="1"/>
          </p:nvPr>
        </p:nvSpPr>
        <p:spPr/>
        <p:txBody>
          <a:bodyPr>
            <a:normAutofit/>
          </a:bodyPr>
          <a:lstStyle/>
          <a:p>
            <a:r>
              <a:rPr lang="fr-FR" sz="1600"/>
              <a:t>Interface traduite en 12 langues via des fichiers de ressources (i18n).
Détection de la langue du navigateur, choix mémorisé par l'utilisateur.
Séparation stricte texte / code : ajout d'une langue sans redéploiement lourd.
Formats de date, de nombre et de pluriels localisés.</a:t>
            </a:r>
          </a:p>
        </p:txBody>
      </p:sp>
      <p:sp>
        <p:nvSpPr>
          <p:cNvPr id="4" name="Espace réservé du numéro de diapositive 3">
            <a:extLst>
              <a:ext uri="{FF2B5EF4-FFF2-40B4-BE49-F238E27FC236}">
                <a16:creationId xmlns:a16="http://schemas.microsoft.com/office/drawing/2014/main" id="{9F71CFA6-694B-0941-D827-CAB21F6D55EE}"/>
              </a:ext>
            </a:extLst>
          </p:cNvPr>
          <p:cNvSpPr>
            <a:spLocks noGrp="1"/>
          </p:cNvSpPr>
          <p:nvPr>
            <p:ph type="sldNum" sz="quarter" idx="12"/>
          </p:nvPr>
        </p:nvSpPr>
        <p:spPr/>
        <p:txBody>
          <a:bodyPr/>
          <a:lstStyle/>
          <a:p>
            <a:fld id="{27C6CCC6-2BE5-4E42-96A4-D1E8E81A3D8E}" type="slidenum">
              <a:rPr lang="fr-FR" smtClean="0"/>
              <a:t>28</a:t>
            </a:fld>
            <a:endParaRPr lang="fr-FR"/>
          </a:p>
        </p:txBody>
      </p:sp>
    </p:spTree>
    <p:extLst>
      <p:ext uri="{BB962C8B-B14F-4D97-AF65-F5344CB8AC3E}">
        <p14:creationId xmlns:p14="http://schemas.microsoft.com/office/powerpoint/2010/main" val="1787193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DB9C86-B00B-614E-934B-E92A1FECF5BA}"/>
              </a:ext>
            </a:extLst>
          </p:cNvPr>
          <p:cNvSpPr>
            <a:spLocks noGrp="1"/>
          </p:cNvSpPr>
          <p:nvPr>
            <p:ph type="title"/>
          </p:nvPr>
        </p:nvSpPr>
        <p:spPr/>
        <p:txBody>
          <a:bodyPr/>
          <a:lstStyle/>
          <a:p>
            <a:r>
              <a:rPr lang="fr-FR" b="1"/>
              <a:t>Qualité et couverture des tests</a:t>
            </a:r>
          </a:p>
        </p:txBody>
      </p:sp>
      <p:sp>
        <p:nvSpPr>
          <p:cNvPr id="3" name="Espace réservé du contenu 2">
            <a:extLst>
              <a:ext uri="{FF2B5EF4-FFF2-40B4-BE49-F238E27FC236}">
                <a16:creationId xmlns:a16="http://schemas.microsoft.com/office/drawing/2014/main" id="{A9BDAB2B-6AA2-B0AF-F3A9-49C026425FFE}"/>
              </a:ext>
            </a:extLst>
          </p:cNvPr>
          <p:cNvSpPr>
            <a:spLocks noGrp="1"/>
          </p:cNvSpPr>
          <p:nvPr>
            <p:ph idx="1"/>
          </p:nvPr>
        </p:nvSpPr>
        <p:spPr/>
        <p:txBody>
          <a:bodyPr>
            <a:normAutofit/>
          </a:bodyPr>
          <a:lstStyle/>
          <a:p>
            <a:r>
              <a:rPr lang="fr-FR" sz="1600"/>
              <a:t>Plus de 95 % de couverture sur l'interface (Vitest) et plusieurs composants.
Tests Go côté services (unitaires et intégration), race detector.
Intégration continue (CI) : tests exécutés à chaque modification.
Logs structurés et documentation OpenAPI/Swagger pour la maintenabilité.</a:t>
            </a:r>
          </a:p>
        </p:txBody>
      </p:sp>
      <p:sp>
        <p:nvSpPr>
          <p:cNvPr id="4" name="Espace réservé du numéro de diapositive 3">
            <a:extLst>
              <a:ext uri="{FF2B5EF4-FFF2-40B4-BE49-F238E27FC236}">
                <a16:creationId xmlns:a16="http://schemas.microsoft.com/office/drawing/2014/main" id="{7EFC9F59-6D4F-391E-B21A-381C2A5A7B1D}"/>
              </a:ext>
            </a:extLst>
          </p:cNvPr>
          <p:cNvSpPr>
            <a:spLocks noGrp="1"/>
          </p:cNvSpPr>
          <p:nvPr>
            <p:ph type="sldNum" sz="quarter" idx="12"/>
          </p:nvPr>
        </p:nvSpPr>
        <p:spPr/>
        <p:txBody>
          <a:bodyPr/>
          <a:lstStyle/>
          <a:p>
            <a:fld id="{27C6CCC6-2BE5-4E42-96A4-D1E8E81A3D8E}" type="slidenum">
              <a:rPr lang="fr-FR" smtClean="0"/>
              <a:t>29</a:t>
            </a:fld>
            <a:endParaRPr lang="fr-FR"/>
          </a:p>
        </p:txBody>
      </p:sp>
    </p:spTree>
    <p:extLst>
      <p:ext uri="{BB962C8B-B14F-4D97-AF65-F5344CB8AC3E}">
        <p14:creationId xmlns:p14="http://schemas.microsoft.com/office/powerpoint/2010/main" val="3211971506"/>
      </p:ext>
    </p:extLst>
  </p:cSld>
  <p:clrMapOvr>
    <a:masterClrMapping/>
  </p:clrMapOvr>
</p:sld>
</file>

<file path=ppt/theme/theme1.xml><?xml version="1.0" encoding="utf-8"?>
<a:theme xmlns:a="http://schemas.openxmlformats.org/drawingml/2006/main" name="Thème Office [1782377244872]">
  <a:themeElements>
    <a:clrScheme name="Office">
      <a:dk1>
        <a:srgbClr val="0B2A4A"/>
      </a:dk1>
      <a:lt1>
        <a:srgbClr val="F6F9FC"/>
      </a:lt1>
      <a:dk2>
        <a:srgbClr val="0B2A4A"/>
      </a:dk2>
      <a:lt2>
        <a:srgbClr val="E3ECF7"/>
      </a:lt2>
      <a:accent1>
        <a:srgbClr val="2D7FF9"/>
      </a:accent1>
      <a:accent2>
        <a:srgbClr val="00C2CB"/>
      </a:accent2>
      <a:accent3>
        <a:srgbClr val="16C784"/>
      </a:accent3>
      <a:accent4>
        <a:srgbClr val="6C8CB5"/>
      </a:accent4>
      <a:accent5>
        <a:srgbClr val="9B6CF9"/>
      </a:accent5>
      <a:accent6>
        <a:srgbClr val="FFB020"/>
      </a:accent6>
      <a:hlink>
        <a:srgbClr val="467886"/>
      </a:hlink>
      <a:folHlink>
        <a:srgbClr val="96607D"/>
      </a:folHlink>
    </a:clrScheme>
    <a:fontScheme name="Office">
      <a:majorFont>
        <a:latin typeface="Montserra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A05D718-7CB7-44C6-8582-FDD73C376C3D}">
  <we:reference id="WA200010001" version="1.0.0.1" store="fr-fr" storeType="omex"/>
  <we:alternateReferences>
    <we:reference id="WA200010001" version="1.0.0.1" store="omex" storeType="omex"/>
  </we:alternateReferences>
  <we:properties>
    <we:property name="claude.fileId" value="&quot;61da7017-0ea2-412b-88d6-a63ee4f767e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1dcd209-1f98-4233-9fd0-1942e506694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7B8B09908CBAA4EBB21501DAC6B71B4" ma:contentTypeVersion="5" ma:contentTypeDescription="Crée un document." ma:contentTypeScope="" ma:versionID="6556643ec563fe22926810586ee580a3">
  <xsd:schema xmlns:xsd="http://www.w3.org/2001/XMLSchema" xmlns:xs="http://www.w3.org/2001/XMLSchema" xmlns:p="http://schemas.microsoft.com/office/2006/metadata/properties" xmlns:ns3="71dcd209-1f98-4233-9fd0-1942e5066944" targetNamespace="http://schemas.microsoft.com/office/2006/metadata/properties" ma:root="true" ma:fieldsID="248e7d72df89db494c8d61b07b92fa74" ns3:_="">
    <xsd:import namespace="71dcd209-1f98-4233-9fd0-1942e506694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dcd209-1f98-4233-9fd0-1942e506694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040071-58F0-4DC0-A3F6-4F3A1F556EFE}">
  <ds:schemaRefs>
    <ds:schemaRef ds:uri="71dcd209-1f98-4233-9fd0-1942e5066944"/>
    <ds:schemaRef ds:uri="http://purl.org/dc/terms/"/>
    <ds:schemaRef ds:uri="http://schemas.microsoft.com/office/infopath/2007/PartnerControls"/>
    <ds:schemaRef ds:uri="http://schemas.openxmlformats.org/package/2006/metadata/core-properties"/>
    <ds:schemaRef ds:uri="http://schemas.microsoft.com/office/2006/documentManagement/types"/>
    <ds:schemaRef ds:uri="http://schemas.microsoft.com/office/2006/metadata/properties"/>
    <ds:schemaRef ds:uri="http://purl.org/dc/dcmitype/"/>
    <ds:schemaRef ds:uri="http://www.w3.org/XML/1998/namespace"/>
    <ds:schemaRef ds:uri="http://purl.org/dc/elements/1.1/"/>
  </ds:schemaRefs>
</ds:datastoreItem>
</file>

<file path=customXml/itemProps2.xml><?xml version="1.0" encoding="utf-8"?>
<ds:datastoreItem xmlns:ds="http://schemas.openxmlformats.org/officeDocument/2006/customXml" ds:itemID="{79138A7A-A9F7-40FC-A099-88E5C590B15F}">
  <ds:schemaRefs>
    <ds:schemaRef ds:uri="http://schemas.microsoft.com/sharepoint/v3/contenttype/forms"/>
  </ds:schemaRefs>
</ds:datastoreItem>
</file>

<file path=customXml/itemProps3.xml><?xml version="1.0" encoding="utf-8"?>
<ds:datastoreItem xmlns:ds="http://schemas.openxmlformats.org/officeDocument/2006/customXml" ds:itemID="{9B3102EE-977D-4206-99FB-41FD07EA6B00}">
  <ds:schemaRefs>
    <ds:schemaRef ds:uri="71dcd209-1f98-4233-9fd0-1942e50669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10203</Words>
  <Application>Microsoft Office PowerPoint</Application>
  <PresentationFormat>Grand écran</PresentationFormat>
  <Paragraphs>1162</Paragraphs>
  <Slides>29</Slides>
  <Notes>29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29</vt:i4>
      </vt:variant>
    </vt:vector>
  </HeadingPairs>
  <TitlesOfParts>
    <vt:vector size="34" baseType="lpstr">
      <vt:lpstr>Arial</vt:lpstr>
      <vt:lpstr>Calibri</vt:lpstr>
      <vt:lpstr>Montserrat</vt:lpstr>
      <vt:lpstr>Open Sans</vt:lpstr>
      <vt:lpstr>Thème Office [1782377244872]</vt:lpstr>
      <vt:lpstr>Présentation PowerPoint</vt:lpstr>
      <vt:lpstr>Présentation PowerPoint</vt:lpstr>
      <vt:lpstr>Rappel du contexte</vt:lpstr>
      <vt:lpstr>Présentation PowerPoint</vt:lpstr>
      <vt:lpstr>Présentation PowerPoint</vt:lpstr>
      <vt:lpstr>Présentation PowerPoint</vt:lpstr>
      <vt:lpstr>Positionnement sur le marché</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Performances — pourquoi Next.js 14 ?</vt:lpstr>
      <vt:lpstr>Pourquoi des microservices en Go (Gin) ?</vt:lpstr>
      <vt:lpstr>Cookies et sécurité : le rôle du BFF</vt:lpstr>
      <vt:lpstr>Sectorisation des données : la bonne base au bon usage</vt:lpstr>
      <vt:lpstr>Architecture de la messagerie chiffrée</vt:lpstr>
      <vt:lpstr>WebSockets ou requêtes régulières ?</vt:lpstr>
      <vt:lpstr>Flux d'authentification</vt:lpstr>
      <vt:lpstr>Modèle publicitaire : sources de revenus</vt:lpstr>
      <vt:lpstr>Signalement : un microservice autonome</vt:lpstr>
      <vt:lpstr>API Gateway et service des fichiers</vt:lpstr>
      <vt:lpstr>Double authentification (2FA)</vt:lpstr>
      <vt:lpstr>Confidentialité appliquée côté serveur</vt:lpstr>
      <vt:lpstr>Contenu sensible : déduction de l'âge</vt:lpstr>
      <vt:lpstr>Internationalisation : 12 langues</vt:lpstr>
      <vt:lpstr>Qualité et couverture des tests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Zeto Zeto</dc:creator>
  <cp:lastModifiedBy>LUU PHILIPPE</cp:lastModifiedBy>
  <cp:revision>2</cp:revision>
  <dcterms:created xsi:type="dcterms:W3CDTF">2012-07-30T22:21:58Z</dcterms:created>
  <dcterms:modified xsi:type="dcterms:W3CDTF">2026-06-25T21:37:40Z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0x010100C7B8B09908CBAA4EBB21501DAC6B71B4</vt:lpwstr>
  </property>
</Properties>
</file>